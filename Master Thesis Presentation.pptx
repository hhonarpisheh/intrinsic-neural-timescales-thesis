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71" r:id="rId3"/>
    <p:sldId id="260" r:id="rId4"/>
    <p:sldId id="262" r:id="rId5"/>
    <p:sldId id="268" r:id="rId6"/>
    <p:sldId id="270" r:id="rId7"/>
    <p:sldId id="263" r:id="rId8"/>
    <p:sldId id="272" r:id="rId9"/>
    <p:sldId id="284" r:id="rId10"/>
    <p:sldId id="282" r:id="rId11"/>
    <p:sldId id="267" r:id="rId12"/>
    <p:sldId id="285" r:id="rId13"/>
    <p:sldId id="286" r:id="rId14"/>
    <p:sldId id="297" r:id="rId15"/>
    <p:sldId id="295" r:id="rId16"/>
    <p:sldId id="274" r:id="rId17"/>
    <p:sldId id="276" r:id="rId18"/>
    <p:sldId id="269" r:id="rId19"/>
    <p:sldId id="296" r:id="rId20"/>
    <p:sldId id="277" r:id="rId21"/>
    <p:sldId id="265" r:id="rId22"/>
    <p:sldId id="299" r:id="rId23"/>
    <p:sldId id="29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758" autoAdjust="0"/>
    <p:restoredTop sz="75033" autoAdjust="0"/>
  </p:normalViewPr>
  <p:slideViewPr>
    <p:cSldViewPr snapToGrid="0">
      <p:cViewPr varScale="1">
        <p:scale>
          <a:sx n="62" d="100"/>
          <a:sy n="62" d="100"/>
        </p:scale>
        <p:origin x="99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ya Honarpisheh" userId="6b0309ae1de8dd52" providerId="LiveId" clId="{C4EFD5D0-6D4F-4648-BB05-38540AC41B03}"/>
    <pc:docChg chg="modSld">
      <pc:chgData name="Helya Honarpisheh" userId="6b0309ae1de8dd52" providerId="LiveId" clId="{C4EFD5D0-6D4F-4648-BB05-38540AC41B03}" dt="2026-05-11T15:39:05.874" v="2" actId="1036"/>
      <pc:docMkLst>
        <pc:docMk/>
      </pc:docMkLst>
      <pc:sldChg chg="modSp mod">
        <pc:chgData name="Helya Honarpisheh" userId="6b0309ae1de8dd52" providerId="LiveId" clId="{C4EFD5D0-6D4F-4648-BB05-38540AC41B03}" dt="2026-05-11T14:24:39.409" v="1" actId="20577"/>
        <pc:sldMkLst>
          <pc:docMk/>
          <pc:sldMk cId="1111169288" sldId="256"/>
        </pc:sldMkLst>
        <pc:spChg chg="mod">
          <ac:chgData name="Helya Honarpisheh" userId="6b0309ae1de8dd52" providerId="LiveId" clId="{C4EFD5D0-6D4F-4648-BB05-38540AC41B03}" dt="2026-05-11T14:24:39.409" v="1" actId="20577"/>
          <ac:spMkLst>
            <pc:docMk/>
            <pc:sldMk cId="1111169288" sldId="256"/>
            <ac:spMk id="3" creationId="{6C7399A7-606D-D613-058D-FF906480A246}"/>
          </ac:spMkLst>
        </pc:spChg>
      </pc:sldChg>
      <pc:sldChg chg="modSp mod">
        <pc:chgData name="Helya Honarpisheh" userId="6b0309ae1de8dd52" providerId="LiveId" clId="{C4EFD5D0-6D4F-4648-BB05-38540AC41B03}" dt="2026-05-11T15:39:05.874" v="2" actId="1036"/>
        <pc:sldMkLst>
          <pc:docMk/>
          <pc:sldMk cId="0" sldId="271"/>
        </pc:sldMkLst>
        <pc:picChg chg="mod">
          <ac:chgData name="Helya Honarpisheh" userId="6b0309ae1de8dd52" providerId="LiveId" clId="{C4EFD5D0-6D4F-4648-BB05-38540AC41B03}" dt="2026-05-11T15:39:05.874" v="2" actId="1036"/>
          <ac:picMkLst>
            <pc:docMk/>
            <pc:sldMk cId="0" sldId="271"/>
            <ac:picMk id="161" creationId="{00000000-0000-0000-0000-000000000000}"/>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_rels/data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ata6.xml.rels><?xml version="1.0" encoding="UTF-8" standalone="yes"?>
<Relationships xmlns="http://schemas.openxmlformats.org/package/2006/relationships"><Relationship Id="rId2" Type="http://schemas.openxmlformats.org/officeDocument/2006/relationships/image" Target="../media/image74.svg"/><Relationship Id="rId1" Type="http://schemas.openxmlformats.org/officeDocument/2006/relationships/image" Target="../media/image7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rawing6.xml.rels><?xml version="1.0" encoding="UTF-8" standalone="yes"?>
<Relationships xmlns="http://schemas.openxmlformats.org/package/2006/relationships"><Relationship Id="rId2" Type="http://schemas.openxmlformats.org/officeDocument/2006/relationships/image" Target="../media/image74.svg"/><Relationship Id="rId1" Type="http://schemas.openxmlformats.org/officeDocument/2006/relationships/image" Target="../media/image7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50D384-798C-453C-A970-6C32E45B52CC}"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1743715-CD6D-4DA6-BB51-C7488497EAF3}">
      <dgm:prSet/>
      <dgm:spPr/>
      <dgm:t>
        <a:bodyPr/>
        <a:lstStyle/>
        <a:p>
          <a:r>
            <a:rPr lang="en-US"/>
            <a:t>• Altered timescales in sensory &amp; associative regions</a:t>
          </a:r>
        </a:p>
      </dgm:t>
    </dgm:pt>
    <dgm:pt modelId="{47A6B05F-6345-4F15-B6E7-577F008F97C0}" type="parTrans" cxnId="{23CE82EA-F468-43A7-869C-B99321F33B69}">
      <dgm:prSet/>
      <dgm:spPr/>
      <dgm:t>
        <a:bodyPr/>
        <a:lstStyle/>
        <a:p>
          <a:endParaRPr lang="en-US"/>
        </a:p>
      </dgm:t>
    </dgm:pt>
    <dgm:pt modelId="{C35FD1E8-ADCC-4EA9-B299-9B0C4C15908F}" type="sibTrans" cxnId="{23CE82EA-F468-43A7-869C-B99321F33B69}">
      <dgm:prSet/>
      <dgm:spPr/>
      <dgm:t>
        <a:bodyPr/>
        <a:lstStyle/>
        <a:p>
          <a:endParaRPr lang="en-US"/>
        </a:p>
      </dgm:t>
    </dgm:pt>
    <dgm:pt modelId="{7DDA36C2-0A02-4EA6-B5C8-F6D430E5CB17}">
      <dgm:prSet/>
      <dgm:spPr/>
      <dgm:t>
        <a:bodyPr/>
        <a:lstStyle/>
        <a:p>
          <a:r>
            <a:rPr lang="en-US"/>
            <a:t>• Atypical temporal integration</a:t>
          </a:r>
        </a:p>
      </dgm:t>
    </dgm:pt>
    <dgm:pt modelId="{24758725-78C5-4F3B-AD66-DF418CF1CFFD}" type="parTrans" cxnId="{C3208AE6-A366-461B-B362-D0F883E2E213}">
      <dgm:prSet/>
      <dgm:spPr/>
      <dgm:t>
        <a:bodyPr/>
        <a:lstStyle/>
        <a:p>
          <a:endParaRPr lang="en-US"/>
        </a:p>
      </dgm:t>
    </dgm:pt>
    <dgm:pt modelId="{24D5E509-BBA8-449A-86D8-8FC429069405}" type="sibTrans" cxnId="{C3208AE6-A366-461B-B362-D0F883E2E213}">
      <dgm:prSet/>
      <dgm:spPr/>
      <dgm:t>
        <a:bodyPr/>
        <a:lstStyle/>
        <a:p>
          <a:endParaRPr lang="en-US"/>
        </a:p>
      </dgm:t>
    </dgm:pt>
    <dgm:pt modelId="{248DE610-2420-4099-92D6-F6D7C1AECE7F}">
      <dgm:prSet/>
      <dgm:spPr/>
      <dgm:t>
        <a:bodyPr/>
        <a:lstStyle/>
        <a:p>
          <a:r>
            <a:rPr lang="en-US"/>
            <a:t>• Diagnostic potential</a:t>
          </a:r>
        </a:p>
      </dgm:t>
    </dgm:pt>
    <dgm:pt modelId="{EA79EA18-85F7-4555-8CE2-82D2FE49449C}" type="parTrans" cxnId="{7FB930DB-28F2-4B13-A98E-C6AD69263892}">
      <dgm:prSet/>
      <dgm:spPr/>
      <dgm:t>
        <a:bodyPr/>
        <a:lstStyle/>
        <a:p>
          <a:endParaRPr lang="en-US"/>
        </a:p>
      </dgm:t>
    </dgm:pt>
    <dgm:pt modelId="{93456B3B-C89C-4639-9C24-D2FA0CD7F4C0}" type="sibTrans" cxnId="{7FB930DB-28F2-4B13-A98E-C6AD69263892}">
      <dgm:prSet/>
      <dgm:spPr/>
      <dgm:t>
        <a:bodyPr/>
        <a:lstStyle/>
        <a:p>
          <a:endParaRPr lang="en-US"/>
        </a:p>
      </dgm:t>
    </dgm:pt>
    <dgm:pt modelId="{7B08B821-2D83-49A4-9A96-9FB191C08B61}" type="pres">
      <dgm:prSet presAssocID="{7950D384-798C-453C-A970-6C32E45B52CC}" presName="root" presStyleCnt="0">
        <dgm:presLayoutVars>
          <dgm:dir/>
          <dgm:resizeHandles val="exact"/>
        </dgm:presLayoutVars>
      </dgm:prSet>
      <dgm:spPr/>
    </dgm:pt>
    <dgm:pt modelId="{8B0937B4-ACC1-46F3-9D99-0359DC3C3235}" type="pres">
      <dgm:prSet presAssocID="{41743715-CD6D-4DA6-BB51-C7488497EAF3}" presName="compNode" presStyleCnt="0"/>
      <dgm:spPr/>
    </dgm:pt>
    <dgm:pt modelId="{056E9303-45B5-445F-A260-4E2C7709D3EA}" type="pres">
      <dgm:prSet presAssocID="{41743715-CD6D-4DA6-BB51-C7488497EAF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in"/>
        </a:ext>
      </dgm:extLst>
    </dgm:pt>
    <dgm:pt modelId="{23C14909-E097-462A-BC31-E8207802847A}" type="pres">
      <dgm:prSet presAssocID="{41743715-CD6D-4DA6-BB51-C7488497EAF3}" presName="spaceRect" presStyleCnt="0"/>
      <dgm:spPr/>
    </dgm:pt>
    <dgm:pt modelId="{A4AC7125-A24B-4305-9454-F5236FEBB2D0}" type="pres">
      <dgm:prSet presAssocID="{41743715-CD6D-4DA6-BB51-C7488497EAF3}" presName="textRect" presStyleLbl="revTx" presStyleIdx="0" presStyleCnt="3">
        <dgm:presLayoutVars>
          <dgm:chMax val="1"/>
          <dgm:chPref val="1"/>
        </dgm:presLayoutVars>
      </dgm:prSet>
      <dgm:spPr/>
    </dgm:pt>
    <dgm:pt modelId="{1EED1CC2-97F3-491B-90EF-7BBFC319E1A0}" type="pres">
      <dgm:prSet presAssocID="{C35FD1E8-ADCC-4EA9-B299-9B0C4C15908F}" presName="sibTrans" presStyleCnt="0"/>
      <dgm:spPr/>
    </dgm:pt>
    <dgm:pt modelId="{508F7071-0F03-4B87-A65E-F601B61FF9AD}" type="pres">
      <dgm:prSet presAssocID="{7DDA36C2-0A02-4EA6-B5C8-F6D430E5CB17}" presName="compNode" presStyleCnt="0"/>
      <dgm:spPr/>
    </dgm:pt>
    <dgm:pt modelId="{074ABE37-2958-44BD-ACE3-48ADECCBED4F}" type="pres">
      <dgm:prSet presAssocID="{7DDA36C2-0A02-4EA6-B5C8-F6D430E5CB1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76605F54-695D-40A6-9397-A7757966B630}" type="pres">
      <dgm:prSet presAssocID="{7DDA36C2-0A02-4EA6-B5C8-F6D430E5CB17}" presName="spaceRect" presStyleCnt="0"/>
      <dgm:spPr/>
    </dgm:pt>
    <dgm:pt modelId="{AB415261-DCD6-4DDD-9771-17A79C1F0D41}" type="pres">
      <dgm:prSet presAssocID="{7DDA36C2-0A02-4EA6-B5C8-F6D430E5CB17}" presName="textRect" presStyleLbl="revTx" presStyleIdx="1" presStyleCnt="3">
        <dgm:presLayoutVars>
          <dgm:chMax val="1"/>
          <dgm:chPref val="1"/>
        </dgm:presLayoutVars>
      </dgm:prSet>
      <dgm:spPr/>
    </dgm:pt>
    <dgm:pt modelId="{8613BD72-3D18-48BA-80B9-5BC8D1339F53}" type="pres">
      <dgm:prSet presAssocID="{24D5E509-BBA8-449A-86D8-8FC429069405}" presName="sibTrans" presStyleCnt="0"/>
      <dgm:spPr/>
    </dgm:pt>
    <dgm:pt modelId="{3E928CCE-71F7-4D3D-8A5D-7A8EA869356F}" type="pres">
      <dgm:prSet presAssocID="{248DE610-2420-4099-92D6-F6D7C1AECE7F}" presName="compNode" presStyleCnt="0"/>
      <dgm:spPr/>
    </dgm:pt>
    <dgm:pt modelId="{682D5879-EE3D-4758-B14F-9DEB5A817F98}" type="pres">
      <dgm:prSet presAssocID="{248DE610-2420-4099-92D6-F6D7C1AECE7F}"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tethoscope"/>
        </a:ext>
      </dgm:extLst>
    </dgm:pt>
    <dgm:pt modelId="{F052B3D8-8BB4-4A89-8077-5069BA9F3E76}" type="pres">
      <dgm:prSet presAssocID="{248DE610-2420-4099-92D6-F6D7C1AECE7F}" presName="spaceRect" presStyleCnt="0"/>
      <dgm:spPr/>
    </dgm:pt>
    <dgm:pt modelId="{4D57427E-321F-41B4-873E-255005ECB100}" type="pres">
      <dgm:prSet presAssocID="{248DE610-2420-4099-92D6-F6D7C1AECE7F}" presName="textRect" presStyleLbl="revTx" presStyleIdx="2" presStyleCnt="3">
        <dgm:presLayoutVars>
          <dgm:chMax val="1"/>
          <dgm:chPref val="1"/>
        </dgm:presLayoutVars>
      </dgm:prSet>
      <dgm:spPr/>
    </dgm:pt>
  </dgm:ptLst>
  <dgm:cxnLst>
    <dgm:cxn modelId="{C2955531-089A-40D4-9C85-E585E3B96893}" type="presOf" srcId="{7950D384-798C-453C-A970-6C32E45B52CC}" destId="{7B08B821-2D83-49A4-9A96-9FB191C08B61}" srcOrd="0" destOrd="0" presId="urn:microsoft.com/office/officeart/2018/2/layout/IconLabelList"/>
    <dgm:cxn modelId="{2DA8AE7E-970D-4929-A440-B8669B6A9FB1}" type="presOf" srcId="{7DDA36C2-0A02-4EA6-B5C8-F6D430E5CB17}" destId="{AB415261-DCD6-4DDD-9771-17A79C1F0D41}" srcOrd="0" destOrd="0" presId="urn:microsoft.com/office/officeart/2018/2/layout/IconLabelList"/>
    <dgm:cxn modelId="{1B4C4EB0-1DF4-4380-9A0D-1FCCE20EB2C0}" type="presOf" srcId="{248DE610-2420-4099-92D6-F6D7C1AECE7F}" destId="{4D57427E-321F-41B4-873E-255005ECB100}" srcOrd="0" destOrd="0" presId="urn:microsoft.com/office/officeart/2018/2/layout/IconLabelList"/>
    <dgm:cxn modelId="{7FB930DB-28F2-4B13-A98E-C6AD69263892}" srcId="{7950D384-798C-453C-A970-6C32E45B52CC}" destId="{248DE610-2420-4099-92D6-F6D7C1AECE7F}" srcOrd="2" destOrd="0" parTransId="{EA79EA18-85F7-4555-8CE2-82D2FE49449C}" sibTransId="{93456B3B-C89C-4639-9C24-D2FA0CD7F4C0}"/>
    <dgm:cxn modelId="{69F70CE2-492B-4860-B363-C2B18DCC720A}" type="presOf" srcId="{41743715-CD6D-4DA6-BB51-C7488497EAF3}" destId="{A4AC7125-A24B-4305-9454-F5236FEBB2D0}" srcOrd="0" destOrd="0" presId="urn:microsoft.com/office/officeart/2018/2/layout/IconLabelList"/>
    <dgm:cxn modelId="{C3208AE6-A366-461B-B362-D0F883E2E213}" srcId="{7950D384-798C-453C-A970-6C32E45B52CC}" destId="{7DDA36C2-0A02-4EA6-B5C8-F6D430E5CB17}" srcOrd="1" destOrd="0" parTransId="{24758725-78C5-4F3B-AD66-DF418CF1CFFD}" sibTransId="{24D5E509-BBA8-449A-86D8-8FC429069405}"/>
    <dgm:cxn modelId="{23CE82EA-F468-43A7-869C-B99321F33B69}" srcId="{7950D384-798C-453C-A970-6C32E45B52CC}" destId="{41743715-CD6D-4DA6-BB51-C7488497EAF3}" srcOrd="0" destOrd="0" parTransId="{47A6B05F-6345-4F15-B6E7-577F008F97C0}" sibTransId="{C35FD1E8-ADCC-4EA9-B299-9B0C4C15908F}"/>
    <dgm:cxn modelId="{93712E03-524A-4077-AC2D-468938C33116}" type="presParOf" srcId="{7B08B821-2D83-49A4-9A96-9FB191C08B61}" destId="{8B0937B4-ACC1-46F3-9D99-0359DC3C3235}" srcOrd="0" destOrd="0" presId="urn:microsoft.com/office/officeart/2018/2/layout/IconLabelList"/>
    <dgm:cxn modelId="{A26D95BE-54DD-4D35-BA1D-59228248C27D}" type="presParOf" srcId="{8B0937B4-ACC1-46F3-9D99-0359DC3C3235}" destId="{056E9303-45B5-445F-A260-4E2C7709D3EA}" srcOrd="0" destOrd="0" presId="urn:microsoft.com/office/officeart/2018/2/layout/IconLabelList"/>
    <dgm:cxn modelId="{760A67DC-3DAC-4AB6-8F57-552615B860F0}" type="presParOf" srcId="{8B0937B4-ACC1-46F3-9D99-0359DC3C3235}" destId="{23C14909-E097-462A-BC31-E8207802847A}" srcOrd="1" destOrd="0" presId="urn:microsoft.com/office/officeart/2018/2/layout/IconLabelList"/>
    <dgm:cxn modelId="{6C2DEF9F-96C2-48F6-9A89-AB630842991F}" type="presParOf" srcId="{8B0937B4-ACC1-46F3-9D99-0359DC3C3235}" destId="{A4AC7125-A24B-4305-9454-F5236FEBB2D0}" srcOrd="2" destOrd="0" presId="urn:microsoft.com/office/officeart/2018/2/layout/IconLabelList"/>
    <dgm:cxn modelId="{E1B6C5CA-9628-488A-97A1-DB23B763DF50}" type="presParOf" srcId="{7B08B821-2D83-49A4-9A96-9FB191C08B61}" destId="{1EED1CC2-97F3-491B-90EF-7BBFC319E1A0}" srcOrd="1" destOrd="0" presId="urn:microsoft.com/office/officeart/2018/2/layout/IconLabelList"/>
    <dgm:cxn modelId="{C6A54DAC-072B-4965-A9F7-40D5945FAD20}" type="presParOf" srcId="{7B08B821-2D83-49A4-9A96-9FB191C08B61}" destId="{508F7071-0F03-4B87-A65E-F601B61FF9AD}" srcOrd="2" destOrd="0" presId="urn:microsoft.com/office/officeart/2018/2/layout/IconLabelList"/>
    <dgm:cxn modelId="{2D5E510F-D101-419D-8C09-E234AF74A849}" type="presParOf" srcId="{508F7071-0F03-4B87-A65E-F601B61FF9AD}" destId="{074ABE37-2958-44BD-ACE3-48ADECCBED4F}" srcOrd="0" destOrd="0" presId="urn:microsoft.com/office/officeart/2018/2/layout/IconLabelList"/>
    <dgm:cxn modelId="{BD73C0E9-5B5B-48D8-A60A-AA4CC2390765}" type="presParOf" srcId="{508F7071-0F03-4B87-A65E-F601B61FF9AD}" destId="{76605F54-695D-40A6-9397-A7757966B630}" srcOrd="1" destOrd="0" presId="urn:microsoft.com/office/officeart/2018/2/layout/IconLabelList"/>
    <dgm:cxn modelId="{536CBA36-0C78-40BE-9F3A-F89623C43E8D}" type="presParOf" srcId="{508F7071-0F03-4B87-A65E-F601B61FF9AD}" destId="{AB415261-DCD6-4DDD-9771-17A79C1F0D41}" srcOrd="2" destOrd="0" presId="urn:microsoft.com/office/officeart/2018/2/layout/IconLabelList"/>
    <dgm:cxn modelId="{C019D46D-58F7-4FC6-BC6D-BEB1AC76EBAF}" type="presParOf" srcId="{7B08B821-2D83-49A4-9A96-9FB191C08B61}" destId="{8613BD72-3D18-48BA-80B9-5BC8D1339F53}" srcOrd="3" destOrd="0" presId="urn:microsoft.com/office/officeart/2018/2/layout/IconLabelList"/>
    <dgm:cxn modelId="{806CA1D8-9B1D-4BCB-A8B5-2E4CB8207DE8}" type="presParOf" srcId="{7B08B821-2D83-49A4-9A96-9FB191C08B61}" destId="{3E928CCE-71F7-4D3D-8A5D-7A8EA869356F}" srcOrd="4" destOrd="0" presId="urn:microsoft.com/office/officeart/2018/2/layout/IconLabelList"/>
    <dgm:cxn modelId="{025289B2-D099-43D7-86B2-A45F596FE33D}" type="presParOf" srcId="{3E928CCE-71F7-4D3D-8A5D-7A8EA869356F}" destId="{682D5879-EE3D-4758-B14F-9DEB5A817F98}" srcOrd="0" destOrd="0" presId="urn:microsoft.com/office/officeart/2018/2/layout/IconLabelList"/>
    <dgm:cxn modelId="{D7BE842A-8E56-4A58-B9D4-74FB53B42F76}" type="presParOf" srcId="{3E928CCE-71F7-4D3D-8A5D-7A8EA869356F}" destId="{F052B3D8-8BB4-4A89-8077-5069BA9F3E76}" srcOrd="1" destOrd="0" presId="urn:microsoft.com/office/officeart/2018/2/layout/IconLabelList"/>
    <dgm:cxn modelId="{74A63A5D-1E3C-47AD-881B-457AE55D3C24}" type="presParOf" srcId="{3E928CCE-71F7-4D3D-8A5D-7A8EA869356F}" destId="{4D57427E-321F-41B4-873E-255005ECB100}"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6EB7EB8-4572-4809-A419-E787A313B6F8}" type="doc">
      <dgm:prSet loTypeId="urn:microsoft.com/office/officeart/2005/8/layout/vProcess5" loCatId="process" qsTypeId="urn:microsoft.com/office/officeart/2005/8/quickstyle/simple2" qsCatId="simple" csTypeId="urn:microsoft.com/office/officeart/2005/8/colors/colorful1" csCatId="colorful" phldr="1"/>
      <dgm:spPr/>
      <dgm:t>
        <a:bodyPr/>
        <a:lstStyle/>
        <a:p>
          <a:endParaRPr lang="en-US"/>
        </a:p>
      </dgm:t>
    </dgm:pt>
    <dgm:pt modelId="{F0372050-80C8-42B6-8FB7-5FCB333B62C6}">
      <dgm:prSet/>
      <dgm:spPr/>
      <dgm:t>
        <a:bodyPr/>
        <a:lstStyle/>
        <a:p>
          <a:r>
            <a:rPr lang="en-US"/>
            <a:t>• Compare six INT metrics</a:t>
          </a:r>
        </a:p>
      </dgm:t>
    </dgm:pt>
    <dgm:pt modelId="{46F810C1-3610-4C91-BFC4-BAA8DD15D9FA}" type="parTrans" cxnId="{9C4466F3-F1F8-4EB7-B2D7-7C23A884B5D7}">
      <dgm:prSet/>
      <dgm:spPr/>
      <dgm:t>
        <a:bodyPr/>
        <a:lstStyle/>
        <a:p>
          <a:endParaRPr lang="en-US"/>
        </a:p>
      </dgm:t>
    </dgm:pt>
    <dgm:pt modelId="{6806EAC1-F195-44FF-8A8D-E897F2BCFC96}" type="sibTrans" cxnId="{9C4466F3-F1F8-4EB7-B2D7-7C23A884B5D7}">
      <dgm:prSet/>
      <dgm:spPr/>
      <dgm:t>
        <a:bodyPr/>
        <a:lstStyle/>
        <a:p>
          <a:endParaRPr lang="en-US"/>
        </a:p>
      </dgm:t>
    </dgm:pt>
    <dgm:pt modelId="{23CE556D-8CEC-4DC7-9EB4-7022B8C09063}">
      <dgm:prSet/>
      <dgm:spPr/>
      <dgm:t>
        <a:bodyPr/>
        <a:lstStyle/>
        <a:p>
          <a:r>
            <a:rPr lang="en-US"/>
            <a:t>• Evaluate discriminability</a:t>
          </a:r>
        </a:p>
      </dgm:t>
    </dgm:pt>
    <dgm:pt modelId="{4D52ED93-D5E3-427A-91F9-B469D28B0D16}" type="parTrans" cxnId="{3E39DB1F-1AF7-4AFB-934D-70F090C97421}">
      <dgm:prSet/>
      <dgm:spPr/>
      <dgm:t>
        <a:bodyPr/>
        <a:lstStyle/>
        <a:p>
          <a:endParaRPr lang="en-US"/>
        </a:p>
      </dgm:t>
    </dgm:pt>
    <dgm:pt modelId="{3FED3FA9-0284-449D-800B-95E0761ED548}" type="sibTrans" cxnId="{3E39DB1F-1AF7-4AFB-934D-70F090C97421}">
      <dgm:prSet/>
      <dgm:spPr/>
      <dgm:t>
        <a:bodyPr/>
        <a:lstStyle/>
        <a:p>
          <a:endParaRPr lang="en-US"/>
        </a:p>
      </dgm:t>
    </dgm:pt>
    <dgm:pt modelId="{C0DC7AA9-6583-40C4-AA1C-C76B086295AD}">
      <dgm:prSet/>
      <dgm:spPr/>
      <dgm:t>
        <a:bodyPr/>
        <a:lstStyle/>
        <a:p>
          <a:r>
            <a:rPr lang="en-US" dirty="0"/>
            <a:t>• Study development effects</a:t>
          </a:r>
        </a:p>
      </dgm:t>
    </dgm:pt>
    <dgm:pt modelId="{2E6902B1-5B35-4860-B958-BCC45CAF8250}" type="parTrans" cxnId="{A6A04491-A09E-4423-93C7-380A7E71E41E}">
      <dgm:prSet/>
      <dgm:spPr/>
      <dgm:t>
        <a:bodyPr/>
        <a:lstStyle/>
        <a:p>
          <a:endParaRPr lang="en-US"/>
        </a:p>
      </dgm:t>
    </dgm:pt>
    <dgm:pt modelId="{93F91AF5-4181-48A4-A80D-FCF21B0A62D6}" type="sibTrans" cxnId="{A6A04491-A09E-4423-93C7-380A7E71E41E}">
      <dgm:prSet/>
      <dgm:spPr/>
      <dgm:t>
        <a:bodyPr/>
        <a:lstStyle/>
        <a:p>
          <a:endParaRPr lang="en-US"/>
        </a:p>
      </dgm:t>
    </dgm:pt>
    <dgm:pt modelId="{002D5743-E173-4CCD-8A48-44707C65C117}" type="pres">
      <dgm:prSet presAssocID="{96EB7EB8-4572-4809-A419-E787A313B6F8}" presName="outerComposite" presStyleCnt="0">
        <dgm:presLayoutVars>
          <dgm:chMax val="5"/>
          <dgm:dir/>
          <dgm:resizeHandles val="exact"/>
        </dgm:presLayoutVars>
      </dgm:prSet>
      <dgm:spPr/>
    </dgm:pt>
    <dgm:pt modelId="{8DC387D7-CAE9-4AD3-8BFC-8786C325D6F2}" type="pres">
      <dgm:prSet presAssocID="{96EB7EB8-4572-4809-A419-E787A313B6F8}" presName="dummyMaxCanvas" presStyleCnt="0">
        <dgm:presLayoutVars/>
      </dgm:prSet>
      <dgm:spPr/>
    </dgm:pt>
    <dgm:pt modelId="{1275BB3D-46C2-43F1-B348-171A7C9430EF}" type="pres">
      <dgm:prSet presAssocID="{96EB7EB8-4572-4809-A419-E787A313B6F8}" presName="ThreeNodes_1" presStyleLbl="node1" presStyleIdx="0" presStyleCnt="3">
        <dgm:presLayoutVars>
          <dgm:bulletEnabled val="1"/>
        </dgm:presLayoutVars>
      </dgm:prSet>
      <dgm:spPr/>
    </dgm:pt>
    <dgm:pt modelId="{1453269E-ADC6-4A3B-9056-4E1264218CA8}" type="pres">
      <dgm:prSet presAssocID="{96EB7EB8-4572-4809-A419-E787A313B6F8}" presName="ThreeNodes_2" presStyleLbl="node1" presStyleIdx="1" presStyleCnt="3">
        <dgm:presLayoutVars>
          <dgm:bulletEnabled val="1"/>
        </dgm:presLayoutVars>
      </dgm:prSet>
      <dgm:spPr/>
    </dgm:pt>
    <dgm:pt modelId="{5C97C5B0-C417-4124-A774-E3E56AAB4345}" type="pres">
      <dgm:prSet presAssocID="{96EB7EB8-4572-4809-A419-E787A313B6F8}" presName="ThreeNodes_3" presStyleLbl="node1" presStyleIdx="2" presStyleCnt="3">
        <dgm:presLayoutVars>
          <dgm:bulletEnabled val="1"/>
        </dgm:presLayoutVars>
      </dgm:prSet>
      <dgm:spPr/>
    </dgm:pt>
    <dgm:pt modelId="{E378C7F1-3E5C-4764-A238-C47E5E4C0EAA}" type="pres">
      <dgm:prSet presAssocID="{96EB7EB8-4572-4809-A419-E787A313B6F8}" presName="ThreeConn_1-2" presStyleLbl="fgAccFollowNode1" presStyleIdx="0" presStyleCnt="2">
        <dgm:presLayoutVars>
          <dgm:bulletEnabled val="1"/>
        </dgm:presLayoutVars>
      </dgm:prSet>
      <dgm:spPr/>
    </dgm:pt>
    <dgm:pt modelId="{98E50340-662F-4EBE-A8CC-7A9E62F1119F}" type="pres">
      <dgm:prSet presAssocID="{96EB7EB8-4572-4809-A419-E787A313B6F8}" presName="ThreeConn_2-3" presStyleLbl="fgAccFollowNode1" presStyleIdx="1" presStyleCnt="2">
        <dgm:presLayoutVars>
          <dgm:bulletEnabled val="1"/>
        </dgm:presLayoutVars>
      </dgm:prSet>
      <dgm:spPr/>
    </dgm:pt>
    <dgm:pt modelId="{7974FB0F-4657-4C2A-8DD2-99BEAE17117C}" type="pres">
      <dgm:prSet presAssocID="{96EB7EB8-4572-4809-A419-E787A313B6F8}" presName="ThreeNodes_1_text" presStyleLbl="node1" presStyleIdx="2" presStyleCnt="3">
        <dgm:presLayoutVars>
          <dgm:bulletEnabled val="1"/>
        </dgm:presLayoutVars>
      </dgm:prSet>
      <dgm:spPr/>
    </dgm:pt>
    <dgm:pt modelId="{1289BE0C-424B-4F45-8F09-1C199BB84DA3}" type="pres">
      <dgm:prSet presAssocID="{96EB7EB8-4572-4809-A419-E787A313B6F8}" presName="ThreeNodes_2_text" presStyleLbl="node1" presStyleIdx="2" presStyleCnt="3">
        <dgm:presLayoutVars>
          <dgm:bulletEnabled val="1"/>
        </dgm:presLayoutVars>
      </dgm:prSet>
      <dgm:spPr/>
    </dgm:pt>
    <dgm:pt modelId="{7D3AAE41-5463-40DF-B903-A11317D574E0}" type="pres">
      <dgm:prSet presAssocID="{96EB7EB8-4572-4809-A419-E787A313B6F8}" presName="ThreeNodes_3_text" presStyleLbl="node1" presStyleIdx="2" presStyleCnt="3">
        <dgm:presLayoutVars>
          <dgm:bulletEnabled val="1"/>
        </dgm:presLayoutVars>
      </dgm:prSet>
      <dgm:spPr/>
    </dgm:pt>
  </dgm:ptLst>
  <dgm:cxnLst>
    <dgm:cxn modelId="{8FFEC007-38FF-4FB5-A005-4CE178ADC3B7}" type="presOf" srcId="{3FED3FA9-0284-449D-800B-95E0761ED548}" destId="{98E50340-662F-4EBE-A8CC-7A9E62F1119F}" srcOrd="0" destOrd="0" presId="urn:microsoft.com/office/officeart/2005/8/layout/vProcess5"/>
    <dgm:cxn modelId="{3E39DB1F-1AF7-4AFB-934D-70F090C97421}" srcId="{96EB7EB8-4572-4809-A419-E787A313B6F8}" destId="{23CE556D-8CEC-4DC7-9EB4-7022B8C09063}" srcOrd="1" destOrd="0" parTransId="{4D52ED93-D5E3-427A-91F9-B469D28B0D16}" sibTransId="{3FED3FA9-0284-449D-800B-95E0761ED548}"/>
    <dgm:cxn modelId="{DDB07B23-1422-443D-BEBD-1D12ED22330C}" type="presOf" srcId="{C0DC7AA9-6583-40C4-AA1C-C76B086295AD}" destId="{7D3AAE41-5463-40DF-B903-A11317D574E0}" srcOrd="1" destOrd="0" presId="urn:microsoft.com/office/officeart/2005/8/layout/vProcess5"/>
    <dgm:cxn modelId="{5E32C242-4C8C-4D00-A1B0-BDFCD9F714D9}" type="presOf" srcId="{23CE556D-8CEC-4DC7-9EB4-7022B8C09063}" destId="{1289BE0C-424B-4F45-8F09-1C199BB84DA3}" srcOrd="1" destOrd="0" presId="urn:microsoft.com/office/officeart/2005/8/layout/vProcess5"/>
    <dgm:cxn modelId="{CD29FD6D-27A6-4183-8A02-D22B52F192C6}" type="presOf" srcId="{C0DC7AA9-6583-40C4-AA1C-C76B086295AD}" destId="{5C97C5B0-C417-4124-A774-E3E56AAB4345}" srcOrd="0" destOrd="0" presId="urn:microsoft.com/office/officeart/2005/8/layout/vProcess5"/>
    <dgm:cxn modelId="{FC77F97A-7256-4F3C-A4F2-9A095BC39AD2}" type="presOf" srcId="{6806EAC1-F195-44FF-8A8D-E897F2BCFC96}" destId="{E378C7F1-3E5C-4764-A238-C47E5E4C0EAA}" srcOrd="0" destOrd="0" presId="urn:microsoft.com/office/officeart/2005/8/layout/vProcess5"/>
    <dgm:cxn modelId="{68B1048B-4E6C-4E55-812A-E180F280AC75}" type="presOf" srcId="{F0372050-80C8-42B6-8FB7-5FCB333B62C6}" destId="{1275BB3D-46C2-43F1-B348-171A7C9430EF}" srcOrd="0" destOrd="0" presId="urn:microsoft.com/office/officeart/2005/8/layout/vProcess5"/>
    <dgm:cxn modelId="{BC2D1E8F-F900-4193-95E0-69BD33843D76}" type="presOf" srcId="{96EB7EB8-4572-4809-A419-E787A313B6F8}" destId="{002D5743-E173-4CCD-8A48-44707C65C117}" srcOrd="0" destOrd="0" presId="urn:microsoft.com/office/officeart/2005/8/layout/vProcess5"/>
    <dgm:cxn modelId="{A6A04491-A09E-4423-93C7-380A7E71E41E}" srcId="{96EB7EB8-4572-4809-A419-E787A313B6F8}" destId="{C0DC7AA9-6583-40C4-AA1C-C76B086295AD}" srcOrd="2" destOrd="0" parTransId="{2E6902B1-5B35-4860-B958-BCC45CAF8250}" sibTransId="{93F91AF5-4181-48A4-A80D-FCF21B0A62D6}"/>
    <dgm:cxn modelId="{7452D3C4-64E3-46D4-A2FD-D3BBBE4FEE7D}" type="presOf" srcId="{23CE556D-8CEC-4DC7-9EB4-7022B8C09063}" destId="{1453269E-ADC6-4A3B-9056-4E1264218CA8}" srcOrd="0" destOrd="0" presId="urn:microsoft.com/office/officeart/2005/8/layout/vProcess5"/>
    <dgm:cxn modelId="{925AA9D7-99C2-4CCB-94A4-B05BBA02FF8A}" type="presOf" srcId="{F0372050-80C8-42B6-8FB7-5FCB333B62C6}" destId="{7974FB0F-4657-4C2A-8DD2-99BEAE17117C}" srcOrd="1" destOrd="0" presId="urn:microsoft.com/office/officeart/2005/8/layout/vProcess5"/>
    <dgm:cxn modelId="{9C4466F3-F1F8-4EB7-B2D7-7C23A884B5D7}" srcId="{96EB7EB8-4572-4809-A419-E787A313B6F8}" destId="{F0372050-80C8-42B6-8FB7-5FCB333B62C6}" srcOrd="0" destOrd="0" parTransId="{46F810C1-3610-4C91-BFC4-BAA8DD15D9FA}" sibTransId="{6806EAC1-F195-44FF-8A8D-E897F2BCFC96}"/>
    <dgm:cxn modelId="{EF9FCFE2-A48D-4FC1-9CEE-E570FD9F9B97}" type="presParOf" srcId="{002D5743-E173-4CCD-8A48-44707C65C117}" destId="{8DC387D7-CAE9-4AD3-8BFC-8786C325D6F2}" srcOrd="0" destOrd="0" presId="urn:microsoft.com/office/officeart/2005/8/layout/vProcess5"/>
    <dgm:cxn modelId="{B4C0AE7D-4028-47EA-BB49-6F9DA91B9B77}" type="presParOf" srcId="{002D5743-E173-4CCD-8A48-44707C65C117}" destId="{1275BB3D-46C2-43F1-B348-171A7C9430EF}" srcOrd="1" destOrd="0" presId="urn:microsoft.com/office/officeart/2005/8/layout/vProcess5"/>
    <dgm:cxn modelId="{6120589E-89B2-468A-B42D-5A00788741C6}" type="presParOf" srcId="{002D5743-E173-4CCD-8A48-44707C65C117}" destId="{1453269E-ADC6-4A3B-9056-4E1264218CA8}" srcOrd="2" destOrd="0" presId="urn:microsoft.com/office/officeart/2005/8/layout/vProcess5"/>
    <dgm:cxn modelId="{CC6B0E26-10DC-4647-A393-C82F0EFFF3FA}" type="presParOf" srcId="{002D5743-E173-4CCD-8A48-44707C65C117}" destId="{5C97C5B0-C417-4124-A774-E3E56AAB4345}" srcOrd="3" destOrd="0" presId="urn:microsoft.com/office/officeart/2005/8/layout/vProcess5"/>
    <dgm:cxn modelId="{77E3E2D8-4C83-4FD1-BAE9-2581D0BDF280}" type="presParOf" srcId="{002D5743-E173-4CCD-8A48-44707C65C117}" destId="{E378C7F1-3E5C-4764-A238-C47E5E4C0EAA}" srcOrd="4" destOrd="0" presId="urn:microsoft.com/office/officeart/2005/8/layout/vProcess5"/>
    <dgm:cxn modelId="{6953BAF4-367A-43FF-BD7C-28E0EDA50B4C}" type="presParOf" srcId="{002D5743-E173-4CCD-8A48-44707C65C117}" destId="{98E50340-662F-4EBE-A8CC-7A9E62F1119F}" srcOrd="5" destOrd="0" presId="urn:microsoft.com/office/officeart/2005/8/layout/vProcess5"/>
    <dgm:cxn modelId="{43AEF746-A8A3-405A-A671-3EFBF0DACAB9}" type="presParOf" srcId="{002D5743-E173-4CCD-8A48-44707C65C117}" destId="{7974FB0F-4657-4C2A-8DD2-99BEAE17117C}" srcOrd="6" destOrd="0" presId="urn:microsoft.com/office/officeart/2005/8/layout/vProcess5"/>
    <dgm:cxn modelId="{0553BEC8-EA49-4737-A631-54EC25A8BF96}" type="presParOf" srcId="{002D5743-E173-4CCD-8A48-44707C65C117}" destId="{1289BE0C-424B-4F45-8F09-1C199BB84DA3}" srcOrd="7" destOrd="0" presId="urn:microsoft.com/office/officeart/2005/8/layout/vProcess5"/>
    <dgm:cxn modelId="{80A28698-02E9-4894-B534-618680B45338}" type="presParOf" srcId="{002D5743-E173-4CCD-8A48-44707C65C117}" destId="{7D3AAE41-5463-40DF-B903-A11317D574E0}"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F84B32D-D00D-4934-8D79-919E4726B84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863F721-9760-4CD2-95BA-707B9B93B6B5}">
      <dgm:prSet/>
      <dgm:spPr/>
      <dgm:t>
        <a:bodyPr/>
        <a:lstStyle/>
        <a:p>
          <a:pPr>
            <a:lnSpc>
              <a:spcPct val="100000"/>
            </a:lnSpc>
          </a:pPr>
          <a:r>
            <a:rPr lang="en-US"/>
            <a:t>• Multiband Resting State fMRI @ 3 TRs = 645, 1400, 2500 </a:t>
          </a:r>
          <a:r>
            <a:rPr lang="en-US" err="1"/>
            <a:t>ms</a:t>
          </a:r>
          <a:endParaRPr lang="en-US"/>
        </a:p>
      </dgm:t>
    </dgm:pt>
    <dgm:pt modelId="{1AD5047D-B5C0-431D-88AD-EDC1BC6D6ADD}" type="parTrans" cxnId="{125EE315-F154-49B4-9C3F-F4CAE40FC2CF}">
      <dgm:prSet/>
      <dgm:spPr/>
      <dgm:t>
        <a:bodyPr/>
        <a:lstStyle/>
        <a:p>
          <a:endParaRPr lang="en-US"/>
        </a:p>
      </dgm:t>
    </dgm:pt>
    <dgm:pt modelId="{54563CC6-DDE8-4035-81B9-A80D056F8E58}" type="sibTrans" cxnId="{125EE315-F154-49B4-9C3F-F4CAE40FC2CF}">
      <dgm:prSet/>
      <dgm:spPr/>
      <dgm:t>
        <a:bodyPr/>
        <a:lstStyle/>
        <a:p>
          <a:endParaRPr lang="en-US"/>
        </a:p>
      </dgm:t>
    </dgm:pt>
    <dgm:pt modelId="{32C4A5CA-FA30-4AFB-88C8-A873A8780A3B}">
      <dgm:prSet/>
      <dgm:spPr/>
      <dgm:t>
        <a:bodyPr/>
        <a:lstStyle/>
        <a:p>
          <a:pPr>
            <a:lnSpc>
              <a:spcPct val="100000"/>
            </a:lnSpc>
          </a:pPr>
          <a:r>
            <a:rPr lang="en-US"/>
            <a:t>• 1022 participants</a:t>
          </a:r>
        </a:p>
      </dgm:t>
    </dgm:pt>
    <dgm:pt modelId="{0ACDD0C2-3C6F-4CA2-8F0C-B4CEEF909732}" type="parTrans" cxnId="{8B34E977-6484-4329-BEF9-B5001DD96703}">
      <dgm:prSet/>
      <dgm:spPr/>
      <dgm:t>
        <a:bodyPr/>
        <a:lstStyle/>
        <a:p>
          <a:endParaRPr lang="en-US"/>
        </a:p>
      </dgm:t>
    </dgm:pt>
    <dgm:pt modelId="{E9007321-12C6-44EC-AFBD-D33E68A1305F}" type="sibTrans" cxnId="{8B34E977-6484-4329-BEF9-B5001DD96703}">
      <dgm:prSet/>
      <dgm:spPr/>
      <dgm:t>
        <a:bodyPr/>
        <a:lstStyle/>
        <a:p>
          <a:endParaRPr lang="en-US"/>
        </a:p>
      </dgm:t>
    </dgm:pt>
    <dgm:pt modelId="{6A33E073-39CA-4031-8296-A714C74B9DDD}">
      <dgm:prSet/>
      <dgm:spPr/>
      <dgm:t>
        <a:bodyPr/>
        <a:lstStyle/>
        <a:p>
          <a:pPr>
            <a:lnSpc>
              <a:spcPct val="100000"/>
            </a:lnSpc>
          </a:pPr>
          <a:r>
            <a:rPr lang="en-US"/>
            <a:t>• NKI-RS: lifespan dataset (6–85 yrs)</a:t>
          </a:r>
        </a:p>
      </dgm:t>
    </dgm:pt>
    <dgm:pt modelId="{C87639F9-573C-4A6D-ACB5-10D0845E82B5}" type="parTrans" cxnId="{4E2D9F88-6826-4083-B17C-023769BA2D4C}">
      <dgm:prSet/>
      <dgm:spPr/>
      <dgm:t>
        <a:bodyPr/>
        <a:lstStyle/>
        <a:p>
          <a:endParaRPr lang="en-US"/>
        </a:p>
      </dgm:t>
    </dgm:pt>
    <dgm:pt modelId="{D9121400-2EEE-42CA-B0C4-C584EECEB52C}" type="sibTrans" cxnId="{4E2D9F88-6826-4083-B17C-023769BA2D4C}">
      <dgm:prSet/>
      <dgm:spPr/>
      <dgm:t>
        <a:bodyPr/>
        <a:lstStyle/>
        <a:p>
          <a:endParaRPr lang="en-US"/>
        </a:p>
      </dgm:t>
    </dgm:pt>
    <dgm:pt modelId="{170933FD-DDF4-46F5-B9D0-96D455362297}" type="pres">
      <dgm:prSet presAssocID="{BF84B32D-D00D-4934-8D79-919E4726B84A}" presName="root" presStyleCnt="0">
        <dgm:presLayoutVars>
          <dgm:dir/>
          <dgm:resizeHandles val="exact"/>
        </dgm:presLayoutVars>
      </dgm:prSet>
      <dgm:spPr/>
    </dgm:pt>
    <dgm:pt modelId="{4F1F20AB-6E2A-4476-B249-592678600058}" type="pres">
      <dgm:prSet presAssocID="{D863F721-9760-4CD2-95BA-707B9B93B6B5}" presName="compNode" presStyleCnt="0"/>
      <dgm:spPr/>
    </dgm:pt>
    <dgm:pt modelId="{D74DF070-DEA8-40E0-89D2-F7BF19842F35}" type="pres">
      <dgm:prSet presAssocID="{D863F721-9760-4CD2-95BA-707B9B93B6B5}"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Brain in head with solid fill"/>
        </a:ext>
      </dgm:extLst>
    </dgm:pt>
    <dgm:pt modelId="{E811E13D-EB5D-4AF5-8C08-3C7A0BB6B934}" type="pres">
      <dgm:prSet presAssocID="{D863F721-9760-4CD2-95BA-707B9B93B6B5}" presName="spaceRect" presStyleCnt="0"/>
      <dgm:spPr/>
    </dgm:pt>
    <dgm:pt modelId="{E65CFB41-D057-462A-B288-E54FD13D378D}" type="pres">
      <dgm:prSet presAssocID="{D863F721-9760-4CD2-95BA-707B9B93B6B5}" presName="textRect" presStyleLbl="revTx" presStyleIdx="0" presStyleCnt="3">
        <dgm:presLayoutVars>
          <dgm:chMax val="1"/>
          <dgm:chPref val="1"/>
        </dgm:presLayoutVars>
      </dgm:prSet>
      <dgm:spPr/>
    </dgm:pt>
    <dgm:pt modelId="{1B47ACC3-25D4-41AF-B60E-A9678FF62B17}" type="pres">
      <dgm:prSet presAssocID="{54563CC6-DDE8-4035-81B9-A80D056F8E58}" presName="sibTrans" presStyleCnt="0"/>
      <dgm:spPr/>
    </dgm:pt>
    <dgm:pt modelId="{9B48DC90-FD85-4530-9944-7C0C66A94F47}" type="pres">
      <dgm:prSet presAssocID="{6A33E073-39CA-4031-8296-A714C74B9DDD}" presName="compNode" presStyleCnt="0"/>
      <dgm:spPr/>
    </dgm:pt>
    <dgm:pt modelId="{3AAEA741-D8B7-4ACE-90EE-F06632C99018}" type="pres">
      <dgm:prSet presAssocID="{6A33E073-39CA-4031-8296-A714C74B9DDD}"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Man with kid with solid fill"/>
        </a:ext>
      </dgm:extLst>
    </dgm:pt>
    <dgm:pt modelId="{0077928B-B5D2-4AED-8D8A-735B2F94F981}" type="pres">
      <dgm:prSet presAssocID="{6A33E073-39CA-4031-8296-A714C74B9DDD}" presName="spaceRect" presStyleCnt="0"/>
      <dgm:spPr/>
    </dgm:pt>
    <dgm:pt modelId="{62974D26-648F-48E8-9585-CE1DD8A9810F}" type="pres">
      <dgm:prSet presAssocID="{6A33E073-39CA-4031-8296-A714C74B9DDD}" presName="textRect" presStyleLbl="revTx" presStyleIdx="1" presStyleCnt="3" custScaleX="88605">
        <dgm:presLayoutVars>
          <dgm:chMax val="1"/>
          <dgm:chPref val="1"/>
        </dgm:presLayoutVars>
      </dgm:prSet>
      <dgm:spPr/>
    </dgm:pt>
    <dgm:pt modelId="{5C529B01-9EF3-4C96-BE47-D79934F4F493}" type="pres">
      <dgm:prSet presAssocID="{D9121400-2EEE-42CA-B0C4-C584EECEB52C}" presName="sibTrans" presStyleCnt="0"/>
      <dgm:spPr/>
    </dgm:pt>
    <dgm:pt modelId="{AF26E31B-2871-44BD-AAC9-8649F42B7447}" type="pres">
      <dgm:prSet presAssocID="{32C4A5CA-FA30-4AFB-88C8-A873A8780A3B}" presName="compNode" presStyleCnt="0"/>
      <dgm:spPr/>
    </dgm:pt>
    <dgm:pt modelId="{FDE13DA7-92E3-40A3-92BA-B7EE8398076B}" type="pres">
      <dgm:prSet presAssocID="{32C4A5CA-FA30-4AFB-88C8-A873A8780A3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eam"/>
        </a:ext>
      </dgm:extLst>
    </dgm:pt>
    <dgm:pt modelId="{B7134477-5E08-42F1-A512-CA6A146F5F07}" type="pres">
      <dgm:prSet presAssocID="{32C4A5CA-FA30-4AFB-88C8-A873A8780A3B}" presName="spaceRect" presStyleCnt="0"/>
      <dgm:spPr/>
    </dgm:pt>
    <dgm:pt modelId="{9121D3EA-364B-4DB3-8287-B512CE2C35C3}" type="pres">
      <dgm:prSet presAssocID="{32C4A5CA-FA30-4AFB-88C8-A873A8780A3B}" presName="textRect" presStyleLbl="revTx" presStyleIdx="2" presStyleCnt="3">
        <dgm:presLayoutVars>
          <dgm:chMax val="1"/>
          <dgm:chPref val="1"/>
        </dgm:presLayoutVars>
      </dgm:prSet>
      <dgm:spPr/>
    </dgm:pt>
  </dgm:ptLst>
  <dgm:cxnLst>
    <dgm:cxn modelId="{952E0612-A9DA-4850-A6EE-C2D90A88A1D7}" type="presOf" srcId="{D863F721-9760-4CD2-95BA-707B9B93B6B5}" destId="{E65CFB41-D057-462A-B288-E54FD13D378D}" srcOrd="0" destOrd="0" presId="urn:microsoft.com/office/officeart/2018/2/layout/IconLabelList"/>
    <dgm:cxn modelId="{125EE315-F154-49B4-9C3F-F4CAE40FC2CF}" srcId="{BF84B32D-D00D-4934-8D79-919E4726B84A}" destId="{D863F721-9760-4CD2-95BA-707B9B93B6B5}" srcOrd="0" destOrd="0" parTransId="{1AD5047D-B5C0-431D-88AD-EDC1BC6D6ADD}" sibTransId="{54563CC6-DDE8-4035-81B9-A80D056F8E58}"/>
    <dgm:cxn modelId="{28CB876C-6702-417F-B068-35F1C003CF51}" type="presOf" srcId="{32C4A5CA-FA30-4AFB-88C8-A873A8780A3B}" destId="{9121D3EA-364B-4DB3-8287-B512CE2C35C3}" srcOrd="0" destOrd="0" presId="urn:microsoft.com/office/officeart/2018/2/layout/IconLabelList"/>
    <dgm:cxn modelId="{8B34E977-6484-4329-BEF9-B5001DD96703}" srcId="{BF84B32D-D00D-4934-8D79-919E4726B84A}" destId="{32C4A5CA-FA30-4AFB-88C8-A873A8780A3B}" srcOrd="2" destOrd="0" parTransId="{0ACDD0C2-3C6F-4CA2-8F0C-B4CEEF909732}" sibTransId="{E9007321-12C6-44EC-AFBD-D33E68A1305F}"/>
    <dgm:cxn modelId="{4E2D9F88-6826-4083-B17C-023769BA2D4C}" srcId="{BF84B32D-D00D-4934-8D79-919E4726B84A}" destId="{6A33E073-39CA-4031-8296-A714C74B9DDD}" srcOrd="1" destOrd="0" parTransId="{C87639F9-573C-4A6D-ACB5-10D0845E82B5}" sibTransId="{D9121400-2EEE-42CA-B0C4-C584EECEB52C}"/>
    <dgm:cxn modelId="{445F88A5-1988-412D-BA97-0055EEAB30FB}" type="presOf" srcId="{BF84B32D-D00D-4934-8D79-919E4726B84A}" destId="{170933FD-DDF4-46F5-B9D0-96D455362297}" srcOrd="0" destOrd="0" presId="urn:microsoft.com/office/officeart/2018/2/layout/IconLabelList"/>
    <dgm:cxn modelId="{1F094FE5-63BC-4B6D-87E5-45EEEE2F1C37}" type="presOf" srcId="{6A33E073-39CA-4031-8296-A714C74B9DDD}" destId="{62974D26-648F-48E8-9585-CE1DD8A9810F}" srcOrd="0" destOrd="0" presId="urn:microsoft.com/office/officeart/2018/2/layout/IconLabelList"/>
    <dgm:cxn modelId="{B319ABAC-3C33-4CE3-A0D9-42C1A527CA4E}" type="presParOf" srcId="{170933FD-DDF4-46F5-B9D0-96D455362297}" destId="{4F1F20AB-6E2A-4476-B249-592678600058}" srcOrd="0" destOrd="0" presId="urn:microsoft.com/office/officeart/2018/2/layout/IconLabelList"/>
    <dgm:cxn modelId="{4CB02E96-04F9-4B21-A65B-BFFCC74618AA}" type="presParOf" srcId="{4F1F20AB-6E2A-4476-B249-592678600058}" destId="{D74DF070-DEA8-40E0-89D2-F7BF19842F35}" srcOrd="0" destOrd="0" presId="urn:microsoft.com/office/officeart/2018/2/layout/IconLabelList"/>
    <dgm:cxn modelId="{5BE979BB-1C27-41E8-97D7-8E016A06E51A}" type="presParOf" srcId="{4F1F20AB-6E2A-4476-B249-592678600058}" destId="{E811E13D-EB5D-4AF5-8C08-3C7A0BB6B934}" srcOrd="1" destOrd="0" presId="urn:microsoft.com/office/officeart/2018/2/layout/IconLabelList"/>
    <dgm:cxn modelId="{51378A04-5493-4F73-B13F-D46500D0B38D}" type="presParOf" srcId="{4F1F20AB-6E2A-4476-B249-592678600058}" destId="{E65CFB41-D057-462A-B288-E54FD13D378D}" srcOrd="2" destOrd="0" presId="urn:microsoft.com/office/officeart/2018/2/layout/IconLabelList"/>
    <dgm:cxn modelId="{C4DE1808-2EB3-4F92-9207-CBB6157128ED}" type="presParOf" srcId="{170933FD-DDF4-46F5-B9D0-96D455362297}" destId="{1B47ACC3-25D4-41AF-B60E-A9678FF62B17}" srcOrd="1" destOrd="0" presId="urn:microsoft.com/office/officeart/2018/2/layout/IconLabelList"/>
    <dgm:cxn modelId="{1486F9BE-256B-4076-BD91-69DB2A488FF4}" type="presParOf" srcId="{170933FD-DDF4-46F5-B9D0-96D455362297}" destId="{9B48DC90-FD85-4530-9944-7C0C66A94F47}" srcOrd="2" destOrd="0" presId="urn:microsoft.com/office/officeart/2018/2/layout/IconLabelList"/>
    <dgm:cxn modelId="{6F14BC88-25F8-4443-9600-44A3FFE75533}" type="presParOf" srcId="{9B48DC90-FD85-4530-9944-7C0C66A94F47}" destId="{3AAEA741-D8B7-4ACE-90EE-F06632C99018}" srcOrd="0" destOrd="0" presId="urn:microsoft.com/office/officeart/2018/2/layout/IconLabelList"/>
    <dgm:cxn modelId="{CE952AFC-3718-4435-A1FB-C96F4C9E7575}" type="presParOf" srcId="{9B48DC90-FD85-4530-9944-7C0C66A94F47}" destId="{0077928B-B5D2-4AED-8D8A-735B2F94F981}" srcOrd="1" destOrd="0" presId="urn:microsoft.com/office/officeart/2018/2/layout/IconLabelList"/>
    <dgm:cxn modelId="{341ED666-6506-4E48-BF2C-2F9C1D5160E1}" type="presParOf" srcId="{9B48DC90-FD85-4530-9944-7C0C66A94F47}" destId="{62974D26-648F-48E8-9585-CE1DD8A9810F}" srcOrd="2" destOrd="0" presId="urn:microsoft.com/office/officeart/2018/2/layout/IconLabelList"/>
    <dgm:cxn modelId="{FCA6112A-9F71-4FBC-913D-3B8463405A74}" type="presParOf" srcId="{170933FD-DDF4-46F5-B9D0-96D455362297}" destId="{5C529B01-9EF3-4C96-BE47-D79934F4F493}" srcOrd="3" destOrd="0" presId="urn:microsoft.com/office/officeart/2018/2/layout/IconLabelList"/>
    <dgm:cxn modelId="{A50451B4-A481-4F71-A679-E336662F83F9}" type="presParOf" srcId="{170933FD-DDF4-46F5-B9D0-96D455362297}" destId="{AF26E31B-2871-44BD-AAC9-8649F42B7447}" srcOrd="4" destOrd="0" presId="urn:microsoft.com/office/officeart/2018/2/layout/IconLabelList"/>
    <dgm:cxn modelId="{26176808-CEE3-4157-A526-ED71B0BAC351}" type="presParOf" srcId="{AF26E31B-2871-44BD-AAC9-8649F42B7447}" destId="{FDE13DA7-92E3-40A3-92BA-B7EE8398076B}" srcOrd="0" destOrd="0" presId="urn:microsoft.com/office/officeart/2018/2/layout/IconLabelList"/>
    <dgm:cxn modelId="{CA08D3F3-BF65-4B45-87F7-EB8E880860F7}" type="presParOf" srcId="{AF26E31B-2871-44BD-AAC9-8649F42B7447}" destId="{B7134477-5E08-42F1-A512-CA6A146F5F07}" srcOrd="1" destOrd="0" presId="urn:microsoft.com/office/officeart/2018/2/layout/IconLabelList"/>
    <dgm:cxn modelId="{A2E36463-1855-443C-A25F-92A3DB8F5F3A}" type="presParOf" srcId="{AF26E31B-2871-44BD-AAC9-8649F42B7447}" destId="{9121D3EA-364B-4DB3-8287-B512CE2C35C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16EDA61-B822-4360-886F-B7EB004E7CE9}" type="doc">
      <dgm:prSet loTypeId="urn:microsoft.com/office/officeart/2005/8/layout/process5" loCatId="process" qsTypeId="urn:microsoft.com/office/officeart/2005/8/quickstyle/simple1" qsCatId="simple" csTypeId="urn:microsoft.com/office/officeart/2005/8/colors/colorful5" csCatId="colorful" phldr="1"/>
      <dgm:spPr/>
      <dgm:t>
        <a:bodyPr/>
        <a:lstStyle/>
        <a:p>
          <a:endParaRPr lang="en-US"/>
        </a:p>
      </dgm:t>
    </dgm:pt>
    <dgm:pt modelId="{82F2AE0D-B713-42E1-81CF-EB28165274FB}">
      <dgm:prSet/>
      <dgm:spPr/>
      <dgm:t>
        <a:bodyPr/>
        <a:lstStyle/>
        <a:p>
          <a:r>
            <a:rPr lang="en-US" dirty="0"/>
            <a:t>Measures test–retest reliability</a:t>
          </a:r>
        </a:p>
      </dgm:t>
    </dgm:pt>
    <dgm:pt modelId="{D2CC4DE6-0EBB-4A50-AD49-DA66A499B911}" type="parTrans" cxnId="{E05555D3-0B4E-4A36-A495-ABD332BF4762}">
      <dgm:prSet/>
      <dgm:spPr/>
      <dgm:t>
        <a:bodyPr/>
        <a:lstStyle/>
        <a:p>
          <a:endParaRPr lang="en-US"/>
        </a:p>
      </dgm:t>
    </dgm:pt>
    <dgm:pt modelId="{29EBBAE9-D53A-4BAF-A65B-A770F1841967}" type="sibTrans" cxnId="{E05555D3-0B4E-4A36-A495-ABD332BF4762}">
      <dgm:prSet/>
      <dgm:spPr/>
      <dgm:t>
        <a:bodyPr/>
        <a:lstStyle/>
        <a:p>
          <a:endParaRPr lang="en-US"/>
        </a:p>
      </dgm:t>
    </dgm:pt>
    <dgm:pt modelId="{A8E3F678-8CFC-4511-9FC3-405D4B915DFD}">
      <dgm:prSet/>
      <dgm:spPr/>
      <dgm:t>
        <a:bodyPr/>
        <a:lstStyle/>
        <a:p>
          <a:r>
            <a:rPr lang="en-US" dirty="0"/>
            <a:t>Most reliable index</a:t>
          </a:r>
        </a:p>
      </dgm:t>
    </dgm:pt>
    <dgm:pt modelId="{9176D941-98F3-47A0-9F1D-B2A3A87D1AB3}" type="parTrans" cxnId="{551722E1-DA9E-499B-B4D1-70EC52B9A453}">
      <dgm:prSet/>
      <dgm:spPr/>
      <dgm:t>
        <a:bodyPr/>
        <a:lstStyle/>
        <a:p>
          <a:endParaRPr lang="en-US"/>
        </a:p>
      </dgm:t>
    </dgm:pt>
    <dgm:pt modelId="{8A2A049D-7107-453A-933B-D9F3DF812646}" type="sibTrans" cxnId="{551722E1-DA9E-499B-B4D1-70EC52B9A453}">
      <dgm:prSet/>
      <dgm:spPr/>
      <dgm:t>
        <a:bodyPr/>
        <a:lstStyle/>
        <a:p>
          <a:endParaRPr lang="en-US"/>
        </a:p>
      </dgm:t>
    </dgm:pt>
    <dgm:pt modelId="{73CBC6D0-A912-4E2A-8E26-5F47ABB65264}">
      <dgm:prSet/>
      <dgm:spPr/>
      <dgm:t>
        <a:bodyPr/>
        <a:lstStyle/>
        <a:p>
          <a:r>
            <a:rPr lang="en-US" dirty="0"/>
            <a:t>Validated for further use</a:t>
          </a:r>
        </a:p>
      </dgm:t>
    </dgm:pt>
    <dgm:pt modelId="{837AD2CB-D7A1-4068-97D5-7C21C0DCEFE7}" type="parTrans" cxnId="{7EC96AEB-3F2B-4DB3-8972-79A89293C07E}">
      <dgm:prSet/>
      <dgm:spPr/>
      <dgm:t>
        <a:bodyPr/>
        <a:lstStyle/>
        <a:p>
          <a:endParaRPr lang="en-US"/>
        </a:p>
      </dgm:t>
    </dgm:pt>
    <dgm:pt modelId="{4770BD46-FC4B-4A27-997B-9C9429CB8C05}" type="sibTrans" cxnId="{7EC96AEB-3F2B-4DB3-8972-79A89293C07E}">
      <dgm:prSet/>
      <dgm:spPr/>
      <dgm:t>
        <a:bodyPr/>
        <a:lstStyle/>
        <a:p>
          <a:endParaRPr lang="en-US"/>
        </a:p>
      </dgm:t>
    </dgm:pt>
    <dgm:pt modelId="{E8FB5357-9008-4937-871A-C96F7DC1A10C}" type="pres">
      <dgm:prSet presAssocID="{C16EDA61-B822-4360-886F-B7EB004E7CE9}" presName="diagram" presStyleCnt="0">
        <dgm:presLayoutVars>
          <dgm:dir/>
          <dgm:resizeHandles val="exact"/>
        </dgm:presLayoutVars>
      </dgm:prSet>
      <dgm:spPr/>
    </dgm:pt>
    <dgm:pt modelId="{C9A5CA2E-9998-410F-B941-0AED552BB11D}" type="pres">
      <dgm:prSet presAssocID="{82F2AE0D-B713-42E1-81CF-EB28165274FB}" presName="node" presStyleLbl="node1" presStyleIdx="0" presStyleCnt="3">
        <dgm:presLayoutVars>
          <dgm:bulletEnabled val="1"/>
        </dgm:presLayoutVars>
      </dgm:prSet>
      <dgm:spPr/>
    </dgm:pt>
    <dgm:pt modelId="{1D5243D7-96C4-44AE-947C-E9B5BC2B0C93}" type="pres">
      <dgm:prSet presAssocID="{29EBBAE9-D53A-4BAF-A65B-A770F1841967}" presName="sibTrans" presStyleLbl="sibTrans2D1" presStyleIdx="0" presStyleCnt="2"/>
      <dgm:spPr/>
    </dgm:pt>
    <dgm:pt modelId="{2702A371-B2D5-49AF-BC47-DFA447011197}" type="pres">
      <dgm:prSet presAssocID="{29EBBAE9-D53A-4BAF-A65B-A770F1841967}" presName="connectorText" presStyleLbl="sibTrans2D1" presStyleIdx="0" presStyleCnt="2"/>
      <dgm:spPr/>
    </dgm:pt>
    <dgm:pt modelId="{1A997079-4C31-4E88-A0C0-BB37D80C26D8}" type="pres">
      <dgm:prSet presAssocID="{A8E3F678-8CFC-4511-9FC3-405D4B915DFD}" presName="node" presStyleLbl="node1" presStyleIdx="1" presStyleCnt="3">
        <dgm:presLayoutVars>
          <dgm:bulletEnabled val="1"/>
        </dgm:presLayoutVars>
      </dgm:prSet>
      <dgm:spPr/>
    </dgm:pt>
    <dgm:pt modelId="{4D525CCF-7608-4F18-8E84-14B0B113C7F5}" type="pres">
      <dgm:prSet presAssocID="{8A2A049D-7107-453A-933B-D9F3DF812646}" presName="sibTrans" presStyleLbl="sibTrans2D1" presStyleIdx="1" presStyleCnt="2"/>
      <dgm:spPr/>
    </dgm:pt>
    <dgm:pt modelId="{0E23BFA3-42CA-46EC-ABF8-8F5BC59C8042}" type="pres">
      <dgm:prSet presAssocID="{8A2A049D-7107-453A-933B-D9F3DF812646}" presName="connectorText" presStyleLbl="sibTrans2D1" presStyleIdx="1" presStyleCnt="2"/>
      <dgm:spPr/>
    </dgm:pt>
    <dgm:pt modelId="{617F60CE-E421-4367-9885-C7941C8CDB38}" type="pres">
      <dgm:prSet presAssocID="{73CBC6D0-A912-4E2A-8E26-5F47ABB65264}" presName="node" presStyleLbl="node1" presStyleIdx="2" presStyleCnt="3">
        <dgm:presLayoutVars>
          <dgm:bulletEnabled val="1"/>
        </dgm:presLayoutVars>
      </dgm:prSet>
      <dgm:spPr/>
    </dgm:pt>
  </dgm:ptLst>
  <dgm:cxnLst>
    <dgm:cxn modelId="{1213492A-539A-4F3F-9C88-59DB28CB6D8D}" type="presOf" srcId="{29EBBAE9-D53A-4BAF-A65B-A770F1841967}" destId="{2702A371-B2D5-49AF-BC47-DFA447011197}" srcOrd="1" destOrd="0" presId="urn:microsoft.com/office/officeart/2005/8/layout/process5"/>
    <dgm:cxn modelId="{8A9A2030-F5FD-4623-B17A-232120EEABCC}" type="presOf" srcId="{8A2A049D-7107-453A-933B-D9F3DF812646}" destId="{4D525CCF-7608-4F18-8E84-14B0B113C7F5}" srcOrd="0" destOrd="0" presId="urn:microsoft.com/office/officeart/2005/8/layout/process5"/>
    <dgm:cxn modelId="{52D87A39-CFDD-40AE-B185-E018FEA930A2}" type="presOf" srcId="{29EBBAE9-D53A-4BAF-A65B-A770F1841967}" destId="{1D5243D7-96C4-44AE-947C-E9B5BC2B0C93}" srcOrd="0" destOrd="0" presId="urn:microsoft.com/office/officeart/2005/8/layout/process5"/>
    <dgm:cxn modelId="{8C230B6A-027C-4A76-950F-367FD68AF2B8}" type="presOf" srcId="{C16EDA61-B822-4360-886F-B7EB004E7CE9}" destId="{E8FB5357-9008-4937-871A-C96F7DC1A10C}" srcOrd="0" destOrd="0" presId="urn:microsoft.com/office/officeart/2005/8/layout/process5"/>
    <dgm:cxn modelId="{79A52D89-0797-4C5A-815C-0DEA792A7458}" type="presOf" srcId="{73CBC6D0-A912-4E2A-8E26-5F47ABB65264}" destId="{617F60CE-E421-4367-9885-C7941C8CDB38}" srcOrd="0" destOrd="0" presId="urn:microsoft.com/office/officeart/2005/8/layout/process5"/>
    <dgm:cxn modelId="{4BCBBC9F-CA90-4B61-BF01-60C171317195}" type="presOf" srcId="{A8E3F678-8CFC-4511-9FC3-405D4B915DFD}" destId="{1A997079-4C31-4E88-A0C0-BB37D80C26D8}" srcOrd="0" destOrd="0" presId="urn:microsoft.com/office/officeart/2005/8/layout/process5"/>
    <dgm:cxn modelId="{AFF877C9-4BDD-481C-B12D-E89C273614DF}" type="presOf" srcId="{8A2A049D-7107-453A-933B-D9F3DF812646}" destId="{0E23BFA3-42CA-46EC-ABF8-8F5BC59C8042}" srcOrd="1" destOrd="0" presId="urn:microsoft.com/office/officeart/2005/8/layout/process5"/>
    <dgm:cxn modelId="{E05555D3-0B4E-4A36-A495-ABD332BF4762}" srcId="{C16EDA61-B822-4360-886F-B7EB004E7CE9}" destId="{82F2AE0D-B713-42E1-81CF-EB28165274FB}" srcOrd="0" destOrd="0" parTransId="{D2CC4DE6-0EBB-4A50-AD49-DA66A499B911}" sibTransId="{29EBBAE9-D53A-4BAF-A65B-A770F1841967}"/>
    <dgm:cxn modelId="{551722E1-DA9E-499B-B4D1-70EC52B9A453}" srcId="{C16EDA61-B822-4360-886F-B7EB004E7CE9}" destId="{A8E3F678-8CFC-4511-9FC3-405D4B915DFD}" srcOrd="1" destOrd="0" parTransId="{9176D941-98F3-47A0-9F1D-B2A3A87D1AB3}" sibTransId="{8A2A049D-7107-453A-933B-D9F3DF812646}"/>
    <dgm:cxn modelId="{7EC96AEB-3F2B-4DB3-8972-79A89293C07E}" srcId="{C16EDA61-B822-4360-886F-B7EB004E7CE9}" destId="{73CBC6D0-A912-4E2A-8E26-5F47ABB65264}" srcOrd="2" destOrd="0" parTransId="{837AD2CB-D7A1-4068-97D5-7C21C0DCEFE7}" sibTransId="{4770BD46-FC4B-4A27-997B-9C9429CB8C05}"/>
    <dgm:cxn modelId="{5EAE22F5-8E4B-4F03-A22A-0A96DF5E489A}" type="presOf" srcId="{82F2AE0D-B713-42E1-81CF-EB28165274FB}" destId="{C9A5CA2E-9998-410F-B941-0AED552BB11D}" srcOrd="0" destOrd="0" presId="urn:microsoft.com/office/officeart/2005/8/layout/process5"/>
    <dgm:cxn modelId="{1B782C77-3596-4256-AD54-60C903A993BF}" type="presParOf" srcId="{E8FB5357-9008-4937-871A-C96F7DC1A10C}" destId="{C9A5CA2E-9998-410F-B941-0AED552BB11D}" srcOrd="0" destOrd="0" presId="urn:microsoft.com/office/officeart/2005/8/layout/process5"/>
    <dgm:cxn modelId="{5EC144AE-7D53-414F-97CC-9E7F1E3583DB}" type="presParOf" srcId="{E8FB5357-9008-4937-871A-C96F7DC1A10C}" destId="{1D5243D7-96C4-44AE-947C-E9B5BC2B0C93}" srcOrd="1" destOrd="0" presId="urn:microsoft.com/office/officeart/2005/8/layout/process5"/>
    <dgm:cxn modelId="{5F67241A-5A0C-4B73-9AC4-51568666D78C}" type="presParOf" srcId="{1D5243D7-96C4-44AE-947C-E9B5BC2B0C93}" destId="{2702A371-B2D5-49AF-BC47-DFA447011197}" srcOrd="0" destOrd="0" presId="urn:microsoft.com/office/officeart/2005/8/layout/process5"/>
    <dgm:cxn modelId="{F1C2A498-9882-4CBB-BC7B-176784D04822}" type="presParOf" srcId="{E8FB5357-9008-4937-871A-C96F7DC1A10C}" destId="{1A997079-4C31-4E88-A0C0-BB37D80C26D8}" srcOrd="2" destOrd="0" presId="urn:microsoft.com/office/officeart/2005/8/layout/process5"/>
    <dgm:cxn modelId="{93D0CA50-C443-4821-AE71-7388263251E7}" type="presParOf" srcId="{E8FB5357-9008-4937-871A-C96F7DC1A10C}" destId="{4D525CCF-7608-4F18-8E84-14B0B113C7F5}" srcOrd="3" destOrd="0" presId="urn:microsoft.com/office/officeart/2005/8/layout/process5"/>
    <dgm:cxn modelId="{7CF2B8FF-4F26-4D90-B89A-3DCF34A23E23}" type="presParOf" srcId="{4D525CCF-7608-4F18-8E84-14B0B113C7F5}" destId="{0E23BFA3-42CA-46EC-ABF8-8F5BC59C8042}" srcOrd="0" destOrd="0" presId="urn:microsoft.com/office/officeart/2005/8/layout/process5"/>
    <dgm:cxn modelId="{C1A975D0-5C35-46BE-AC38-3D65F2E4C74F}" type="presParOf" srcId="{E8FB5357-9008-4937-871A-C96F7DC1A10C}" destId="{617F60CE-E421-4367-9885-C7941C8CDB38}" srcOrd="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A5B352E-72B9-449C-A4DB-2F1713F1908C}"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8982C3DB-A4EB-4AF1-9FA7-95A346131DBF}">
      <dgm:prSet/>
      <dgm:spPr/>
      <dgm:t>
        <a:bodyPr/>
        <a:lstStyle/>
        <a:p>
          <a:r>
            <a:rPr lang="en-US" dirty="0"/>
            <a:t>Most reliable INT </a:t>
          </a:r>
          <a:r>
            <a:rPr lang="en-US" dirty="0">
              <a:sym typeface="Wingdings" panose="05000000000000000000" pitchFamily="2" charset="2"/>
            </a:rPr>
            <a:t></a:t>
          </a:r>
          <a:r>
            <a:rPr lang="en-US" dirty="0"/>
            <a:t> AR1</a:t>
          </a:r>
        </a:p>
      </dgm:t>
    </dgm:pt>
    <dgm:pt modelId="{3947FA04-BBFD-4AA4-ABFD-DE6D2120CD54}" type="parTrans" cxnId="{552F9460-73EB-452B-9F59-62C1EFB4C8A0}">
      <dgm:prSet/>
      <dgm:spPr/>
      <dgm:t>
        <a:bodyPr/>
        <a:lstStyle/>
        <a:p>
          <a:endParaRPr lang="en-US"/>
        </a:p>
      </dgm:t>
    </dgm:pt>
    <dgm:pt modelId="{D0A777D4-F366-403B-BC67-50661AB4C052}" type="sibTrans" cxnId="{552F9460-73EB-452B-9F59-62C1EFB4C8A0}">
      <dgm:prSet phldrT="01"/>
      <dgm:spPr/>
      <dgm:t>
        <a:bodyPr/>
        <a:lstStyle/>
        <a:p>
          <a:r>
            <a:rPr lang="en-US"/>
            <a:t>01</a:t>
          </a:r>
        </a:p>
      </dgm:t>
    </dgm:pt>
    <dgm:pt modelId="{10AE2140-CECA-4320-AC8F-02F50ECAE085}">
      <dgm:prSet/>
      <dgm:spPr/>
      <dgm:t>
        <a:bodyPr/>
        <a:lstStyle/>
        <a:p>
          <a:r>
            <a:rPr lang="en-US" dirty="0"/>
            <a:t>Age has non linear effect and sex has not meaningful effect, but age and sex interaction does</a:t>
          </a:r>
        </a:p>
      </dgm:t>
    </dgm:pt>
    <dgm:pt modelId="{D37A2FAA-7341-460F-9F3C-DADAEE9DAAA8}" type="parTrans" cxnId="{87E9358F-EABB-4514-9C91-D15F213FF93F}">
      <dgm:prSet/>
      <dgm:spPr/>
      <dgm:t>
        <a:bodyPr/>
        <a:lstStyle/>
        <a:p>
          <a:endParaRPr lang="en-US"/>
        </a:p>
      </dgm:t>
    </dgm:pt>
    <dgm:pt modelId="{050DC727-7E74-4FA5-B085-BA3875883D0E}" type="sibTrans" cxnId="{87E9358F-EABB-4514-9C91-D15F213FF93F}">
      <dgm:prSet phldrT="02"/>
      <dgm:spPr/>
      <dgm:t>
        <a:bodyPr/>
        <a:lstStyle/>
        <a:p>
          <a:r>
            <a:rPr lang="en-US"/>
            <a:t>02</a:t>
          </a:r>
        </a:p>
      </dgm:t>
    </dgm:pt>
    <dgm:pt modelId="{84E0C173-756C-4E14-86E4-868EB8764B87}">
      <dgm:prSet/>
      <dgm:spPr/>
      <dgm:t>
        <a:bodyPr/>
        <a:lstStyle/>
        <a:p>
          <a:r>
            <a:rPr lang="en-US" dirty="0"/>
            <a:t>Summarized developmental trend at network level</a:t>
          </a:r>
        </a:p>
      </dgm:t>
    </dgm:pt>
    <dgm:pt modelId="{090BDB86-1A90-4EC2-9B31-899999D3EE60}" type="parTrans" cxnId="{6BDEB3F4-8F30-4BC1-B984-974376553447}">
      <dgm:prSet/>
      <dgm:spPr/>
      <dgm:t>
        <a:bodyPr/>
        <a:lstStyle/>
        <a:p>
          <a:endParaRPr lang="en-US"/>
        </a:p>
      </dgm:t>
    </dgm:pt>
    <dgm:pt modelId="{EDF4EB88-5113-4D13-A6AA-7704E0E41EBC}" type="sibTrans" cxnId="{6BDEB3F4-8F30-4BC1-B984-974376553447}">
      <dgm:prSet phldrT="03"/>
      <dgm:spPr/>
      <dgm:t>
        <a:bodyPr/>
        <a:lstStyle/>
        <a:p>
          <a:r>
            <a:rPr lang="en-US"/>
            <a:t>03</a:t>
          </a:r>
        </a:p>
      </dgm:t>
    </dgm:pt>
    <dgm:pt modelId="{96AF07EF-FAA8-49F3-B603-59EEE79DB6DD}" type="pres">
      <dgm:prSet presAssocID="{4A5B352E-72B9-449C-A4DB-2F1713F1908C}" presName="Name0" presStyleCnt="0">
        <dgm:presLayoutVars>
          <dgm:animLvl val="lvl"/>
          <dgm:resizeHandles val="exact"/>
        </dgm:presLayoutVars>
      </dgm:prSet>
      <dgm:spPr/>
    </dgm:pt>
    <dgm:pt modelId="{4E639D25-60D6-4580-A8F6-5ED6F052A78D}" type="pres">
      <dgm:prSet presAssocID="{8982C3DB-A4EB-4AF1-9FA7-95A346131DBF}" presName="compositeNode" presStyleCnt="0">
        <dgm:presLayoutVars>
          <dgm:bulletEnabled val="1"/>
        </dgm:presLayoutVars>
      </dgm:prSet>
      <dgm:spPr/>
    </dgm:pt>
    <dgm:pt modelId="{4255D614-220A-4A1D-B798-79472EFCC654}" type="pres">
      <dgm:prSet presAssocID="{8982C3DB-A4EB-4AF1-9FA7-95A346131DBF}" presName="bgRect" presStyleLbl="alignNode1" presStyleIdx="0" presStyleCnt="3"/>
      <dgm:spPr/>
    </dgm:pt>
    <dgm:pt modelId="{956872DA-8E22-4A33-9B61-CF6F589706B2}" type="pres">
      <dgm:prSet presAssocID="{D0A777D4-F366-403B-BC67-50661AB4C052}" presName="sibTransNodeRect" presStyleLbl="alignNode1" presStyleIdx="0" presStyleCnt="3">
        <dgm:presLayoutVars>
          <dgm:chMax val="0"/>
          <dgm:bulletEnabled val="1"/>
        </dgm:presLayoutVars>
      </dgm:prSet>
      <dgm:spPr/>
    </dgm:pt>
    <dgm:pt modelId="{11702B16-FE29-4645-8F35-1810E02D7506}" type="pres">
      <dgm:prSet presAssocID="{8982C3DB-A4EB-4AF1-9FA7-95A346131DBF}" presName="nodeRect" presStyleLbl="alignNode1" presStyleIdx="0" presStyleCnt="3">
        <dgm:presLayoutVars>
          <dgm:bulletEnabled val="1"/>
        </dgm:presLayoutVars>
      </dgm:prSet>
      <dgm:spPr/>
    </dgm:pt>
    <dgm:pt modelId="{5ABF7553-CA5C-4189-B9B7-E12833FE4845}" type="pres">
      <dgm:prSet presAssocID="{D0A777D4-F366-403B-BC67-50661AB4C052}" presName="sibTrans" presStyleCnt="0"/>
      <dgm:spPr/>
    </dgm:pt>
    <dgm:pt modelId="{49FB7085-24A1-4DB8-9864-191BB0D05BB7}" type="pres">
      <dgm:prSet presAssocID="{10AE2140-CECA-4320-AC8F-02F50ECAE085}" presName="compositeNode" presStyleCnt="0">
        <dgm:presLayoutVars>
          <dgm:bulletEnabled val="1"/>
        </dgm:presLayoutVars>
      </dgm:prSet>
      <dgm:spPr/>
    </dgm:pt>
    <dgm:pt modelId="{A3063935-1A5C-47D4-A5F0-D176CB3BFCE4}" type="pres">
      <dgm:prSet presAssocID="{10AE2140-CECA-4320-AC8F-02F50ECAE085}" presName="bgRect" presStyleLbl="alignNode1" presStyleIdx="1" presStyleCnt="3"/>
      <dgm:spPr/>
    </dgm:pt>
    <dgm:pt modelId="{430FFEED-EB33-4E85-ADB3-DCCB851CB946}" type="pres">
      <dgm:prSet presAssocID="{050DC727-7E74-4FA5-B085-BA3875883D0E}" presName="sibTransNodeRect" presStyleLbl="alignNode1" presStyleIdx="1" presStyleCnt="3">
        <dgm:presLayoutVars>
          <dgm:chMax val="0"/>
          <dgm:bulletEnabled val="1"/>
        </dgm:presLayoutVars>
      </dgm:prSet>
      <dgm:spPr/>
    </dgm:pt>
    <dgm:pt modelId="{7955EAB5-9AC3-4E08-91D2-E862C1903E85}" type="pres">
      <dgm:prSet presAssocID="{10AE2140-CECA-4320-AC8F-02F50ECAE085}" presName="nodeRect" presStyleLbl="alignNode1" presStyleIdx="1" presStyleCnt="3">
        <dgm:presLayoutVars>
          <dgm:bulletEnabled val="1"/>
        </dgm:presLayoutVars>
      </dgm:prSet>
      <dgm:spPr/>
    </dgm:pt>
    <dgm:pt modelId="{91412F47-AF77-4E5C-BB3D-C749096BC573}" type="pres">
      <dgm:prSet presAssocID="{050DC727-7E74-4FA5-B085-BA3875883D0E}" presName="sibTrans" presStyleCnt="0"/>
      <dgm:spPr/>
    </dgm:pt>
    <dgm:pt modelId="{44249FFB-7FC4-4223-A44F-DCF5E53EEDF3}" type="pres">
      <dgm:prSet presAssocID="{84E0C173-756C-4E14-86E4-868EB8764B87}" presName="compositeNode" presStyleCnt="0">
        <dgm:presLayoutVars>
          <dgm:bulletEnabled val="1"/>
        </dgm:presLayoutVars>
      </dgm:prSet>
      <dgm:spPr/>
    </dgm:pt>
    <dgm:pt modelId="{D1B342F4-8059-49C1-8A4D-0D9062D86DEF}" type="pres">
      <dgm:prSet presAssocID="{84E0C173-756C-4E14-86E4-868EB8764B87}" presName="bgRect" presStyleLbl="alignNode1" presStyleIdx="2" presStyleCnt="3"/>
      <dgm:spPr/>
    </dgm:pt>
    <dgm:pt modelId="{F43D6E4C-4E01-4446-902E-EF429ED966B8}" type="pres">
      <dgm:prSet presAssocID="{EDF4EB88-5113-4D13-A6AA-7704E0E41EBC}" presName="sibTransNodeRect" presStyleLbl="alignNode1" presStyleIdx="2" presStyleCnt="3">
        <dgm:presLayoutVars>
          <dgm:chMax val="0"/>
          <dgm:bulletEnabled val="1"/>
        </dgm:presLayoutVars>
      </dgm:prSet>
      <dgm:spPr/>
    </dgm:pt>
    <dgm:pt modelId="{94763969-35C9-431D-BE16-6B886BB8F3EB}" type="pres">
      <dgm:prSet presAssocID="{84E0C173-756C-4E14-86E4-868EB8764B87}" presName="nodeRect" presStyleLbl="alignNode1" presStyleIdx="2" presStyleCnt="3">
        <dgm:presLayoutVars>
          <dgm:bulletEnabled val="1"/>
        </dgm:presLayoutVars>
      </dgm:prSet>
      <dgm:spPr/>
    </dgm:pt>
  </dgm:ptLst>
  <dgm:cxnLst>
    <dgm:cxn modelId="{58410E09-FD8B-422A-9675-6E32A57211B3}" type="presOf" srcId="{4A5B352E-72B9-449C-A4DB-2F1713F1908C}" destId="{96AF07EF-FAA8-49F3-B603-59EEE79DB6DD}" srcOrd="0" destOrd="0" presId="urn:microsoft.com/office/officeart/2016/7/layout/LinearBlockProcessNumbered"/>
    <dgm:cxn modelId="{E00BF41F-87F0-4540-BCE8-068B5F6EA8BD}" type="presOf" srcId="{EDF4EB88-5113-4D13-A6AA-7704E0E41EBC}" destId="{F43D6E4C-4E01-4446-902E-EF429ED966B8}" srcOrd="0" destOrd="0" presId="urn:microsoft.com/office/officeart/2016/7/layout/LinearBlockProcessNumbered"/>
    <dgm:cxn modelId="{A1D83F38-8CF3-4B3A-A40C-B62D1D927BB4}" type="presOf" srcId="{8982C3DB-A4EB-4AF1-9FA7-95A346131DBF}" destId="{11702B16-FE29-4645-8F35-1810E02D7506}" srcOrd="1" destOrd="0" presId="urn:microsoft.com/office/officeart/2016/7/layout/LinearBlockProcessNumbered"/>
    <dgm:cxn modelId="{552F9460-73EB-452B-9F59-62C1EFB4C8A0}" srcId="{4A5B352E-72B9-449C-A4DB-2F1713F1908C}" destId="{8982C3DB-A4EB-4AF1-9FA7-95A346131DBF}" srcOrd="0" destOrd="0" parTransId="{3947FA04-BBFD-4AA4-ABFD-DE6D2120CD54}" sibTransId="{D0A777D4-F366-403B-BC67-50661AB4C052}"/>
    <dgm:cxn modelId="{647CCD81-A31C-4399-80CB-D7ACA0C8ED77}" type="presOf" srcId="{84E0C173-756C-4E14-86E4-868EB8764B87}" destId="{D1B342F4-8059-49C1-8A4D-0D9062D86DEF}" srcOrd="0" destOrd="0" presId="urn:microsoft.com/office/officeart/2016/7/layout/LinearBlockProcessNumbered"/>
    <dgm:cxn modelId="{D2FE918B-E2C8-4D20-95F0-D75A3EED50F3}" type="presOf" srcId="{10AE2140-CECA-4320-AC8F-02F50ECAE085}" destId="{7955EAB5-9AC3-4E08-91D2-E862C1903E85}" srcOrd="1" destOrd="0" presId="urn:microsoft.com/office/officeart/2016/7/layout/LinearBlockProcessNumbered"/>
    <dgm:cxn modelId="{87E9358F-EABB-4514-9C91-D15F213FF93F}" srcId="{4A5B352E-72B9-449C-A4DB-2F1713F1908C}" destId="{10AE2140-CECA-4320-AC8F-02F50ECAE085}" srcOrd="1" destOrd="0" parTransId="{D37A2FAA-7341-460F-9F3C-DADAEE9DAAA8}" sibTransId="{050DC727-7E74-4FA5-B085-BA3875883D0E}"/>
    <dgm:cxn modelId="{61FDB58F-F64E-40AE-BBE0-836F6BE203AB}" type="presOf" srcId="{D0A777D4-F366-403B-BC67-50661AB4C052}" destId="{956872DA-8E22-4A33-9B61-CF6F589706B2}" srcOrd="0" destOrd="0" presId="urn:microsoft.com/office/officeart/2016/7/layout/LinearBlockProcessNumbered"/>
    <dgm:cxn modelId="{0ED93FC3-2573-4F00-AF0D-7939AF745733}" type="presOf" srcId="{10AE2140-CECA-4320-AC8F-02F50ECAE085}" destId="{A3063935-1A5C-47D4-A5F0-D176CB3BFCE4}" srcOrd="0" destOrd="0" presId="urn:microsoft.com/office/officeart/2016/7/layout/LinearBlockProcessNumbered"/>
    <dgm:cxn modelId="{1B1109C5-0D6C-451C-A08D-C9024D3AD4A6}" type="presOf" srcId="{8982C3DB-A4EB-4AF1-9FA7-95A346131DBF}" destId="{4255D614-220A-4A1D-B798-79472EFCC654}" srcOrd="0" destOrd="0" presId="urn:microsoft.com/office/officeart/2016/7/layout/LinearBlockProcessNumbered"/>
    <dgm:cxn modelId="{6BDEB3F4-8F30-4BC1-B984-974376553447}" srcId="{4A5B352E-72B9-449C-A4DB-2F1713F1908C}" destId="{84E0C173-756C-4E14-86E4-868EB8764B87}" srcOrd="2" destOrd="0" parTransId="{090BDB86-1A90-4EC2-9B31-899999D3EE60}" sibTransId="{EDF4EB88-5113-4D13-A6AA-7704E0E41EBC}"/>
    <dgm:cxn modelId="{66ED24F8-FCDA-4D44-AD66-0D6FBC06E747}" type="presOf" srcId="{050DC727-7E74-4FA5-B085-BA3875883D0E}" destId="{430FFEED-EB33-4E85-ADB3-DCCB851CB946}" srcOrd="0" destOrd="0" presId="urn:microsoft.com/office/officeart/2016/7/layout/LinearBlockProcessNumbered"/>
    <dgm:cxn modelId="{DB8B04FB-1B65-4058-8AF5-CA50922E2071}" type="presOf" srcId="{84E0C173-756C-4E14-86E4-868EB8764B87}" destId="{94763969-35C9-431D-BE16-6B886BB8F3EB}" srcOrd="1" destOrd="0" presId="urn:microsoft.com/office/officeart/2016/7/layout/LinearBlockProcessNumbered"/>
    <dgm:cxn modelId="{3C08EEDE-FB3E-43BB-A26D-D7082D71D1C2}" type="presParOf" srcId="{96AF07EF-FAA8-49F3-B603-59EEE79DB6DD}" destId="{4E639D25-60D6-4580-A8F6-5ED6F052A78D}" srcOrd="0" destOrd="0" presId="urn:microsoft.com/office/officeart/2016/7/layout/LinearBlockProcessNumbered"/>
    <dgm:cxn modelId="{D1498333-24F1-47D8-8F54-B2365AC6FB99}" type="presParOf" srcId="{4E639D25-60D6-4580-A8F6-5ED6F052A78D}" destId="{4255D614-220A-4A1D-B798-79472EFCC654}" srcOrd="0" destOrd="0" presId="urn:microsoft.com/office/officeart/2016/7/layout/LinearBlockProcessNumbered"/>
    <dgm:cxn modelId="{C06DB23D-AD72-4270-916D-AC51EADD1E6B}" type="presParOf" srcId="{4E639D25-60D6-4580-A8F6-5ED6F052A78D}" destId="{956872DA-8E22-4A33-9B61-CF6F589706B2}" srcOrd="1" destOrd="0" presId="urn:microsoft.com/office/officeart/2016/7/layout/LinearBlockProcessNumbered"/>
    <dgm:cxn modelId="{49ACD092-C0B3-42C5-A62A-7859012E0865}" type="presParOf" srcId="{4E639D25-60D6-4580-A8F6-5ED6F052A78D}" destId="{11702B16-FE29-4645-8F35-1810E02D7506}" srcOrd="2" destOrd="0" presId="urn:microsoft.com/office/officeart/2016/7/layout/LinearBlockProcessNumbered"/>
    <dgm:cxn modelId="{535D6006-CF1B-429E-A55B-A8143E2A0498}" type="presParOf" srcId="{96AF07EF-FAA8-49F3-B603-59EEE79DB6DD}" destId="{5ABF7553-CA5C-4189-B9B7-E12833FE4845}" srcOrd="1" destOrd="0" presId="urn:microsoft.com/office/officeart/2016/7/layout/LinearBlockProcessNumbered"/>
    <dgm:cxn modelId="{8AF55B10-8797-4FCD-8FC0-1B6A9D77FD99}" type="presParOf" srcId="{96AF07EF-FAA8-49F3-B603-59EEE79DB6DD}" destId="{49FB7085-24A1-4DB8-9864-191BB0D05BB7}" srcOrd="2" destOrd="0" presId="urn:microsoft.com/office/officeart/2016/7/layout/LinearBlockProcessNumbered"/>
    <dgm:cxn modelId="{32555B9E-6811-4CB2-92DC-CE09F89C92C6}" type="presParOf" srcId="{49FB7085-24A1-4DB8-9864-191BB0D05BB7}" destId="{A3063935-1A5C-47D4-A5F0-D176CB3BFCE4}" srcOrd="0" destOrd="0" presId="urn:microsoft.com/office/officeart/2016/7/layout/LinearBlockProcessNumbered"/>
    <dgm:cxn modelId="{D2CF32DC-0A29-4B39-96B5-86425639A7DD}" type="presParOf" srcId="{49FB7085-24A1-4DB8-9864-191BB0D05BB7}" destId="{430FFEED-EB33-4E85-ADB3-DCCB851CB946}" srcOrd="1" destOrd="0" presId="urn:microsoft.com/office/officeart/2016/7/layout/LinearBlockProcessNumbered"/>
    <dgm:cxn modelId="{F9D11989-591F-4685-B6A6-0DB6193FAD84}" type="presParOf" srcId="{49FB7085-24A1-4DB8-9864-191BB0D05BB7}" destId="{7955EAB5-9AC3-4E08-91D2-E862C1903E85}" srcOrd="2" destOrd="0" presId="urn:microsoft.com/office/officeart/2016/7/layout/LinearBlockProcessNumbered"/>
    <dgm:cxn modelId="{3467A7F4-CE32-4AE1-9C1B-73F8F28CED7F}" type="presParOf" srcId="{96AF07EF-FAA8-49F3-B603-59EEE79DB6DD}" destId="{91412F47-AF77-4E5C-BB3D-C749096BC573}" srcOrd="3" destOrd="0" presId="urn:microsoft.com/office/officeart/2016/7/layout/LinearBlockProcessNumbered"/>
    <dgm:cxn modelId="{565D7CE3-1D56-4A45-8802-61F184A963F2}" type="presParOf" srcId="{96AF07EF-FAA8-49F3-B603-59EEE79DB6DD}" destId="{44249FFB-7FC4-4223-A44F-DCF5E53EEDF3}" srcOrd="4" destOrd="0" presId="urn:microsoft.com/office/officeart/2016/7/layout/LinearBlockProcessNumbered"/>
    <dgm:cxn modelId="{BB9508B0-096A-4CBF-B485-E94426ECEE1D}" type="presParOf" srcId="{44249FFB-7FC4-4223-A44F-DCF5E53EEDF3}" destId="{D1B342F4-8059-49C1-8A4D-0D9062D86DEF}" srcOrd="0" destOrd="0" presId="urn:microsoft.com/office/officeart/2016/7/layout/LinearBlockProcessNumbered"/>
    <dgm:cxn modelId="{E2F31CEF-3AF9-440B-A800-46EA47C6B613}" type="presParOf" srcId="{44249FFB-7FC4-4223-A44F-DCF5E53EEDF3}" destId="{F43D6E4C-4E01-4446-902E-EF429ED966B8}" srcOrd="1" destOrd="0" presId="urn:microsoft.com/office/officeart/2016/7/layout/LinearBlockProcessNumbered"/>
    <dgm:cxn modelId="{C641AB9C-5330-429A-B99A-4DC5755BC99A}" type="presParOf" srcId="{44249FFB-7FC4-4223-A44F-DCF5E53EEDF3}" destId="{94763969-35C9-431D-BE16-6B886BB8F3EB}"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D135A00-982E-4CED-A184-67FE2C51FAE7}"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C41BE8BC-F041-438D-BC25-38AE629966E0}">
      <dgm:prSet/>
      <dgm:spPr/>
      <dgm:t>
        <a:bodyPr/>
        <a:lstStyle/>
        <a:p>
          <a:pPr>
            <a:lnSpc>
              <a:spcPct val="100000"/>
            </a:lnSpc>
          </a:pPr>
          <a:r>
            <a:rPr lang="en-US" b="0"/>
            <a:t>Thank You</a:t>
          </a:r>
          <a:endParaRPr lang="en-US"/>
        </a:p>
      </dgm:t>
    </dgm:pt>
    <dgm:pt modelId="{64BB6DE3-6188-46D9-82BC-A44D9A43E9FE}" type="parTrans" cxnId="{DCF089FA-F73C-4E6D-B639-56DF2BC7DB69}">
      <dgm:prSet/>
      <dgm:spPr/>
      <dgm:t>
        <a:bodyPr/>
        <a:lstStyle/>
        <a:p>
          <a:endParaRPr lang="en-US"/>
        </a:p>
      </dgm:t>
    </dgm:pt>
    <dgm:pt modelId="{658BB785-002E-43CB-B518-3D1B4CA8C4CD}" type="sibTrans" cxnId="{DCF089FA-F73C-4E6D-B639-56DF2BC7DB69}">
      <dgm:prSet/>
      <dgm:spPr/>
      <dgm:t>
        <a:bodyPr/>
        <a:lstStyle/>
        <a:p>
          <a:endParaRPr lang="en-US"/>
        </a:p>
      </dgm:t>
    </dgm:pt>
    <dgm:pt modelId="{2B6725FD-E731-4487-BA61-42FBB6627B15}">
      <dgm:prSet/>
      <dgm:spPr/>
      <dgm:t>
        <a:bodyPr/>
        <a:lstStyle/>
        <a:p>
          <a:pPr>
            <a:lnSpc>
              <a:spcPct val="100000"/>
            </a:lnSpc>
          </a:pPr>
          <a:r>
            <a:rPr lang="en-US" b="0"/>
            <a:t>Questions?</a:t>
          </a:r>
          <a:endParaRPr lang="en-US"/>
        </a:p>
      </dgm:t>
    </dgm:pt>
    <dgm:pt modelId="{50604F89-6F0E-4E2F-8BEB-4358B97D66F7}" type="parTrans" cxnId="{EBFCA739-5B86-4477-9DAA-609F0270D757}">
      <dgm:prSet/>
      <dgm:spPr/>
      <dgm:t>
        <a:bodyPr/>
        <a:lstStyle/>
        <a:p>
          <a:endParaRPr lang="en-US"/>
        </a:p>
      </dgm:t>
    </dgm:pt>
    <dgm:pt modelId="{E2F9A15E-D5F8-48E8-9761-4EAEE422FACE}" type="sibTrans" cxnId="{EBFCA739-5B86-4477-9DAA-609F0270D757}">
      <dgm:prSet/>
      <dgm:spPr/>
      <dgm:t>
        <a:bodyPr/>
        <a:lstStyle/>
        <a:p>
          <a:endParaRPr lang="en-US"/>
        </a:p>
      </dgm:t>
    </dgm:pt>
    <dgm:pt modelId="{5E35DFB5-A03F-4F05-B73C-87D9E1F5B4BD}" type="pres">
      <dgm:prSet presAssocID="{4D135A00-982E-4CED-A184-67FE2C51FAE7}" presName="root" presStyleCnt="0">
        <dgm:presLayoutVars>
          <dgm:dir/>
          <dgm:resizeHandles val="exact"/>
        </dgm:presLayoutVars>
      </dgm:prSet>
      <dgm:spPr/>
    </dgm:pt>
    <dgm:pt modelId="{D15BD3D3-651B-4E54-998A-B0727A5757A1}" type="pres">
      <dgm:prSet presAssocID="{C41BE8BC-F041-438D-BC25-38AE629966E0}" presName="compNode" presStyleCnt="0"/>
      <dgm:spPr/>
    </dgm:pt>
    <dgm:pt modelId="{ADD77051-B9EA-4EEA-AF02-3A47D0855590}" type="pres">
      <dgm:prSet presAssocID="{C41BE8BC-F041-438D-BC25-38AE629966E0}"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miling Face with No Fill"/>
        </a:ext>
      </dgm:extLst>
    </dgm:pt>
    <dgm:pt modelId="{F5688434-F12A-4046-920D-D670559FEF99}" type="pres">
      <dgm:prSet presAssocID="{C41BE8BC-F041-438D-BC25-38AE629966E0}" presName="spaceRect" presStyleCnt="0"/>
      <dgm:spPr/>
    </dgm:pt>
    <dgm:pt modelId="{1B3E6EF4-C321-4231-89C8-8BBE3FE4BEA9}" type="pres">
      <dgm:prSet presAssocID="{C41BE8BC-F041-438D-BC25-38AE629966E0}" presName="textRect" presStyleLbl="revTx" presStyleIdx="0" presStyleCnt="2">
        <dgm:presLayoutVars>
          <dgm:chMax val="1"/>
          <dgm:chPref val="1"/>
        </dgm:presLayoutVars>
      </dgm:prSet>
      <dgm:spPr/>
    </dgm:pt>
    <dgm:pt modelId="{7FFB3435-C646-44DD-9948-5F24810CABB9}" type="pres">
      <dgm:prSet presAssocID="{658BB785-002E-43CB-B518-3D1B4CA8C4CD}" presName="sibTrans" presStyleCnt="0"/>
      <dgm:spPr/>
    </dgm:pt>
    <dgm:pt modelId="{E53E58B9-F828-4D7D-9B79-2395DF8AFF61}" type="pres">
      <dgm:prSet presAssocID="{2B6725FD-E731-4487-BA61-42FBB6627B15}" presName="compNode" presStyleCnt="0"/>
      <dgm:spPr/>
    </dgm:pt>
    <dgm:pt modelId="{7715295B-F504-4A00-8FCB-AC0A19E4E69B}" type="pres">
      <dgm:prSet presAssocID="{2B6725FD-E731-4487-BA61-42FBB6627B15}"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Question mark"/>
        </a:ext>
      </dgm:extLst>
    </dgm:pt>
    <dgm:pt modelId="{B0330911-CCC8-45C2-AFB2-393479B4F6DE}" type="pres">
      <dgm:prSet presAssocID="{2B6725FD-E731-4487-BA61-42FBB6627B15}" presName="spaceRect" presStyleCnt="0"/>
      <dgm:spPr/>
    </dgm:pt>
    <dgm:pt modelId="{FD1C23B9-BD4A-4DE5-B9A2-2977CA0ABCEA}" type="pres">
      <dgm:prSet presAssocID="{2B6725FD-E731-4487-BA61-42FBB6627B15}" presName="textRect" presStyleLbl="revTx" presStyleIdx="1" presStyleCnt="2">
        <dgm:presLayoutVars>
          <dgm:chMax val="1"/>
          <dgm:chPref val="1"/>
        </dgm:presLayoutVars>
      </dgm:prSet>
      <dgm:spPr/>
    </dgm:pt>
  </dgm:ptLst>
  <dgm:cxnLst>
    <dgm:cxn modelId="{9FE57306-47D1-4325-B206-B16B7E5D016A}" type="presOf" srcId="{C41BE8BC-F041-438D-BC25-38AE629966E0}" destId="{1B3E6EF4-C321-4231-89C8-8BBE3FE4BEA9}" srcOrd="0" destOrd="0" presId="urn:microsoft.com/office/officeart/2018/2/layout/IconLabelList"/>
    <dgm:cxn modelId="{EBFCA739-5B86-4477-9DAA-609F0270D757}" srcId="{4D135A00-982E-4CED-A184-67FE2C51FAE7}" destId="{2B6725FD-E731-4487-BA61-42FBB6627B15}" srcOrd="1" destOrd="0" parTransId="{50604F89-6F0E-4E2F-8BEB-4358B97D66F7}" sibTransId="{E2F9A15E-D5F8-48E8-9761-4EAEE422FACE}"/>
    <dgm:cxn modelId="{036D903C-7CA3-427C-B128-1F7F39157DAD}" type="presOf" srcId="{4D135A00-982E-4CED-A184-67FE2C51FAE7}" destId="{5E35DFB5-A03F-4F05-B73C-87D9E1F5B4BD}" srcOrd="0" destOrd="0" presId="urn:microsoft.com/office/officeart/2018/2/layout/IconLabelList"/>
    <dgm:cxn modelId="{4E9D31D5-1F61-4E5E-A231-4150C50A9AEE}" type="presOf" srcId="{2B6725FD-E731-4487-BA61-42FBB6627B15}" destId="{FD1C23B9-BD4A-4DE5-B9A2-2977CA0ABCEA}" srcOrd="0" destOrd="0" presId="urn:microsoft.com/office/officeart/2018/2/layout/IconLabelList"/>
    <dgm:cxn modelId="{DCF089FA-F73C-4E6D-B639-56DF2BC7DB69}" srcId="{4D135A00-982E-4CED-A184-67FE2C51FAE7}" destId="{C41BE8BC-F041-438D-BC25-38AE629966E0}" srcOrd="0" destOrd="0" parTransId="{64BB6DE3-6188-46D9-82BC-A44D9A43E9FE}" sibTransId="{658BB785-002E-43CB-B518-3D1B4CA8C4CD}"/>
    <dgm:cxn modelId="{E42CE96A-2696-4E82-8F49-C1A6812A1AE7}" type="presParOf" srcId="{5E35DFB5-A03F-4F05-B73C-87D9E1F5B4BD}" destId="{D15BD3D3-651B-4E54-998A-B0727A5757A1}" srcOrd="0" destOrd="0" presId="urn:microsoft.com/office/officeart/2018/2/layout/IconLabelList"/>
    <dgm:cxn modelId="{17A251DA-EA5C-43E0-95FF-6115A286BB73}" type="presParOf" srcId="{D15BD3D3-651B-4E54-998A-B0727A5757A1}" destId="{ADD77051-B9EA-4EEA-AF02-3A47D0855590}" srcOrd="0" destOrd="0" presId="urn:microsoft.com/office/officeart/2018/2/layout/IconLabelList"/>
    <dgm:cxn modelId="{CBF011CE-3CB9-47E8-91CE-4E01112891FC}" type="presParOf" srcId="{D15BD3D3-651B-4E54-998A-B0727A5757A1}" destId="{F5688434-F12A-4046-920D-D670559FEF99}" srcOrd="1" destOrd="0" presId="urn:microsoft.com/office/officeart/2018/2/layout/IconLabelList"/>
    <dgm:cxn modelId="{CACFDEBE-9340-4247-838B-F47F51B20210}" type="presParOf" srcId="{D15BD3D3-651B-4E54-998A-B0727A5757A1}" destId="{1B3E6EF4-C321-4231-89C8-8BBE3FE4BEA9}" srcOrd="2" destOrd="0" presId="urn:microsoft.com/office/officeart/2018/2/layout/IconLabelList"/>
    <dgm:cxn modelId="{70B78497-9751-4A99-AFE6-B3DFFB33E7D6}" type="presParOf" srcId="{5E35DFB5-A03F-4F05-B73C-87D9E1F5B4BD}" destId="{7FFB3435-C646-44DD-9948-5F24810CABB9}" srcOrd="1" destOrd="0" presId="urn:microsoft.com/office/officeart/2018/2/layout/IconLabelList"/>
    <dgm:cxn modelId="{4F0435CC-C202-46E8-8793-30BFE755478D}" type="presParOf" srcId="{5E35DFB5-A03F-4F05-B73C-87D9E1F5B4BD}" destId="{E53E58B9-F828-4D7D-9B79-2395DF8AFF61}" srcOrd="2" destOrd="0" presId="urn:microsoft.com/office/officeart/2018/2/layout/IconLabelList"/>
    <dgm:cxn modelId="{4D2543E7-37BA-4CC0-AFF6-38590BB476F6}" type="presParOf" srcId="{E53E58B9-F828-4D7D-9B79-2395DF8AFF61}" destId="{7715295B-F504-4A00-8FCB-AC0A19E4E69B}" srcOrd="0" destOrd="0" presId="urn:microsoft.com/office/officeart/2018/2/layout/IconLabelList"/>
    <dgm:cxn modelId="{B284987F-8258-427C-BAC6-55BCDD6E4804}" type="presParOf" srcId="{E53E58B9-F828-4D7D-9B79-2395DF8AFF61}" destId="{B0330911-CCC8-45C2-AFB2-393479B4F6DE}" srcOrd="1" destOrd="0" presId="urn:microsoft.com/office/officeart/2018/2/layout/IconLabelList"/>
    <dgm:cxn modelId="{CA17A347-18CA-4A43-B175-B3A791C48D76}" type="presParOf" srcId="{E53E58B9-F828-4D7D-9B79-2395DF8AFF61}" destId="{FD1C23B9-BD4A-4DE5-B9A2-2977CA0ABCE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6E9303-45B5-445F-A260-4E2C7709D3EA}">
      <dsp:nvSpPr>
        <dsp:cNvPr id="0" name=""/>
        <dsp:cNvSpPr/>
      </dsp:nvSpPr>
      <dsp:spPr>
        <a:xfrm>
          <a:off x="947201"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AC7125-A24B-4305-9454-F5236FEBB2D0}">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 Altered timescales in sensory &amp; associative regions</a:t>
          </a:r>
        </a:p>
      </dsp:txBody>
      <dsp:txXfrm>
        <a:off x="59990" y="2654049"/>
        <a:ext cx="3226223" cy="720000"/>
      </dsp:txXfrm>
    </dsp:sp>
    <dsp:sp modelId="{074ABE37-2958-44BD-ACE3-48ADECCBED4F}">
      <dsp:nvSpPr>
        <dsp:cNvPr id="0" name=""/>
        <dsp:cNvSpPr/>
      </dsp:nvSpPr>
      <dsp:spPr>
        <a:xfrm>
          <a:off x="4738014"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415261-DCD6-4DDD-9771-17A79C1F0D41}">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 Atypical temporal integration</a:t>
          </a:r>
        </a:p>
      </dsp:txBody>
      <dsp:txXfrm>
        <a:off x="3850802" y="2654049"/>
        <a:ext cx="3226223" cy="720000"/>
      </dsp:txXfrm>
    </dsp:sp>
    <dsp:sp modelId="{682D5879-EE3D-4758-B14F-9DEB5A817F98}">
      <dsp:nvSpPr>
        <dsp:cNvPr id="0" name=""/>
        <dsp:cNvSpPr/>
      </dsp:nvSpPr>
      <dsp:spPr>
        <a:xfrm>
          <a:off x="8528826"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57427E-321F-41B4-873E-255005ECB100}">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 Diagnostic potential</a:t>
          </a:r>
        </a:p>
      </dsp:txBody>
      <dsp:txXfrm>
        <a:off x="7641615" y="2654049"/>
        <a:ext cx="3226223"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75BB3D-46C2-43F1-B348-171A7C9430EF}">
      <dsp:nvSpPr>
        <dsp:cNvPr id="0" name=""/>
        <dsp:cNvSpPr/>
      </dsp:nvSpPr>
      <dsp:spPr>
        <a:xfrm>
          <a:off x="0" y="0"/>
          <a:ext cx="8938260" cy="1305401"/>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 Compare six INT metrics</a:t>
          </a:r>
        </a:p>
      </dsp:txBody>
      <dsp:txXfrm>
        <a:off x="38234" y="38234"/>
        <a:ext cx="7529629" cy="1228933"/>
      </dsp:txXfrm>
    </dsp:sp>
    <dsp:sp modelId="{1453269E-ADC6-4A3B-9056-4E1264218CA8}">
      <dsp:nvSpPr>
        <dsp:cNvPr id="0" name=""/>
        <dsp:cNvSpPr/>
      </dsp:nvSpPr>
      <dsp:spPr>
        <a:xfrm>
          <a:off x="788669" y="1522968"/>
          <a:ext cx="8938260" cy="130540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 Evaluate discriminability</a:t>
          </a:r>
        </a:p>
      </dsp:txBody>
      <dsp:txXfrm>
        <a:off x="826903" y="1561202"/>
        <a:ext cx="7224611" cy="1228933"/>
      </dsp:txXfrm>
    </dsp:sp>
    <dsp:sp modelId="{5C97C5B0-C417-4124-A774-E3E56AAB4345}">
      <dsp:nvSpPr>
        <dsp:cNvPr id="0" name=""/>
        <dsp:cNvSpPr/>
      </dsp:nvSpPr>
      <dsp:spPr>
        <a:xfrm>
          <a:off x="1577339" y="3045936"/>
          <a:ext cx="8938260" cy="1305401"/>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dirty="0"/>
            <a:t>• Study development effects</a:t>
          </a:r>
        </a:p>
      </dsp:txBody>
      <dsp:txXfrm>
        <a:off x="1615573" y="3084170"/>
        <a:ext cx="7224611" cy="1228933"/>
      </dsp:txXfrm>
    </dsp:sp>
    <dsp:sp modelId="{E378C7F1-3E5C-4764-A238-C47E5E4C0EAA}">
      <dsp:nvSpPr>
        <dsp:cNvPr id="0" name=""/>
        <dsp:cNvSpPr/>
      </dsp:nvSpPr>
      <dsp:spPr>
        <a:xfrm>
          <a:off x="8089749" y="989929"/>
          <a:ext cx="848510" cy="848510"/>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280664" y="989929"/>
        <a:ext cx="466680" cy="638504"/>
      </dsp:txXfrm>
    </dsp:sp>
    <dsp:sp modelId="{98E50340-662F-4EBE-A8CC-7A9E62F1119F}">
      <dsp:nvSpPr>
        <dsp:cNvPr id="0" name=""/>
        <dsp:cNvSpPr/>
      </dsp:nvSpPr>
      <dsp:spPr>
        <a:xfrm>
          <a:off x="8878419" y="2504195"/>
          <a:ext cx="848510" cy="848510"/>
        </a:xfrm>
        <a:prstGeom prst="downArrow">
          <a:avLst>
            <a:gd name="adj1" fmla="val 55000"/>
            <a:gd name="adj2" fmla="val 45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69334" y="2504195"/>
        <a:ext cx="466680" cy="6385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4DF070-DEA8-40E0-89D2-F7BF19842F35}">
      <dsp:nvSpPr>
        <dsp:cNvPr id="0" name=""/>
        <dsp:cNvSpPr/>
      </dsp:nvSpPr>
      <dsp:spPr>
        <a:xfrm>
          <a:off x="947201" y="818755"/>
          <a:ext cx="1451800" cy="1451800"/>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5CFB41-D057-462A-B288-E54FD13D378D}">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 Multiband Resting State fMRI @ 3 TRs = 645, 1400, 2500 </a:t>
          </a:r>
          <a:r>
            <a:rPr lang="en-US" sz="1900" kern="1200" err="1"/>
            <a:t>ms</a:t>
          </a:r>
          <a:endParaRPr lang="en-US" sz="1900" kern="1200"/>
        </a:p>
      </dsp:txBody>
      <dsp:txXfrm>
        <a:off x="59990" y="2654049"/>
        <a:ext cx="3226223" cy="720000"/>
      </dsp:txXfrm>
    </dsp:sp>
    <dsp:sp modelId="{3AAEA741-D8B7-4ACE-90EE-F06632C99018}">
      <dsp:nvSpPr>
        <dsp:cNvPr id="0" name=""/>
        <dsp:cNvSpPr/>
      </dsp:nvSpPr>
      <dsp:spPr>
        <a:xfrm>
          <a:off x="4738014" y="818755"/>
          <a:ext cx="1451800" cy="1451800"/>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974D26-648F-48E8-9585-CE1DD8A9810F}">
      <dsp:nvSpPr>
        <dsp:cNvPr id="0" name=""/>
        <dsp:cNvSpPr/>
      </dsp:nvSpPr>
      <dsp:spPr>
        <a:xfrm>
          <a:off x="4034616" y="2654049"/>
          <a:ext cx="285859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 NKI-RS: lifespan dataset (6–85 yrs)</a:t>
          </a:r>
        </a:p>
      </dsp:txBody>
      <dsp:txXfrm>
        <a:off x="4034616" y="2654049"/>
        <a:ext cx="2858595" cy="720000"/>
      </dsp:txXfrm>
    </dsp:sp>
    <dsp:sp modelId="{FDE13DA7-92E3-40A3-92BA-B7EE8398076B}">
      <dsp:nvSpPr>
        <dsp:cNvPr id="0" name=""/>
        <dsp:cNvSpPr/>
      </dsp:nvSpPr>
      <dsp:spPr>
        <a:xfrm>
          <a:off x="8528826"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21D3EA-364B-4DB3-8287-B512CE2C35C3}">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 1022 participants</a:t>
          </a:r>
        </a:p>
      </dsp:txBody>
      <dsp:txXfrm>
        <a:off x="7641615" y="2654049"/>
        <a:ext cx="3226223"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A5CA2E-9998-410F-B941-0AED552BB11D}">
      <dsp:nvSpPr>
        <dsp:cNvPr id="0" name=""/>
        <dsp:cNvSpPr/>
      </dsp:nvSpPr>
      <dsp:spPr>
        <a:xfrm>
          <a:off x="9604" y="335846"/>
          <a:ext cx="2870689" cy="1722413"/>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Measures test–retest reliability</a:t>
          </a:r>
        </a:p>
      </dsp:txBody>
      <dsp:txXfrm>
        <a:off x="60052" y="386294"/>
        <a:ext cx="2769793" cy="1621517"/>
      </dsp:txXfrm>
    </dsp:sp>
    <dsp:sp modelId="{1D5243D7-96C4-44AE-947C-E9B5BC2B0C93}">
      <dsp:nvSpPr>
        <dsp:cNvPr id="0" name=""/>
        <dsp:cNvSpPr/>
      </dsp:nvSpPr>
      <dsp:spPr>
        <a:xfrm>
          <a:off x="3132914" y="841088"/>
          <a:ext cx="608586" cy="711930"/>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3132914" y="983474"/>
        <a:ext cx="426010" cy="427158"/>
      </dsp:txXfrm>
    </dsp:sp>
    <dsp:sp modelId="{1A997079-4C31-4E88-A0C0-BB37D80C26D8}">
      <dsp:nvSpPr>
        <dsp:cNvPr id="0" name=""/>
        <dsp:cNvSpPr/>
      </dsp:nvSpPr>
      <dsp:spPr>
        <a:xfrm>
          <a:off x="4028569" y="335846"/>
          <a:ext cx="2870689" cy="1722413"/>
        </a:xfrm>
        <a:prstGeom prst="roundRect">
          <a:avLst>
            <a:gd name="adj" fmla="val 10000"/>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Most reliable index</a:t>
          </a:r>
        </a:p>
      </dsp:txBody>
      <dsp:txXfrm>
        <a:off x="4079017" y="386294"/>
        <a:ext cx="2769793" cy="1621517"/>
      </dsp:txXfrm>
    </dsp:sp>
    <dsp:sp modelId="{4D525CCF-7608-4F18-8E84-14B0B113C7F5}">
      <dsp:nvSpPr>
        <dsp:cNvPr id="0" name=""/>
        <dsp:cNvSpPr/>
      </dsp:nvSpPr>
      <dsp:spPr>
        <a:xfrm>
          <a:off x="7151879" y="841088"/>
          <a:ext cx="608586" cy="711930"/>
        </a:xfrm>
        <a:prstGeom prst="rightArrow">
          <a:avLst>
            <a:gd name="adj1" fmla="val 60000"/>
            <a:gd name="adj2" fmla="val 50000"/>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7151879" y="983474"/>
        <a:ext cx="426010" cy="427158"/>
      </dsp:txXfrm>
    </dsp:sp>
    <dsp:sp modelId="{617F60CE-E421-4367-9885-C7941C8CDB38}">
      <dsp:nvSpPr>
        <dsp:cNvPr id="0" name=""/>
        <dsp:cNvSpPr/>
      </dsp:nvSpPr>
      <dsp:spPr>
        <a:xfrm>
          <a:off x="8047535" y="335846"/>
          <a:ext cx="2870689" cy="1722413"/>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Validated for further use</a:t>
          </a:r>
        </a:p>
      </dsp:txBody>
      <dsp:txXfrm>
        <a:off x="8097983" y="386294"/>
        <a:ext cx="2769793" cy="16215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55D614-220A-4A1D-B798-79472EFCC654}">
      <dsp:nvSpPr>
        <dsp:cNvPr id="0" name=""/>
        <dsp:cNvSpPr/>
      </dsp:nvSpPr>
      <dsp:spPr>
        <a:xfrm>
          <a:off x="821" y="0"/>
          <a:ext cx="3327201" cy="3948876"/>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66800">
            <a:lnSpc>
              <a:spcPct val="90000"/>
            </a:lnSpc>
            <a:spcBef>
              <a:spcPct val="0"/>
            </a:spcBef>
            <a:spcAft>
              <a:spcPct val="35000"/>
            </a:spcAft>
            <a:buNone/>
          </a:pPr>
          <a:r>
            <a:rPr lang="en-US" sz="2400" kern="1200" dirty="0"/>
            <a:t>Most reliable INT </a:t>
          </a:r>
          <a:r>
            <a:rPr lang="en-US" sz="2400" kern="1200" dirty="0">
              <a:sym typeface="Wingdings" panose="05000000000000000000" pitchFamily="2" charset="2"/>
            </a:rPr>
            <a:t></a:t>
          </a:r>
          <a:r>
            <a:rPr lang="en-US" sz="2400" kern="1200" dirty="0"/>
            <a:t> AR1</a:t>
          </a:r>
        </a:p>
      </dsp:txBody>
      <dsp:txXfrm>
        <a:off x="821" y="1579550"/>
        <a:ext cx="3327201" cy="2369325"/>
      </dsp:txXfrm>
    </dsp:sp>
    <dsp:sp modelId="{956872DA-8E22-4A33-9B61-CF6F589706B2}">
      <dsp:nvSpPr>
        <dsp:cNvPr id="0" name=""/>
        <dsp:cNvSpPr/>
      </dsp:nvSpPr>
      <dsp:spPr>
        <a:xfrm>
          <a:off x="821"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21" y="0"/>
        <a:ext cx="3327201" cy="1579550"/>
      </dsp:txXfrm>
    </dsp:sp>
    <dsp:sp modelId="{A3063935-1A5C-47D4-A5F0-D176CB3BFCE4}">
      <dsp:nvSpPr>
        <dsp:cNvPr id="0" name=""/>
        <dsp:cNvSpPr/>
      </dsp:nvSpPr>
      <dsp:spPr>
        <a:xfrm>
          <a:off x="3594199" y="0"/>
          <a:ext cx="3327201" cy="3948876"/>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66800">
            <a:lnSpc>
              <a:spcPct val="90000"/>
            </a:lnSpc>
            <a:spcBef>
              <a:spcPct val="0"/>
            </a:spcBef>
            <a:spcAft>
              <a:spcPct val="35000"/>
            </a:spcAft>
            <a:buNone/>
          </a:pPr>
          <a:r>
            <a:rPr lang="en-US" sz="2400" kern="1200" dirty="0"/>
            <a:t>Age has non linear effect and sex has not meaningful effect, but age and sex interaction does</a:t>
          </a:r>
        </a:p>
      </dsp:txBody>
      <dsp:txXfrm>
        <a:off x="3594199" y="1579550"/>
        <a:ext cx="3327201" cy="2369325"/>
      </dsp:txXfrm>
    </dsp:sp>
    <dsp:sp modelId="{430FFEED-EB33-4E85-ADB3-DCCB851CB946}">
      <dsp:nvSpPr>
        <dsp:cNvPr id="0" name=""/>
        <dsp:cNvSpPr/>
      </dsp:nvSpPr>
      <dsp:spPr>
        <a:xfrm>
          <a:off x="3594199"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94199" y="0"/>
        <a:ext cx="3327201" cy="1579550"/>
      </dsp:txXfrm>
    </dsp:sp>
    <dsp:sp modelId="{D1B342F4-8059-49C1-8A4D-0D9062D86DEF}">
      <dsp:nvSpPr>
        <dsp:cNvPr id="0" name=""/>
        <dsp:cNvSpPr/>
      </dsp:nvSpPr>
      <dsp:spPr>
        <a:xfrm>
          <a:off x="7187576" y="0"/>
          <a:ext cx="3327201" cy="3948876"/>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66800">
            <a:lnSpc>
              <a:spcPct val="90000"/>
            </a:lnSpc>
            <a:spcBef>
              <a:spcPct val="0"/>
            </a:spcBef>
            <a:spcAft>
              <a:spcPct val="35000"/>
            </a:spcAft>
            <a:buNone/>
          </a:pPr>
          <a:r>
            <a:rPr lang="en-US" sz="2400" kern="1200" dirty="0"/>
            <a:t>Summarized developmental trend at network level</a:t>
          </a:r>
        </a:p>
      </dsp:txBody>
      <dsp:txXfrm>
        <a:off x="7187576" y="1579550"/>
        <a:ext cx="3327201" cy="2369325"/>
      </dsp:txXfrm>
    </dsp:sp>
    <dsp:sp modelId="{F43D6E4C-4E01-4446-902E-EF429ED966B8}">
      <dsp:nvSpPr>
        <dsp:cNvPr id="0" name=""/>
        <dsp:cNvSpPr/>
      </dsp:nvSpPr>
      <dsp:spPr>
        <a:xfrm>
          <a:off x="7187576"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187576" y="0"/>
        <a:ext cx="3327201" cy="15795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D77051-B9EA-4EEA-AF02-3A47D0855590}">
      <dsp:nvSpPr>
        <dsp:cNvPr id="0" name=""/>
        <dsp:cNvSpPr/>
      </dsp:nvSpPr>
      <dsp:spPr>
        <a:xfrm>
          <a:off x="2183000" y="1014715"/>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3E6EF4-C321-4231-89C8-8BBE3FE4BEA9}">
      <dsp:nvSpPr>
        <dsp:cNvPr id="0" name=""/>
        <dsp:cNvSpPr/>
      </dsp:nvSpPr>
      <dsp:spPr>
        <a:xfrm>
          <a:off x="994999" y="3428884"/>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044700">
            <a:lnSpc>
              <a:spcPct val="100000"/>
            </a:lnSpc>
            <a:spcBef>
              <a:spcPct val="0"/>
            </a:spcBef>
            <a:spcAft>
              <a:spcPct val="35000"/>
            </a:spcAft>
            <a:buNone/>
          </a:pPr>
          <a:r>
            <a:rPr lang="en-US" sz="4600" b="0" kern="1200"/>
            <a:t>Thank You</a:t>
          </a:r>
          <a:endParaRPr lang="en-US" sz="4600" kern="1200"/>
        </a:p>
      </dsp:txBody>
      <dsp:txXfrm>
        <a:off x="994999" y="3428884"/>
        <a:ext cx="4320000" cy="720000"/>
      </dsp:txXfrm>
    </dsp:sp>
    <dsp:sp modelId="{7715295B-F504-4A00-8FCB-AC0A19E4E69B}">
      <dsp:nvSpPr>
        <dsp:cNvPr id="0" name=""/>
        <dsp:cNvSpPr/>
      </dsp:nvSpPr>
      <dsp:spPr>
        <a:xfrm>
          <a:off x="7259000" y="1014715"/>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1C23B9-BD4A-4DE5-B9A2-2977CA0ABCEA}">
      <dsp:nvSpPr>
        <dsp:cNvPr id="0" name=""/>
        <dsp:cNvSpPr/>
      </dsp:nvSpPr>
      <dsp:spPr>
        <a:xfrm>
          <a:off x="6071000" y="3428884"/>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044700">
            <a:lnSpc>
              <a:spcPct val="100000"/>
            </a:lnSpc>
            <a:spcBef>
              <a:spcPct val="0"/>
            </a:spcBef>
            <a:spcAft>
              <a:spcPct val="35000"/>
            </a:spcAft>
            <a:buNone/>
          </a:pPr>
          <a:r>
            <a:rPr lang="en-US" sz="4600" b="0" kern="1200"/>
            <a:t>Questions?</a:t>
          </a:r>
          <a:endParaRPr lang="en-US" sz="4600" kern="1200"/>
        </a:p>
      </dsp:txBody>
      <dsp:txXfrm>
        <a:off x="6071000" y="3428884"/>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AFF539-DA02-497B-A49E-C3F4E6EC519E}" type="datetimeFigureOut">
              <a:rPr lang="en-US" smtClean="0"/>
              <a:t>5/11/2026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3219A3-3223-483C-9160-127A4440DDCF}" type="slidenum">
              <a:rPr lang="en-US" smtClean="0"/>
              <a:t>‹#›</a:t>
            </a:fld>
            <a:endParaRPr lang="en-US"/>
          </a:p>
        </p:txBody>
      </p:sp>
    </p:spTree>
    <p:extLst>
      <p:ext uri="{BB962C8B-B14F-4D97-AF65-F5344CB8AC3E}">
        <p14:creationId xmlns:p14="http://schemas.microsoft.com/office/powerpoint/2010/main" val="3626038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fkGroteskNeue"/>
              </a:rPr>
              <a:t>how our brains process time, why it matters, and how we can measure these patterns as diagnostic signatures of brain function.</a:t>
            </a:r>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1</a:t>
            </a:fld>
            <a:endParaRPr lang="en-US"/>
          </a:p>
        </p:txBody>
      </p:sp>
    </p:spTree>
    <p:extLst>
      <p:ext uri="{BB962C8B-B14F-4D97-AF65-F5344CB8AC3E}">
        <p14:creationId xmlns:p14="http://schemas.microsoft.com/office/powerpoint/2010/main" val="2091008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b="0" i="0" dirty="0">
                <a:effectLst/>
                <a:latin typeface="fkGroteskNeue"/>
              </a:rPr>
              <a:t>Introduction to the concept of intrinsic neural timescales, or INTs. Our brains don’t process all information at the same speed. Sensory areas, like those for vision or hearing, respond rapidly to brief stimuli-think of a flash of light or a single note. In contrast, regions like the prefrontal cortex or the default mode network operate over much longer timescales, integrating information across seconds or even minutes. This temporal hierarchy allows us to both react to immediate events and build up complex, meaningful experiences over time.</a:t>
            </a:r>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2</a:t>
            </a:fld>
            <a:endParaRPr lang="en-US"/>
          </a:p>
        </p:txBody>
      </p:sp>
    </p:spTree>
    <p:extLst>
      <p:ext uri="{BB962C8B-B14F-4D97-AF65-F5344CB8AC3E}">
        <p14:creationId xmlns:p14="http://schemas.microsoft.com/office/powerpoint/2010/main" val="274379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b="0" i="0" dirty="0">
                <a:effectLst/>
                <a:latin typeface="fkGroteskNeue"/>
              </a:rPr>
              <a:t>To visualize this, imagine watching a movie. This is a highly active cognitive process that requires your brain to integrate and segregate information across multiple timescales. Spoken language, for example, is processed as words, sentences, and paragraphs-each operating on different durations. Meanwhile, your brain is also processing background music and visual effects, each with their own temporal patterns. The brain’s ability to combine and distinguish these diverse timescales is what creates a coherent, immersive experience.</a:t>
            </a:r>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3</a:t>
            </a:fld>
            <a:endParaRPr lang="en-US"/>
          </a:p>
        </p:txBody>
      </p:sp>
    </p:spTree>
    <p:extLst>
      <p:ext uri="{BB962C8B-B14F-4D97-AF65-F5344CB8AC3E}">
        <p14:creationId xmlns:p14="http://schemas.microsoft.com/office/powerpoint/2010/main" val="1271686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Study Neural Timescales? </a:t>
            </a:r>
            <a:r>
              <a:rPr lang="en-US" b="0" i="0" dirty="0">
                <a:effectLst/>
                <a:latin typeface="fkGroteskNeue"/>
              </a:rPr>
              <a:t>For example, disruptions in neural timescales have been observed in conditions like autism spectrum disorder (ASD) and attention-deficit/hyperactivity disorder (ADHD). These findings suggest that atypical temporal processing may underlie some of the cognitive and behavioral symptoms seen in these disorders. By characterizing INTs, we can potentially identify biomarkers for early diagnosis and intervention.</a:t>
            </a:r>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4</a:t>
            </a:fld>
            <a:endParaRPr lang="en-US"/>
          </a:p>
        </p:txBody>
      </p:sp>
    </p:spTree>
    <p:extLst>
      <p:ext uri="{BB962C8B-B14F-4D97-AF65-F5344CB8AC3E}">
        <p14:creationId xmlns:p14="http://schemas.microsoft.com/office/powerpoint/2010/main" val="1159506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b719d51341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b719d51341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b="0" i="0" dirty="0">
                <a:effectLst/>
                <a:latin typeface="fkGroteskNeue"/>
              </a:rPr>
              <a:t>According to predictive coding theory, higher-order brain regions use longer timescales to generate predictions about incoming sensory information. These predictions are compared with actual inputs, and errors are sent back up the hierarchy to refine future predictions. This dynamic interplay relies fundamentally on the temporal hierarchy of INTs, with different regions contributing at different timescales.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0" dirty="0">
                <a:effectLst/>
                <a:latin typeface="fkGroteskNeue"/>
              </a:rPr>
              <a:t>To characterize different metrics for measuring INTs in the human brain,</a:t>
            </a:r>
          </a:p>
          <a:p>
            <a:pPr algn="l">
              <a:buFont typeface="+mj-lt"/>
              <a:buAutoNum type="arabicPeriod"/>
            </a:pPr>
            <a:r>
              <a:rPr lang="en-US" b="0" i="0" dirty="0">
                <a:effectLst/>
                <a:latin typeface="fkGroteskNeue"/>
              </a:rPr>
              <a:t>To evaluate their reliability and discriminability as individual “fingerprints” of brain dynamics, and</a:t>
            </a:r>
          </a:p>
          <a:p>
            <a:pPr algn="l">
              <a:buFont typeface="+mj-lt"/>
              <a:buAutoNum type="arabicPeriod"/>
            </a:pPr>
            <a:r>
              <a:rPr lang="en-US" b="0" i="0" dirty="0">
                <a:effectLst/>
                <a:latin typeface="fkGroteskNeue"/>
              </a:rPr>
              <a:t>To assess how these measures vary across the lifespan, between sexes</a:t>
            </a:r>
            <a:endParaRPr lang="en-US" dirty="0"/>
          </a:p>
          <a:p>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6</a:t>
            </a:fld>
            <a:endParaRPr lang="en-US"/>
          </a:p>
        </p:txBody>
      </p:sp>
    </p:spTree>
    <p:extLst>
      <p:ext uri="{BB962C8B-B14F-4D97-AF65-F5344CB8AC3E}">
        <p14:creationId xmlns:p14="http://schemas.microsoft.com/office/powerpoint/2010/main" val="3067086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dirty="0">
                <a:effectLst/>
                <a:latin typeface="fkGroteskNeue"/>
              </a:rPr>
              <a:t>Multiple metrics exist, each capturing different aspects of temporal dynamics. In this study, I compared several commonly used indices, such as the autocorrelation function at various lags, autoregressive coefficients, and the sum of autocorrelations across time. Each metric provides a unique window into the brain’s temporal processing.</a:t>
            </a:r>
          </a:p>
          <a:p>
            <a:pPr>
              <a:buNone/>
            </a:pPr>
            <a:br>
              <a:rPr lang="en-US" dirty="0"/>
            </a:br>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8</a:t>
            </a:fld>
            <a:endParaRPr lang="en-US"/>
          </a:p>
        </p:txBody>
      </p:sp>
    </p:spTree>
    <p:extLst>
      <p:ext uri="{BB962C8B-B14F-4D97-AF65-F5344CB8AC3E}">
        <p14:creationId xmlns:p14="http://schemas.microsoft.com/office/powerpoint/2010/main" val="3278351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fkGroteskNeue"/>
              </a:rPr>
              <a:t>These maps reveal consistent gradients from unimodal sensory regions to </a:t>
            </a:r>
            <a:r>
              <a:rPr lang="en-US" b="0" i="0" dirty="0" err="1">
                <a:effectLst/>
                <a:latin typeface="fkGroteskNeue"/>
              </a:rPr>
              <a:t>transmodal</a:t>
            </a:r>
            <a:r>
              <a:rPr lang="en-US" b="0" i="0" dirty="0">
                <a:effectLst/>
                <a:latin typeface="fkGroteskNeue"/>
              </a:rPr>
              <a:t> association areas, reflecting the brain’s temporal hierarchy.</a:t>
            </a:r>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9</a:t>
            </a:fld>
            <a:endParaRPr lang="en-US"/>
          </a:p>
        </p:txBody>
      </p:sp>
    </p:spTree>
    <p:extLst>
      <p:ext uri="{BB962C8B-B14F-4D97-AF65-F5344CB8AC3E}">
        <p14:creationId xmlns:p14="http://schemas.microsoft.com/office/powerpoint/2010/main" val="2359302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2784C-A2B0-7D4F-3BCE-410F661FA4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7299C-DB08-BAA9-913C-41330762E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B3117B-F348-A465-13A2-F0929BFBB125}"/>
              </a:ext>
            </a:extLst>
          </p:cNvPr>
          <p:cNvSpPr>
            <a:spLocks noGrp="1"/>
          </p:cNvSpPr>
          <p:nvPr>
            <p:ph type="body" idx="1"/>
          </p:nvPr>
        </p:nvSpPr>
        <p:spPr/>
        <p:txBody>
          <a:bodyPr/>
          <a:lstStyle/>
          <a:p>
            <a:pPr marL="0" indent="0">
              <a:buNone/>
            </a:pPr>
            <a:r>
              <a:rPr lang="en-US" sz="1200" dirty="0"/>
              <a:t>Validated against prior studies</a:t>
            </a:r>
          </a:p>
          <a:p>
            <a:endParaRPr lang="en-US" dirty="0"/>
          </a:p>
        </p:txBody>
      </p:sp>
      <p:sp>
        <p:nvSpPr>
          <p:cNvPr id="4" name="Slide Number Placeholder 3">
            <a:extLst>
              <a:ext uri="{FF2B5EF4-FFF2-40B4-BE49-F238E27FC236}">
                <a16:creationId xmlns:a16="http://schemas.microsoft.com/office/drawing/2014/main" id="{0AA5872D-F14A-C364-44A2-6C99722E21E6}"/>
              </a:ext>
            </a:extLst>
          </p:cNvPr>
          <p:cNvSpPr>
            <a:spLocks noGrp="1"/>
          </p:cNvSpPr>
          <p:nvPr>
            <p:ph type="sldNum" sz="quarter" idx="5"/>
          </p:nvPr>
        </p:nvSpPr>
        <p:spPr/>
        <p:txBody>
          <a:bodyPr/>
          <a:lstStyle/>
          <a:p>
            <a:fld id="{F83219A3-3223-483C-9160-127A4440DDCF}" type="slidenum">
              <a:rPr lang="en-US" smtClean="0"/>
              <a:t>10</a:t>
            </a:fld>
            <a:endParaRPr lang="en-US"/>
          </a:p>
        </p:txBody>
      </p:sp>
    </p:spTree>
    <p:extLst>
      <p:ext uri="{BB962C8B-B14F-4D97-AF65-F5344CB8AC3E}">
        <p14:creationId xmlns:p14="http://schemas.microsoft.com/office/powerpoint/2010/main" val="1924558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fkGroteskNeue"/>
              </a:rPr>
              <a:t>A key question is whether these INT patterns are unique to individuals-can they serve as a “fingerprint” of brain dynamics? I conducted discriminability analyses to test how well INT maps can distinguish between individuals, even across different scanning sessions.</a:t>
            </a:r>
          </a:p>
          <a:p>
            <a:pPr>
              <a:buNone/>
            </a:pPr>
            <a:r>
              <a:rPr lang="en-US" dirty="0"/>
              <a:t>For each person, compute the </a:t>
            </a:r>
            <a:r>
              <a:rPr lang="en-US" b="1" dirty="0"/>
              <a:t>distance</a:t>
            </a:r>
            <a:r>
              <a:rPr lang="en-US" dirty="0"/>
              <a:t> between their two scans (how different they are).</a:t>
            </a:r>
          </a:p>
          <a:p>
            <a:pPr>
              <a:buNone/>
            </a:pPr>
            <a:r>
              <a:rPr lang="en-US" dirty="0"/>
              <a:t>Also compute the distances between </a:t>
            </a:r>
            <a:r>
              <a:rPr lang="en-US" b="1" dirty="0"/>
              <a:t>their scans and everyone else’s</a:t>
            </a:r>
            <a:r>
              <a:rPr lang="en-US" dirty="0"/>
              <a:t>.</a:t>
            </a:r>
          </a:p>
          <a:p>
            <a:r>
              <a:rPr lang="en-US" dirty="0"/>
              <a:t>If </a:t>
            </a:r>
            <a:r>
              <a:rPr lang="en-US" b="1" dirty="0"/>
              <a:t>within-person scans are consistently more similar</a:t>
            </a:r>
            <a:r>
              <a:rPr lang="en-US" dirty="0"/>
              <a:t> than between-person ones → </a:t>
            </a:r>
            <a:r>
              <a:rPr lang="en-US" b="1" dirty="0"/>
              <a:t>high discriminability</a:t>
            </a:r>
            <a:r>
              <a:rPr lang="en-US" dirty="0"/>
              <a:t>.</a:t>
            </a:r>
          </a:p>
          <a:p>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11</a:t>
            </a:fld>
            <a:endParaRPr lang="en-US"/>
          </a:p>
        </p:txBody>
      </p:sp>
    </p:spTree>
    <p:extLst>
      <p:ext uri="{BB962C8B-B14F-4D97-AF65-F5344CB8AC3E}">
        <p14:creationId xmlns:p14="http://schemas.microsoft.com/office/powerpoint/2010/main" val="3676793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12</a:t>
            </a:fld>
            <a:endParaRPr lang="en-US"/>
          </a:p>
        </p:txBody>
      </p:sp>
    </p:spTree>
    <p:extLst>
      <p:ext uri="{BB962C8B-B14F-4D97-AF65-F5344CB8AC3E}">
        <p14:creationId xmlns:p14="http://schemas.microsoft.com/office/powerpoint/2010/main" val="1329013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To examine the effects of age, sex, and head motion on intrinsic neural timescales, we fit the following linear mixed-effects model:</a:t>
            </a:r>
          </a:p>
          <a:p>
            <a:r>
              <a:rPr lang="en-US" dirty="0"/>
              <a:t>where AR(1) represents the autoregressive coefficient at lag-1 for each cortical region. Age was modeled both linearly and quadratically to capture potential nonlinear lifespan effects. Sex and head motion were included as fixed effects, and subject ID was treated as a random intercept to account for repeated measures.</a:t>
            </a:r>
          </a:p>
          <a:p>
            <a:endParaRPr lang="en-US" dirty="0"/>
          </a:p>
          <a:p>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14</a:t>
            </a:fld>
            <a:endParaRPr lang="en-US"/>
          </a:p>
        </p:txBody>
      </p:sp>
    </p:spTree>
    <p:extLst>
      <p:ext uri="{BB962C8B-B14F-4D97-AF65-F5344CB8AC3E}">
        <p14:creationId xmlns:p14="http://schemas.microsoft.com/office/powerpoint/2010/main" val="88044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15</a:t>
            </a:fld>
            <a:endParaRPr lang="en-US"/>
          </a:p>
        </p:txBody>
      </p:sp>
    </p:spTree>
    <p:extLst>
      <p:ext uri="{BB962C8B-B14F-4D97-AF65-F5344CB8AC3E}">
        <p14:creationId xmlns:p14="http://schemas.microsoft.com/office/powerpoint/2010/main" val="32057309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fkGroteskNeue"/>
              </a:rPr>
              <a:t>Looking at age effects, we see an intriguing inverted-U pattern: INTs increase during childhood and adolescence, peak in early adulthood, and decline with age. This pattern is especially pronounced in sensory and salience regions, suggesting that temporal processing capacity changes dynamically across the lifespan.</a:t>
            </a:r>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16</a:t>
            </a:fld>
            <a:endParaRPr lang="en-US"/>
          </a:p>
        </p:txBody>
      </p:sp>
    </p:spTree>
    <p:extLst>
      <p:ext uri="{BB962C8B-B14F-4D97-AF65-F5344CB8AC3E}">
        <p14:creationId xmlns:p14="http://schemas.microsoft.com/office/powerpoint/2010/main" val="27334978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dirty="0">
                <a:effectLst/>
                <a:latin typeface="fkGroteskNeue"/>
              </a:rPr>
              <a:t>We also found localized effects of sex and interactions between sex and age. These effects vary by brain region and temporal resolution, indicating that both biological sex and developmental stage shape the brain’s temporal dynamics in nuanced ways.</a:t>
            </a:r>
          </a:p>
          <a:p>
            <a:pPr>
              <a:buNone/>
            </a:pPr>
            <a:br>
              <a:rPr lang="en-US" dirty="0"/>
            </a:br>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17</a:t>
            </a:fld>
            <a:endParaRPr lang="en-US"/>
          </a:p>
        </p:txBody>
      </p:sp>
    </p:spTree>
    <p:extLst>
      <p:ext uri="{BB962C8B-B14F-4D97-AF65-F5344CB8AC3E}">
        <p14:creationId xmlns:p14="http://schemas.microsoft.com/office/powerpoint/2010/main" val="2902790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18</a:t>
            </a:fld>
            <a:endParaRPr lang="en-US"/>
          </a:p>
        </p:txBody>
      </p:sp>
    </p:spTree>
    <p:extLst>
      <p:ext uri="{BB962C8B-B14F-4D97-AF65-F5344CB8AC3E}">
        <p14:creationId xmlns:p14="http://schemas.microsoft.com/office/powerpoint/2010/main" val="328622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19</a:t>
            </a:fld>
            <a:endParaRPr lang="en-US"/>
          </a:p>
        </p:txBody>
      </p:sp>
    </p:spTree>
    <p:extLst>
      <p:ext uri="{BB962C8B-B14F-4D97-AF65-F5344CB8AC3E}">
        <p14:creationId xmlns:p14="http://schemas.microsoft.com/office/powerpoint/2010/main" val="41050777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fkGroteskNeue"/>
              </a:rPr>
              <a:t>Age Quadratic is more reliable than Sex. This robustness supports the use of INTs as reliable biomarkers in both research and clinical contexts.</a:t>
            </a:r>
            <a:endParaRPr lang="en-US" dirty="0"/>
          </a:p>
        </p:txBody>
      </p:sp>
      <p:sp>
        <p:nvSpPr>
          <p:cNvPr id="4" name="Slide Number Placeholder 3"/>
          <p:cNvSpPr>
            <a:spLocks noGrp="1"/>
          </p:cNvSpPr>
          <p:nvPr>
            <p:ph type="sldNum" sz="quarter" idx="5"/>
          </p:nvPr>
        </p:nvSpPr>
        <p:spPr/>
        <p:txBody>
          <a:bodyPr/>
          <a:lstStyle/>
          <a:p>
            <a:fld id="{F83219A3-3223-483C-9160-127A4440DDCF}" type="slidenum">
              <a:rPr lang="en-US" smtClean="0"/>
              <a:t>20</a:t>
            </a:fld>
            <a:endParaRPr lang="en-US"/>
          </a:p>
        </p:txBody>
      </p:sp>
    </p:spTree>
    <p:extLst>
      <p:ext uri="{BB962C8B-B14F-4D97-AF65-F5344CB8AC3E}">
        <p14:creationId xmlns:p14="http://schemas.microsoft.com/office/powerpoint/2010/main" val="22073283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5714bc32b8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5714bc32b8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INTs = robust brain signature</a:t>
            </a:r>
          </a:p>
          <a:p>
            <a:r>
              <a:rPr lang="en-US" dirty="0"/>
              <a:t>• Support lifespan and clinical applications</a:t>
            </a:r>
          </a:p>
          <a:p>
            <a:r>
              <a:rPr lang="en-US" b="0" i="0" dirty="0">
                <a:effectLst/>
                <a:latin typeface="fkGroteskNeue"/>
              </a:rPr>
              <a:t>Our results suggest that INTs could be used as biomarkers for early detection of cognitive decline.</a:t>
            </a:r>
            <a:endParaRPr lang="en-US" dirty="0"/>
          </a:p>
          <a:p>
            <a:pPr marL="0" lvl="0" indent="0" algn="l" rtl="0">
              <a:spcBef>
                <a:spcPts val="0"/>
              </a:spcBef>
              <a:spcAft>
                <a:spcPts val="0"/>
              </a:spcAft>
              <a:buNone/>
            </a:pPr>
            <a:r>
              <a:rPr lang="en-US" b="0" i="0" dirty="0">
                <a:effectLst/>
                <a:latin typeface="fkGroteskNeue"/>
              </a:rPr>
              <a:t>To summarize: INTs provide a robust, reproducible signature of brain dynamics. They support applications across the lifespan and in clinical populations. Looking ahead, future work could explore INT directionality, longitudinal changes, and even applications in artificial intelligence.</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Potential Diagnostic for Neural Disorders</a:t>
            </a:r>
          </a:p>
        </p:txBody>
      </p:sp>
      <p:sp>
        <p:nvSpPr>
          <p:cNvPr id="4" name="Slide Number Placeholder 3"/>
          <p:cNvSpPr>
            <a:spLocks noGrp="1"/>
          </p:cNvSpPr>
          <p:nvPr>
            <p:ph type="sldNum" sz="quarter" idx="5"/>
          </p:nvPr>
        </p:nvSpPr>
        <p:spPr/>
        <p:txBody>
          <a:bodyPr/>
          <a:lstStyle/>
          <a:p>
            <a:fld id="{F83219A3-3223-483C-9160-127A4440DDCF}" type="slidenum">
              <a:rPr lang="en-US" smtClean="0"/>
              <a:t>22</a:t>
            </a:fld>
            <a:endParaRPr lang="en-US"/>
          </a:p>
        </p:txBody>
      </p:sp>
    </p:spTree>
    <p:extLst>
      <p:ext uri="{BB962C8B-B14F-4D97-AF65-F5344CB8AC3E}">
        <p14:creationId xmlns:p14="http://schemas.microsoft.com/office/powerpoint/2010/main" val="773016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77397-6449-23B5-4BA5-7DFD0BC50A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865E3C-5D2F-6FC2-863A-E26AD6385A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B11AD1-CEF0-1A02-CFFC-CDD5FA28DE9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B6A7875-08CC-0C05-627E-5F3BFD5BD5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417AC8-1016-74D1-D931-C6E935290AED}"/>
              </a:ext>
            </a:extLst>
          </p:cNvPr>
          <p:cNvSpPr>
            <a:spLocks noGrp="1"/>
          </p:cNvSpPr>
          <p:nvPr>
            <p:ph type="sldNum" sz="quarter" idx="12"/>
          </p:nvPr>
        </p:nvSpPr>
        <p:spPr/>
        <p:txBody>
          <a:bodyPr/>
          <a:lstStyle/>
          <a:p>
            <a:fld id="{ED2AB823-F179-4A4C-877B-2E0B011C8AA4}" type="slidenum">
              <a:rPr lang="en-US" smtClean="0"/>
              <a:t>‹#›</a:t>
            </a:fld>
            <a:endParaRPr lang="en-US"/>
          </a:p>
        </p:txBody>
      </p:sp>
    </p:spTree>
    <p:extLst>
      <p:ext uri="{BB962C8B-B14F-4D97-AF65-F5344CB8AC3E}">
        <p14:creationId xmlns:p14="http://schemas.microsoft.com/office/powerpoint/2010/main" val="3592389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B92F1-328B-CFDF-FA10-27B2741B90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2F00FB-0C90-5338-5341-CB080553AF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E6E051-16A5-F611-565D-542076766D5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3996D40-FA5E-6398-481F-8D65699AA0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6C4261-6D24-932B-C9CF-047582E39A44}"/>
              </a:ext>
            </a:extLst>
          </p:cNvPr>
          <p:cNvSpPr>
            <a:spLocks noGrp="1"/>
          </p:cNvSpPr>
          <p:nvPr>
            <p:ph type="sldNum" sz="quarter" idx="12"/>
          </p:nvPr>
        </p:nvSpPr>
        <p:spPr/>
        <p:txBody>
          <a:bodyPr/>
          <a:lstStyle/>
          <a:p>
            <a:fld id="{ED2AB823-F179-4A4C-877B-2E0B011C8AA4}" type="slidenum">
              <a:rPr lang="en-US" smtClean="0"/>
              <a:t>‹#›</a:t>
            </a:fld>
            <a:endParaRPr lang="en-US"/>
          </a:p>
        </p:txBody>
      </p:sp>
    </p:spTree>
    <p:extLst>
      <p:ext uri="{BB962C8B-B14F-4D97-AF65-F5344CB8AC3E}">
        <p14:creationId xmlns:p14="http://schemas.microsoft.com/office/powerpoint/2010/main" val="1733436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47A97-F494-B27B-E1AB-A76AD2F0D3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05925A-1888-A7BC-E7F6-8FAEF253B4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18BAC1-0479-E23B-F739-F2E753835CB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A956D2E-F2B5-38AB-693D-825D41EA0C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A3161B-F59B-E27F-0666-E584C6C861E1}"/>
              </a:ext>
            </a:extLst>
          </p:cNvPr>
          <p:cNvSpPr>
            <a:spLocks noGrp="1"/>
          </p:cNvSpPr>
          <p:nvPr>
            <p:ph type="sldNum" sz="quarter" idx="12"/>
          </p:nvPr>
        </p:nvSpPr>
        <p:spPr/>
        <p:txBody>
          <a:bodyPr/>
          <a:lstStyle/>
          <a:p>
            <a:fld id="{ED2AB823-F179-4A4C-877B-2E0B011C8AA4}" type="slidenum">
              <a:rPr lang="en-US" smtClean="0"/>
              <a:t>‹#›</a:t>
            </a:fld>
            <a:endParaRPr lang="en-US"/>
          </a:p>
        </p:txBody>
      </p:sp>
    </p:spTree>
    <p:extLst>
      <p:ext uri="{BB962C8B-B14F-4D97-AF65-F5344CB8AC3E}">
        <p14:creationId xmlns:p14="http://schemas.microsoft.com/office/powerpoint/2010/main" val="1557342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A585C-FC3F-00EF-4774-68DC056E3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6DB1CE-52AD-7C18-DFC2-6516721DC4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8F2E19-6F04-6717-74AB-DD03203C43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C61C98-62D1-E5A3-C56B-79B0C17AD5F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BF20B0A-83E8-85DC-7584-6C783F73ED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FE3F8-846D-FEB4-FF77-5B541910D926}"/>
              </a:ext>
            </a:extLst>
          </p:cNvPr>
          <p:cNvSpPr>
            <a:spLocks noGrp="1"/>
          </p:cNvSpPr>
          <p:nvPr>
            <p:ph type="sldNum" sz="quarter" idx="12"/>
          </p:nvPr>
        </p:nvSpPr>
        <p:spPr/>
        <p:txBody>
          <a:bodyPr/>
          <a:lstStyle/>
          <a:p>
            <a:fld id="{ED2AB823-F179-4A4C-877B-2E0B011C8AA4}" type="slidenum">
              <a:rPr lang="en-US" smtClean="0"/>
              <a:t>‹#›</a:t>
            </a:fld>
            <a:endParaRPr lang="en-US"/>
          </a:p>
        </p:txBody>
      </p:sp>
    </p:spTree>
    <p:extLst>
      <p:ext uri="{BB962C8B-B14F-4D97-AF65-F5344CB8AC3E}">
        <p14:creationId xmlns:p14="http://schemas.microsoft.com/office/powerpoint/2010/main" val="2692558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6E0F1-284A-5F45-FF60-2E6E739236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E128C4-7511-76FB-D7BB-BC19800FC4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AC2CDF-FEC2-4D73-66B9-4820B2DD6F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BD98F0-D927-982B-8137-CEE82B6D42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77C6B1-504D-C9B2-84A8-9CE029271E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4BC229-5C1E-1391-C2D3-2069E44920A1}"/>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938DEA39-4819-BB0A-C732-C9F31B184AD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B071AE-3D8A-3507-3FA7-41A1F827FFC8}"/>
              </a:ext>
            </a:extLst>
          </p:cNvPr>
          <p:cNvSpPr>
            <a:spLocks noGrp="1"/>
          </p:cNvSpPr>
          <p:nvPr>
            <p:ph type="sldNum" sz="quarter" idx="12"/>
          </p:nvPr>
        </p:nvSpPr>
        <p:spPr/>
        <p:txBody>
          <a:bodyPr/>
          <a:lstStyle/>
          <a:p>
            <a:fld id="{ED2AB823-F179-4A4C-877B-2E0B011C8AA4}" type="slidenum">
              <a:rPr lang="en-US" smtClean="0"/>
              <a:t>‹#›</a:t>
            </a:fld>
            <a:endParaRPr lang="en-US"/>
          </a:p>
        </p:txBody>
      </p:sp>
    </p:spTree>
    <p:extLst>
      <p:ext uri="{BB962C8B-B14F-4D97-AF65-F5344CB8AC3E}">
        <p14:creationId xmlns:p14="http://schemas.microsoft.com/office/powerpoint/2010/main" val="2138650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82A1E-249D-E847-EA42-C808A1235D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716253-0852-D353-544D-F88C2BDFE684}"/>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54B2EC9-A84E-C986-1B0D-CEC6F24A5B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CFE2B2-3B93-D9FB-91AE-0037173FB4BE}"/>
              </a:ext>
            </a:extLst>
          </p:cNvPr>
          <p:cNvSpPr>
            <a:spLocks noGrp="1"/>
          </p:cNvSpPr>
          <p:nvPr>
            <p:ph type="sldNum" sz="quarter" idx="12"/>
          </p:nvPr>
        </p:nvSpPr>
        <p:spPr/>
        <p:txBody>
          <a:bodyPr/>
          <a:lstStyle/>
          <a:p>
            <a:fld id="{ED2AB823-F179-4A4C-877B-2E0B011C8AA4}" type="slidenum">
              <a:rPr lang="en-US" smtClean="0"/>
              <a:t>‹#›</a:t>
            </a:fld>
            <a:endParaRPr lang="en-US"/>
          </a:p>
        </p:txBody>
      </p:sp>
    </p:spTree>
    <p:extLst>
      <p:ext uri="{BB962C8B-B14F-4D97-AF65-F5344CB8AC3E}">
        <p14:creationId xmlns:p14="http://schemas.microsoft.com/office/powerpoint/2010/main" val="1718587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54B0C-E97A-0C60-82CD-19DD5CB784F5}"/>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8FD5CF1D-5FF2-1695-F872-048BCE8FE7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A2F498-031F-A4C5-CA75-33342DE921CD}"/>
              </a:ext>
            </a:extLst>
          </p:cNvPr>
          <p:cNvSpPr>
            <a:spLocks noGrp="1"/>
          </p:cNvSpPr>
          <p:nvPr>
            <p:ph type="sldNum" sz="quarter" idx="12"/>
          </p:nvPr>
        </p:nvSpPr>
        <p:spPr/>
        <p:txBody>
          <a:bodyPr/>
          <a:lstStyle/>
          <a:p>
            <a:fld id="{ED2AB823-F179-4A4C-877B-2E0B011C8AA4}" type="slidenum">
              <a:rPr lang="en-US" smtClean="0"/>
              <a:t>‹#›</a:t>
            </a:fld>
            <a:endParaRPr lang="en-US"/>
          </a:p>
        </p:txBody>
      </p:sp>
    </p:spTree>
    <p:extLst>
      <p:ext uri="{BB962C8B-B14F-4D97-AF65-F5344CB8AC3E}">
        <p14:creationId xmlns:p14="http://schemas.microsoft.com/office/powerpoint/2010/main" val="3182299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1B363-CFCA-A14E-886F-3F0A00C344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7731F7-9296-FFE2-8AE9-B3C912649A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8D4A95-BA3E-1443-DB8B-72248600A6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FDF9F5-D90B-437C-6345-A2148BA9C4E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70D4069-2523-F04F-1EF5-80665F7618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33F5E8-4093-5C43-B4BF-CD0820545D8A}"/>
              </a:ext>
            </a:extLst>
          </p:cNvPr>
          <p:cNvSpPr>
            <a:spLocks noGrp="1"/>
          </p:cNvSpPr>
          <p:nvPr>
            <p:ph type="sldNum" sz="quarter" idx="12"/>
          </p:nvPr>
        </p:nvSpPr>
        <p:spPr/>
        <p:txBody>
          <a:bodyPr/>
          <a:lstStyle/>
          <a:p>
            <a:fld id="{ED2AB823-F179-4A4C-877B-2E0B011C8AA4}" type="slidenum">
              <a:rPr lang="en-US" smtClean="0"/>
              <a:t>‹#›</a:t>
            </a:fld>
            <a:endParaRPr lang="en-US"/>
          </a:p>
        </p:txBody>
      </p:sp>
    </p:spTree>
    <p:extLst>
      <p:ext uri="{BB962C8B-B14F-4D97-AF65-F5344CB8AC3E}">
        <p14:creationId xmlns:p14="http://schemas.microsoft.com/office/powerpoint/2010/main" val="98756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6E1FD-2B43-D9B9-D96A-12F8F01DCC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822F8B-02C8-A2A6-4745-DD5EA8FF9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6B52BA-CBF7-C601-2CF4-58DBE70B8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C092D8-31AD-EBBE-B59D-7829A3F0B66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A559A80-CC39-46D3-121F-3D2E9BF02F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BBAA63-F261-9062-35EB-347E4A28CC5E}"/>
              </a:ext>
            </a:extLst>
          </p:cNvPr>
          <p:cNvSpPr>
            <a:spLocks noGrp="1"/>
          </p:cNvSpPr>
          <p:nvPr>
            <p:ph type="sldNum" sz="quarter" idx="12"/>
          </p:nvPr>
        </p:nvSpPr>
        <p:spPr/>
        <p:txBody>
          <a:bodyPr/>
          <a:lstStyle/>
          <a:p>
            <a:fld id="{ED2AB823-F179-4A4C-877B-2E0B011C8AA4}" type="slidenum">
              <a:rPr lang="en-US" smtClean="0"/>
              <a:t>‹#›</a:t>
            </a:fld>
            <a:endParaRPr lang="en-US"/>
          </a:p>
        </p:txBody>
      </p:sp>
    </p:spTree>
    <p:extLst>
      <p:ext uri="{BB962C8B-B14F-4D97-AF65-F5344CB8AC3E}">
        <p14:creationId xmlns:p14="http://schemas.microsoft.com/office/powerpoint/2010/main" val="1146072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D4DAD-6E9C-A759-B79D-115A509D70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0BA551-5E25-E748-E75F-64CF1BFE63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90D2C-DC69-A1FC-79BF-19510790C1C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5495158-94FD-D5C2-5931-1BF3500D5F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05B1C3-8FD7-3176-CE05-1C69033409CF}"/>
              </a:ext>
            </a:extLst>
          </p:cNvPr>
          <p:cNvSpPr>
            <a:spLocks noGrp="1"/>
          </p:cNvSpPr>
          <p:nvPr>
            <p:ph type="sldNum" sz="quarter" idx="12"/>
          </p:nvPr>
        </p:nvSpPr>
        <p:spPr/>
        <p:txBody>
          <a:bodyPr/>
          <a:lstStyle/>
          <a:p>
            <a:fld id="{ED2AB823-F179-4A4C-877B-2E0B011C8AA4}" type="slidenum">
              <a:rPr lang="en-US" smtClean="0"/>
              <a:t>‹#›</a:t>
            </a:fld>
            <a:endParaRPr lang="en-US"/>
          </a:p>
        </p:txBody>
      </p:sp>
    </p:spTree>
    <p:extLst>
      <p:ext uri="{BB962C8B-B14F-4D97-AF65-F5344CB8AC3E}">
        <p14:creationId xmlns:p14="http://schemas.microsoft.com/office/powerpoint/2010/main" val="4232689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DBB4B6-0C07-EA43-C872-A83460C5AE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6AD1E3-9C10-73BC-0031-75B0B9AB77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65312B-0BFD-AA64-2536-6F39CE9878D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F85D10B-BA01-ABFA-32D3-1A815D2667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3FFAB1-A308-FFDC-3089-3524F4AC3896}"/>
              </a:ext>
            </a:extLst>
          </p:cNvPr>
          <p:cNvSpPr>
            <a:spLocks noGrp="1"/>
          </p:cNvSpPr>
          <p:nvPr>
            <p:ph type="sldNum" sz="quarter" idx="12"/>
          </p:nvPr>
        </p:nvSpPr>
        <p:spPr/>
        <p:txBody>
          <a:bodyPr/>
          <a:lstStyle/>
          <a:p>
            <a:fld id="{ED2AB823-F179-4A4C-877B-2E0B011C8AA4}" type="slidenum">
              <a:rPr lang="en-US" smtClean="0"/>
              <a:t>‹#›</a:t>
            </a:fld>
            <a:endParaRPr lang="en-US"/>
          </a:p>
        </p:txBody>
      </p:sp>
    </p:spTree>
    <p:extLst>
      <p:ext uri="{BB962C8B-B14F-4D97-AF65-F5344CB8AC3E}">
        <p14:creationId xmlns:p14="http://schemas.microsoft.com/office/powerpoint/2010/main" val="236402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ypical">
  <p:cSld name="Typical">
    <p:spTree>
      <p:nvGrpSpPr>
        <p:cNvPr id="1" name="Shape 71"/>
        <p:cNvGrpSpPr/>
        <p:nvPr/>
      </p:nvGrpSpPr>
      <p:grpSpPr>
        <a:xfrm>
          <a:off x="0" y="0"/>
          <a:ext cx="0" cy="0"/>
          <a:chOff x="0" y="0"/>
          <a:chExt cx="0" cy="0"/>
        </a:xfrm>
      </p:grpSpPr>
      <p:sp>
        <p:nvSpPr>
          <p:cNvPr id="72" name="Google Shape;72;p17"/>
          <p:cNvSpPr txBox="1">
            <a:spLocks noGrp="1"/>
          </p:cNvSpPr>
          <p:nvPr>
            <p:ph type="body" idx="1"/>
          </p:nvPr>
        </p:nvSpPr>
        <p:spPr>
          <a:xfrm>
            <a:off x="403000" y="1312067"/>
            <a:ext cx="11386000" cy="5163600"/>
          </a:xfrm>
          <a:prstGeom prst="rect">
            <a:avLst/>
          </a:prstGeom>
          <a:noFill/>
          <a:ln>
            <a:noFill/>
          </a:ln>
        </p:spPr>
        <p:txBody>
          <a:bodyPr spcFirstLastPara="1" wrap="square" lIns="91425" tIns="45700" rIns="91425" bIns="45700" anchor="t" anchorCtr="0">
            <a:normAutofit/>
          </a:bodyPr>
          <a:lstStyle>
            <a:lvl1pPr marL="609585" lvl="0" indent="-440256" algn="l" rtl="0">
              <a:lnSpc>
                <a:spcPct val="100000"/>
              </a:lnSpc>
              <a:spcBef>
                <a:spcPts val="800"/>
              </a:spcBef>
              <a:spcAft>
                <a:spcPts val="0"/>
              </a:spcAft>
              <a:buSzPts val="1600"/>
              <a:buFont typeface="Arial"/>
              <a:buChar char="•"/>
              <a:defRPr b="0"/>
            </a:lvl1pPr>
            <a:lvl2pPr marL="1219170" lvl="1" indent="-440256" algn="l" rtl="0">
              <a:lnSpc>
                <a:spcPct val="100000"/>
              </a:lnSpc>
              <a:spcBef>
                <a:spcPts val="400"/>
              </a:spcBef>
              <a:spcAft>
                <a:spcPts val="0"/>
              </a:spcAft>
              <a:buSzPts val="1600"/>
              <a:buFont typeface="Arial"/>
              <a:buChar char="•"/>
              <a:defRPr>
                <a:solidFill>
                  <a:srgbClr val="7F7F7F"/>
                </a:solidFill>
              </a:defRPr>
            </a:lvl2pPr>
            <a:lvl3pPr marL="1828754" lvl="2" indent="-440256" algn="l" rtl="0">
              <a:lnSpc>
                <a:spcPct val="100000"/>
              </a:lnSpc>
              <a:spcBef>
                <a:spcPts val="400"/>
              </a:spcBef>
              <a:spcAft>
                <a:spcPts val="0"/>
              </a:spcAft>
              <a:buClr>
                <a:schemeClr val="dk1"/>
              </a:buClr>
              <a:buSzPts val="1600"/>
              <a:buFont typeface="Arial"/>
              <a:buChar char="•"/>
              <a:defRPr>
                <a:solidFill>
                  <a:srgbClr val="7F7F7F"/>
                </a:solidFill>
              </a:defRPr>
            </a:lvl3pPr>
            <a:lvl4pPr marL="2438339" lvl="3" indent="-440256" algn="l" rtl="0">
              <a:lnSpc>
                <a:spcPct val="100000"/>
              </a:lnSpc>
              <a:spcBef>
                <a:spcPts val="400"/>
              </a:spcBef>
              <a:spcAft>
                <a:spcPts val="0"/>
              </a:spcAft>
              <a:buClr>
                <a:schemeClr val="dk1"/>
              </a:buClr>
              <a:buSzPts val="1600"/>
              <a:buFont typeface="Arial"/>
              <a:buChar char="•"/>
              <a:defRPr>
                <a:solidFill>
                  <a:srgbClr val="7F7F7F"/>
                </a:solidFill>
              </a:defRPr>
            </a:lvl4pPr>
            <a:lvl5pPr marL="3047924" lvl="4" indent="-423323" algn="l" rtl="0">
              <a:lnSpc>
                <a:spcPct val="90000"/>
              </a:lnSpc>
              <a:spcBef>
                <a:spcPts val="667"/>
              </a:spcBef>
              <a:spcAft>
                <a:spcPts val="0"/>
              </a:spcAft>
              <a:buClr>
                <a:schemeClr val="dk1"/>
              </a:buClr>
              <a:buSzPts val="1400"/>
              <a:buFont typeface="Arial"/>
              <a:buChar char="•"/>
              <a:defRPr>
                <a:solidFill>
                  <a:srgbClr val="7F7F7F"/>
                </a:solidFill>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73" name="Google Shape;73;p17"/>
          <p:cNvSpPr txBox="1">
            <a:spLocks noGrp="1"/>
          </p:cNvSpPr>
          <p:nvPr>
            <p:ph type="title"/>
          </p:nvPr>
        </p:nvSpPr>
        <p:spPr>
          <a:xfrm>
            <a:off x="403008" y="319081"/>
            <a:ext cx="11386000" cy="704400"/>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0"/>
              </a:spcBef>
              <a:spcAft>
                <a:spcPts val="0"/>
              </a:spcAft>
              <a:buClr>
                <a:srgbClr val="0069A5"/>
              </a:buClr>
              <a:buSzPts val="3000"/>
              <a:buNone/>
              <a:defRPr sz="40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4" name="Google Shape;74;p17"/>
          <p:cNvSpPr txBox="1">
            <a:spLocks noGrp="1"/>
          </p:cNvSpPr>
          <p:nvPr>
            <p:ph type="sldNum" idx="12"/>
          </p:nvPr>
        </p:nvSpPr>
        <p:spPr>
          <a:xfrm>
            <a:off x="11528100" y="6475567"/>
            <a:ext cx="460800" cy="277600"/>
          </a:xfrm>
          <a:prstGeom prst="rect">
            <a:avLst/>
          </a:prstGeom>
          <a:noFill/>
          <a:ln>
            <a:noFill/>
          </a:ln>
        </p:spPr>
        <p:txBody>
          <a:bodyPr spcFirstLastPara="1" wrap="square" lIns="91425" tIns="45700" rIns="0" bIns="45700" anchor="t"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75" name="Google Shape;75;p17"/>
          <p:cNvSpPr txBox="1">
            <a:spLocks noGrp="1"/>
          </p:cNvSpPr>
          <p:nvPr>
            <p:ph type="body" idx="2"/>
          </p:nvPr>
        </p:nvSpPr>
        <p:spPr>
          <a:xfrm>
            <a:off x="9114567" y="6504800"/>
            <a:ext cx="2674400" cy="277600"/>
          </a:xfrm>
          <a:prstGeom prst="rect">
            <a:avLst/>
          </a:prstGeom>
          <a:noFill/>
          <a:ln>
            <a:noFill/>
          </a:ln>
        </p:spPr>
        <p:txBody>
          <a:bodyPr spcFirstLastPara="1" wrap="square" lIns="91425" tIns="45700" rIns="91425" bIns="45700" anchor="t" anchorCtr="0">
            <a:normAutofit/>
          </a:bodyPr>
          <a:lstStyle>
            <a:lvl1pPr marL="609585" lvl="0" indent="-304792" algn="r" rtl="0">
              <a:lnSpc>
                <a:spcPct val="100000"/>
              </a:lnSpc>
              <a:spcBef>
                <a:spcPts val="800"/>
              </a:spcBef>
              <a:spcAft>
                <a:spcPts val="0"/>
              </a:spcAft>
              <a:buSzPts val="1000"/>
              <a:buNone/>
              <a:defRPr sz="1333"/>
            </a:lvl1pPr>
            <a:lvl2pPr marL="1219170" lvl="1" indent="-389457" algn="r" rtl="0">
              <a:lnSpc>
                <a:spcPct val="100000"/>
              </a:lnSpc>
              <a:spcBef>
                <a:spcPts val="400"/>
              </a:spcBef>
              <a:spcAft>
                <a:spcPts val="0"/>
              </a:spcAft>
              <a:buSzPts val="1000"/>
              <a:buChar char="•"/>
              <a:defRPr sz="1333"/>
            </a:lvl2pPr>
            <a:lvl3pPr marL="1828754" lvl="2" indent="-389457" algn="r" rtl="0">
              <a:lnSpc>
                <a:spcPct val="100000"/>
              </a:lnSpc>
              <a:spcBef>
                <a:spcPts val="400"/>
              </a:spcBef>
              <a:spcAft>
                <a:spcPts val="0"/>
              </a:spcAft>
              <a:buSzPts val="1000"/>
              <a:buChar char="•"/>
              <a:defRPr sz="1333"/>
            </a:lvl3pPr>
            <a:lvl4pPr marL="2438339" lvl="3" indent="-389457" algn="r" rtl="0">
              <a:lnSpc>
                <a:spcPct val="100000"/>
              </a:lnSpc>
              <a:spcBef>
                <a:spcPts val="400"/>
              </a:spcBef>
              <a:spcAft>
                <a:spcPts val="0"/>
              </a:spcAft>
              <a:buSzPts val="1000"/>
              <a:buChar char="•"/>
              <a:defRPr sz="1333"/>
            </a:lvl4pPr>
            <a:lvl5pPr marL="3047924" lvl="4" indent="-372524" algn="r" rtl="0">
              <a:lnSpc>
                <a:spcPct val="90000"/>
              </a:lnSpc>
              <a:spcBef>
                <a:spcPts val="667"/>
              </a:spcBef>
              <a:spcAft>
                <a:spcPts val="0"/>
              </a:spcAft>
              <a:buSzPts val="800"/>
              <a:buChar char="•"/>
              <a:defRPr sz="1067"/>
            </a:lvl5pPr>
            <a:lvl6pPr marL="3657509" lvl="5" indent="-406390" algn="r" rtl="0">
              <a:lnSpc>
                <a:spcPct val="90000"/>
              </a:lnSpc>
              <a:spcBef>
                <a:spcPts val="667"/>
              </a:spcBef>
              <a:spcAft>
                <a:spcPts val="0"/>
              </a:spcAft>
              <a:buSzPts val="1200"/>
              <a:buChar char="•"/>
              <a:defRPr sz="1600"/>
            </a:lvl6pPr>
            <a:lvl7pPr marL="4267093" lvl="6" indent="-406390" algn="r" rtl="0">
              <a:lnSpc>
                <a:spcPct val="90000"/>
              </a:lnSpc>
              <a:spcBef>
                <a:spcPts val="667"/>
              </a:spcBef>
              <a:spcAft>
                <a:spcPts val="0"/>
              </a:spcAft>
              <a:buSzPts val="1200"/>
              <a:buChar char="•"/>
              <a:defRPr sz="1600"/>
            </a:lvl7pPr>
            <a:lvl8pPr marL="4876678" lvl="7" indent="-406390" algn="r" rtl="0">
              <a:lnSpc>
                <a:spcPct val="90000"/>
              </a:lnSpc>
              <a:spcBef>
                <a:spcPts val="667"/>
              </a:spcBef>
              <a:spcAft>
                <a:spcPts val="0"/>
              </a:spcAft>
              <a:buSzPts val="1200"/>
              <a:buChar char="•"/>
              <a:defRPr sz="1600"/>
            </a:lvl8pPr>
            <a:lvl9pPr marL="5486263" lvl="8" indent="-406390" algn="r" rtl="0">
              <a:lnSpc>
                <a:spcPct val="90000"/>
              </a:lnSpc>
              <a:spcBef>
                <a:spcPts val="667"/>
              </a:spcBef>
              <a:spcAft>
                <a:spcPts val="0"/>
              </a:spcAft>
              <a:buSzPts val="1200"/>
              <a:buChar char="•"/>
              <a:defRPr sz="1600"/>
            </a:lvl9pPr>
          </a:lstStyle>
          <a:p>
            <a:endParaRPr/>
          </a:p>
        </p:txBody>
      </p:sp>
    </p:spTree>
    <p:extLst>
      <p:ext uri="{BB962C8B-B14F-4D97-AF65-F5344CB8AC3E}">
        <p14:creationId xmlns:p14="http://schemas.microsoft.com/office/powerpoint/2010/main" val="3540645262"/>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0D9E72-110D-42EB-A9EB-20227AF303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0A8B08-C65D-E4C2-C531-9DE7600D37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915FC-5581-EF47-1CA6-15E886C700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4659BE17-C0E2-498F-0B2D-1620F79E30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6FF4990-A029-F8B4-4693-E4805D83C1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2AB823-F179-4A4C-877B-2E0B011C8AA4}" type="slidenum">
              <a:rPr lang="en-US" smtClean="0"/>
              <a:t>‹#›</a:t>
            </a:fld>
            <a:endParaRPr lang="en-US"/>
          </a:p>
        </p:txBody>
      </p:sp>
    </p:spTree>
    <p:extLst>
      <p:ext uri="{BB962C8B-B14F-4D97-AF65-F5344CB8AC3E}">
        <p14:creationId xmlns:p14="http://schemas.microsoft.com/office/powerpoint/2010/main" val="1532115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4.jpeg"/><Relationship Id="rId7" Type="http://schemas.openxmlformats.org/officeDocument/2006/relationships/diagramColors" Target="../diagrams/colors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4.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png"/><Relationship Id="rId2" Type="http://schemas.openxmlformats.org/officeDocument/2006/relationships/notesSlide" Target="../notesSlides/notesSlide8.xml"/><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2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21.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7.png"/><Relationship Id="rId7" Type="http://schemas.openxmlformats.org/officeDocument/2006/relationships/image" Target="../media/image69.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22.png"/><Relationship Id="rId10" Type="http://schemas.openxmlformats.org/officeDocument/2006/relationships/image" Target="../media/image72.png"/><Relationship Id="rId4" Type="http://schemas.openxmlformats.org/officeDocument/2006/relationships/image" Target="../media/image68.png"/><Relationship Id="rId9" Type="http://schemas.openxmlformats.org/officeDocument/2006/relationships/image" Target="../media/image71.png"/></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4" name="Rectangle 1033">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B22B74-C2B0-49B6-2DFC-81A894F8A3B8}"/>
              </a:ext>
            </a:extLst>
          </p:cNvPr>
          <p:cNvSpPr>
            <a:spLocks noGrp="1"/>
          </p:cNvSpPr>
          <p:nvPr>
            <p:ph type="ctrTitle"/>
          </p:nvPr>
        </p:nvSpPr>
        <p:spPr>
          <a:xfrm>
            <a:off x="890338" y="640080"/>
            <a:ext cx="3734014" cy="3566160"/>
          </a:xfrm>
        </p:spPr>
        <p:txBody>
          <a:bodyPr anchor="b">
            <a:normAutofit/>
          </a:bodyPr>
          <a:lstStyle/>
          <a:p>
            <a:pPr algn="l"/>
            <a:r>
              <a:rPr lang="en-US" sz="3200" dirty="0"/>
              <a:t>Characterization of the Intrinsic Neural Timescale Indices as a Reliable Fingerprint of Brain Dynamics</a:t>
            </a:r>
          </a:p>
        </p:txBody>
      </p:sp>
      <p:sp>
        <p:nvSpPr>
          <p:cNvPr id="3" name="Subtitle 2">
            <a:extLst>
              <a:ext uri="{FF2B5EF4-FFF2-40B4-BE49-F238E27FC236}">
                <a16:creationId xmlns:a16="http://schemas.microsoft.com/office/drawing/2014/main" id="{6C7399A7-606D-D613-058D-FF906480A246}"/>
              </a:ext>
            </a:extLst>
          </p:cNvPr>
          <p:cNvSpPr>
            <a:spLocks noGrp="1"/>
          </p:cNvSpPr>
          <p:nvPr>
            <p:ph type="subTitle" idx="1"/>
          </p:nvPr>
        </p:nvSpPr>
        <p:spPr>
          <a:xfrm>
            <a:off x="890339" y="4636008"/>
            <a:ext cx="3734014" cy="1572768"/>
          </a:xfrm>
        </p:spPr>
        <p:txBody>
          <a:bodyPr>
            <a:normAutofit/>
          </a:bodyPr>
          <a:lstStyle/>
          <a:p>
            <a:pPr marL="0" lvl="0" indent="0" algn="l" rtl="0">
              <a:spcBef>
                <a:spcPts val="0"/>
              </a:spcBef>
              <a:spcAft>
                <a:spcPts val="0"/>
              </a:spcAft>
              <a:buClr>
                <a:srgbClr val="888888"/>
              </a:buClr>
              <a:buSzPts val="3200"/>
              <a:buNone/>
            </a:pPr>
            <a:r>
              <a:rPr lang="en-US" sz="1700" dirty="0"/>
              <a:t>Helya Honarpisheh</a:t>
            </a:r>
          </a:p>
          <a:p>
            <a:pPr marL="0" lvl="0" indent="0" algn="l" rtl="0">
              <a:spcBef>
                <a:spcPts val="448"/>
              </a:spcBef>
              <a:spcAft>
                <a:spcPts val="0"/>
              </a:spcAft>
              <a:buClr>
                <a:srgbClr val="888888"/>
              </a:buClr>
              <a:buSzPts val="3200"/>
              <a:buNone/>
            </a:pPr>
            <a:r>
              <a:rPr lang="en-US" sz="1700" dirty="0"/>
              <a:t>Biomedical Engineering</a:t>
            </a:r>
          </a:p>
          <a:p>
            <a:pPr marL="0" lvl="0" indent="0" algn="l" rtl="0">
              <a:spcBef>
                <a:spcPts val="448"/>
              </a:spcBef>
              <a:spcAft>
                <a:spcPts val="0"/>
              </a:spcAft>
              <a:buClr>
                <a:srgbClr val="888888"/>
              </a:buClr>
              <a:buSzPts val="3200"/>
              <a:buNone/>
            </a:pPr>
            <a:r>
              <a:rPr lang="en-US" sz="1700" dirty="0"/>
              <a:t>The City College of New York</a:t>
            </a:r>
          </a:p>
          <a:p>
            <a:pPr marL="0" lvl="0" indent="0" algn="l" rtl="0">
              <a:spcBef>
                <a:spcPts val="448"/>
              </a:spcBef>
              <a:spcAft>
                <a:spcPts val="0"/>
              </a:spcAft>
              <a:buClr>
                <a:srgbClr val="888888"/>
              </a:buClr>
              <a:buSzPts val="3200"/>
              <a:buNone/>
            </a:pPr>
            <a:endParaRPr lang="en-US" sz="1700" dirty="0"/>
          </a:p>
          <a:p>
            <a:pPr marL="0" lvl="0" indent="0" algn="l" rtl="0">
              <a:spcBef>
                <a:spcPts val="448"/>
              </a:spcBef>
              <a:spcAft>
                <a:spcPts val="0"/>
              </a:spcAft>
              <a:buClr>
                <a:srgbClr val="888888"/>
              </a:buClr>
              <a:buSzPts val="3200"/>
              <a:buNone/>
            </a:pPr>
            <a:r>
              <a:rPr lang="en-US" sz="1700" dirty="0"/>
              <a:t>May 2026</a:t>
            </a:r>
          </a:p>
          <a:p>
            <a:pPr algn="l"/>
            <a:endParaRPr lang="en-US" sz="1700" dirty="0"/>
          </a:p>
        </p:txBody>
      </p:sp>
      <p:sp>
        <p:nvSpPr>
          <p:cNvPr id="1033"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C4011547-4D6A-87FF-285E-79D9F51178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03"/>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A4864D0-0487-3A5E-EBB8-827AEB35D7E2}"/>
              </a:ext>
            </a:extLst>
          </p:cNvPr>
          <p:cNvSpPr>
            <a:spLocks noGrp="1"/>
          </p:cNvSpPr>
          <p:nvPr>
            <p:ph type="sldNum" sz="quarter" idx="12"/>
          </p:nvPr>
        </p:nvSpPr>
        <p:spPr/>
        <p:txBody>
          <a:bodyPr/>
          <a:lstStyle/>
          <a:p>
            <a:fld id="{ED2AB823-F179-4A4C-877B-2E0B011C8AA4}" type="slidenum">
              <a:rPr lang="en-US" smtClean="0"/>
              <a:t>1</a:t>
            </a:fld>
            <a:endParaRPr lang="en-US"/>
          </a:p>
        </p:txBody>
      </p:sp>
    </p:spTree>
    <p:extLst>
      <p:ext uri="{BB962C8B-B14F-4D97-AF65-F5344CB8AC3E}">
        <p14:creationId xmlns:p14="http://schemas.microsoft.com/office/powerpoint/2010/main" val="1111169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3" name="Rectangle 172">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9" name="Group 168">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70" name="Rectangle 169">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Rectangle 171">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1371598" y="319314"/>
            <a:ext cx="9477377" cy="1030515"/>
          </a:xfrm>
        </p:spPr>
        <p:txBody>
          <a:bodyPr anchor="ctr">
            <a:normAutofit/>
          </a:bodyPr>
          <a:lstStyle/>
          <a:p>
            <a:r>
              <a:rPr lang="en-US" sz="4000">
                <a:solidFill>
                  <a:srgbClr val="FFFFFF"/>
                </a:solidFill>
              </a:rPr>
              <a:t>INTs and Temporal Hierarchy</a:t>
            </a:r>
          </a:p>
        </p:txBody>
      </p:sp>
      <p:pic>
        <p:nvPicPr>
          <p:cNvPr id="161" name="Google Shape;161;p28"/>
          <p:cNvPicPr preferRelativeResize="0"/>
          <p:nvPr/>
        </p:nvPicPr>
        <p:blipFill rotWithShape="1">
          <a:blip r:embed="rId3"/>
          <a:srcRect r="32528"/>
          <a:stretch/>
        </p:blipFill>
        <p:spPr>
          <a:xfrm>
            <a:off x="6414482" y="2026580"/>
            <a:ext cx="4307289" cy="2617365"/>
          </a:xfrm>
          <a:prstGeom prst="rect">
            <a:avLst/>
          </a:prstGeom>
          <a:noFill/>
        </p:spPr>
      </p:pic>
      <p:pic>
        <p:nvPicPr>
          <p:cNvPr id="162" name="Google Shape;162;p28"/>
          <p:cNvPicPr preferRelativeResize="0"/>
          <p:nvPr/>
        </p:nvPicPr>
        <p:blipFill>
          <a:blip r:embed="rId4"/>
          <a:stretch>
            <a:fillRect/>
          </a:stretch>
        </p:blipFill>
        <p:spPr>
          <a:xfrm>
            <a:off x="1177165" y="2525994"/>
            <a:ext cx="4600354" cy="1593823"/>
          </a:xfrm>
          <a:prstGeom prst="rect">
            <a:avLst/>
          </a:prstGeom>
          <a:noFill/>
        </p:spPr>
      </p:pic>
      <p:sp>
        <p:nvSpPr>
          <p:cNvPr id="3" name="Content Placeholder 2"/>
          <p:cNvSpPr>
            <a:spLocks noGrp="1"/>
          </p:cNvSpPr>
          <p:nvPr>
            <p:ph idx="1"/>
          </p:nvPr>
        </p:nvSpPr>
        <p:spPr>
          <a:xfrm>
            <a:off x="1371598" y="5070346"/>
            <a:ext cx="9496427" cy="1385266"/>
          </a:xfrm>
        </p:spPr>
        <p:txBody>
          <a:bodyPr>
            <a:normAutofit/>
          </a:bodyPr>
          <a:lstStyle/>
          <a:p>
            <a:r>
              <a:rPr lang="en-US" sz="2000" dirty="0"/>
              <a:t>Based on relational time concept</a:t>
            </a:r>
          </a:p>
          <a:p>
            <a:r>
              <a:rPr lang="en-US" sz="2000" dirty="0"/>
              <a:t>Short timescales: sensory areas</a:t>
            </a:r>
          </a:p>
          <a:p>
            <a:r>
              <a:rPr lang="en-US" sz="2000" dirty="0"/>
              <a:t>Long timescales: DMN, prefrontal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2"/>
                                        </p:tgtEl>
                                        <p:attrNameLst>
                                          <p:attrName>style.visibility</p:attrName>
                                        </p:attrNameLst>
                                      </p:cBhvr>
                                      <p:to>
                                        <p:strVal val="visible"/>
                                      </p:to>
                                    </p:set>
                                    <p:animEffect transition="in" filter="fade">
                                      <p:cBhvr>
                                        <p:cTn id="10" dur="500"/>
                                        <p:tgtEl>
                                          <p:spTgt spid="16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1"/>
                                        </p:tgtEl>
                                        <p:attrNameLst>
                                          <p:attrName>style.visibility</p:attrName>
                                        </p:attrNameLst>
                                      </p:cBhvr>
                                      <p:to>
                                        <p:strVal val="visible"/>
                                      </p:to>
                                    </p:set>
                                    <p:animEffect transition="in" filter="fade">
                                      <p:cBhvr>
                                        <p:cTn id="25" dur="5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Input Processing</a:t>
            </a:r>
          </a:p>
        </p:txBody>
      </p:sp>
      <p:sp>
        <p:nvSpPr>
          <p:cNvPr id="138" name="Google Shape;138;p27"/>
          <p:cNvSpPr txBox="1">
            <a:spLocks/>
          </p:cNvSpPr>
          <p:nvPr/>
        </p:nvSpPr>
        <p:spPr>
          <a:xfrm>
            <a:off x="785136" y="1548043"/>
            <a:ext cx="11386000" cy="5163600"/>
          </a:xfrm>
          <a:prstGeom prst="rect">
            <a:avLst/>
          </a:prstGeom>
        </p:spPr>
        <p:txBody>
          <a:bodyPr spcFirstLastPara="1" vert="horz" wrap="square" lIns="121900" tIns="60933" rIns="121900" bIns="60933"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buFont typeface="Arial" panose="020B0604020202020204" pitchFamily="34" charset="0"/>
              <a:buNone/>
            </a:pPr>
            <a:endParaRPr lang="en-US"/>
          </a:p>
          <a:p>
            <a:pPr marL="0" indent="0">
              <a:buFont typeface="Arial" panose="020B0604020202020204" pitchFamily="34" charset="0"/>
              <a:buNone/>
            </a:pPr>
            <a:endParaRPr lang="en-US"/>
          </a:p>
        </p:txBody>
      </p:sp>
      <p:sp>
        <p:nvSpPr>
          <p:cNvPr id="140" name="Google Shape;140;p27"/>
          <p:cNvSpPr txBox="1">
            <a:spLocks noGrp="1"/>
          </p:cNvSpPr>
          <p:nvPr>
            <p:ph type="sldNum" idx="12"/>
          </p:nvPr>
        </p:nvSpPr>
        <p:spPr>
          <a:xfrm>
            <a:off x="11528100" y="6711543"/>
            <a:ext cx="460800" cy="277600"/>
          </a:xfrm>
          <a:prstGeom prst="rect">
            <a:avLst/>
          </a:prstGeom>
        </p:spPr>
        <p:txBody>
          <a:bodyPr spcFirstLastPara="1" vert="horz" wrap="square" lIns="121900" tIns="60933" rIns="0" bIns="60933" rtlCol="0" anchor="t" anchorCtr="0">
            <a:noAutofit/>
          </a:bodyPr>
          <a:lstStyle/>
          <a:p>
            <a:fld id="{00000000-1234-1234-1234-123412341234}" type="slidenum">
              <a:rPr lang="en"/>
              <a:pPr/>
              <a:t>3</a:t>
            </a:fld>
            <a:endParaRPr/>
          </a:p>
        </p:txBody>
      </p:sp>
      <p:pic>
        <p:nvPicPr>
          <p:cNvPr id="142" name="Google Shape;142;p27"/>
          <p:cNvPicPr preferRelativeResize="0"/>
          <p:nvPr/>
        </p:nvPicPr>
        <p:blipFill>
          <a:blip r:embed="rId3">
            <a:alphaModFix/>
          </a:blip>
          <a:stretch>
            <a:fillRect/>
          </a:stretch>
        </p:blipFill>
        <p:spPr>
          <a:xfrm>
            <a:off x="3769352" y="1483215"/>
            <a:ext cx="2427800" cy="1772395"/>
          </a:xfrm>
          <a:prstGeom prst="rect">
            <a:avLst/>
          </a:prstGeom>
          <a:noFill/>
          <a:ln>
            <a:noFill/>
          </a:ln>
          <a:effectLst>
            <a:outerShdw blurRad="57150" dist="19050" dir="5400000" algn="bl" rotWithShape="0">
              <a:srgbClr val="000000">
                <a:alpha val="49000"/>
              </a:srgbClr>
            </a:outerShdw>
          </a:effectLst>
        </p:spPr>
      </p:pic>
      <p:pic>
        <p:nvPicPr>
          <p:cNvPr id="143" name="Google Shape;143;p27"/>
          <p:cNvPicPr preferRelativeResize="0"/>
          <p:nvPr/>
        </p:nvPicPr>
        <p:blipFill>
          <a:blip r:embed="rId4">
            <a:alphaModFix/>
          </a:blip>
          <a:stretch>
            <a:fillRect/>
          </a:stretch>
        </p:blipFill>
        <p:spPr>
          <a:xfrm>
            <a:off x="3769336" y="5090476"/>
            <a:ext cx="2427816" cy="1292733"/>
          </a:xfrm>
          <a:prstGeom prst="rect">
            <a:avLst/>
          </a:prstGeom>
          <a:noFill/>
          <a:ln>
            <a:noFill/>
          </a:ln>
        </p:spPr>
      </p:pic>
      <p:pic>
        <p:nvPicPr>
          <p:cNvPr id="144" name="Google Shape;144;p27"/>
          <p:cNvPicPr preferRelativeResize="0"/>
          <p:nvPr/>
        </p:nvPicPr>
        <p:blipFill>
          <a:blip r:embed="rId5">
            <a:alphaModFix/>
          </a:blip>
          <a:stretch>
            <a:fillRect/>
          </a:stretch>
        </p:blipFill>
        <p:spPr>
          <a:xfrm>
            <a:off x="6689002" y="1484012"/>
            <a:ext cx="1770767" cy="1770797"/>
          </a:xfrm>
          <a:prstGeom prst="rect">
            <a:avLst/>
          </a:prstGeom>
          <a:noFill/>
          <a:ln>
            <a:noFill/>
          </a:ln>
        </p:spPr>
      </p:pic>
      <p:pic>
        <p:nvPicPr>
          <p:cNvPr id="145" name="Google Shape;145;p27"/>
          <p:cNvPicPr preferRelativeResize="0"/>
          <p:nvPr/>
        </p:nvPicPr>
        <p:blipFill>
          <a:blip r:embed="rId6">
            <a:alphaModFix/>
          </a:blip>
          <a:stretch>
            <a:fillRect/>
          </a:stretch>
        </p:blipFill>
        <p:spPr>
          <a:xfrm>
            <a:off x="9319832" y="2835866"/>
            <a:ext cx="2674401" cy="2674353"/>
          </a:xfrm>
          <a:prstGeom prst="rect">
            <a:avLst/>
          </a:prstGeom>
          <a:noFill/>
          <a:ln>
            <a:noFill/>
          </a:ln>
        </p:spPr>
      </p:pic>
      <p:sp>
        <p:nvSpPr>
          <p:cNvPr id="146" name="Google Shape;146;p27"/>
          <p:cNvSpPr/>
          <p:nvPr/>
        </p:nvSpPr>
        <p:spPr>
          <a:xfrm>
            <a:off x="8636636" y="1498443"/>
            <a:ext cx="683200" cy="5349200"/>
          </a:xfrm>
          <a:prstGeom prst="rightArrowCallout">
            <a:avLst>
              <a:gd name="adj1" fmla="val 0"/>
              <a:gd name="adj2" fmla="val 25000"/>
              <a:gd name="adj3" fmla="val 25000"/>
              <a:gd name="adj4" fmla="val 64977"/>
            </a:avLst>
          </a:prstGeom>
          <a:solidFill>
            <a:srgbClr val="434343"/>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Open Sans"/>
              <a:ea typeface="Open Sans"/>
              <a:cs typeface="Open Sans"/>
              <a:sym typeface="Open Sans"/>
            </a:endParaRPr>
          </a:p>
        </p:txBody>
      </p:sp>
      <p:pic>
        <p:nvPicPr>
          <p:cNvPr id="147" name="Google Shape;147;p27"/>
          <p:cNvPicPr preferRelativeResize="0"/>
          <p:nvPr/>
        </p:nvPicPr>
        <p:blipFill>
          <a:blip r:embed="rId7">
            <a:alphaModFix/>
          </a:blip>
          <a:stretch>
            <a:fillRect/>
          </a:stretch>
        </p:blipFill>
        <p:spPr>
          <a:xfrm>
            <a:off x="382136" y="3112143"/>
            <a:ext cx="2895373" cy="2121800"/>
          </a:xfrm>
          <a:prstGeom prst="rect">
            <a:avLst/>
          </a:prstGeom>
          <a:noFill/>
          <a:ln>
            <a:noFill/>
          </a:ln>
        </p:spPr>
      </p:pic>
      <p:cxnSp>
        <p:nvCxnSpPr>
          <p:cNvPr id="148" name="Google Shape;148;p27"/>
          <p:cNvCxnSpPr>
            <a:cxnSpLocks/>
            <a:endCxn id="144" idx="1"/>
          </p:cNvCxnSpPr>
          <p:nvPr/>
        </p:nvCxnSpPr>
        <p:spPr>
          <a:xfrm>
            <a:off x="6197001" y="2369411"/>
            <a:ext cx="492000" cy="0"/>
          </a:xfrm>
          <a:prstGeom prst="straightConnector1">
            <a:avLst/>
          </a:prstGeom>
          <a:noFill/>
          <a:ln w="19050" cap="flat" cmpd="sng">
            <a:solidFill>
              <a:schemeClr val="dk2"/>
            </a:solidFill>
            <a:prstDash val="solid"/>
            <a:round/>
            <a:headEnd type="none" w="med" len="med"/>
            <a:tailEnd type="triangle" w="med" len="med"/>
          </a:ln>
        </p:spPr>
      </p:cxnSp>
      <p:cxnSp>
        <p:nvCxnSpPr>
          <p:cNvPr id="149" name="Google Shape;149;p27"/>
          <p:cNvCxnSpPr>
            <a:cxnSpLocks/>
            <a:stCxn id="147" idx="3"/>
            <a:endCxn id="142" idx="1"/>
          </p:cNvCxnSpPr>
          <p:nvPr/>
        </p:nvCxnSpPr>
        <p:spPr>
          <a:xfrm rot="10800000" flipH="1">
            <a:off x="3277509" y="2369443"/>
            <a:ext cx="492000" cy="1803600"/>
          </a:xfrm>
          <a:prstGeom prst="straightConnector1">
            <a:avLst/>
          </a:prstGeom>
          <a:noFill/>
          <a:ln w="19050" cap="flat" cmpd="sng">
            <a:solidFill>
              <a:schemeClr val="dk2"/>
            </a:solidFill>
            <a:prstDash val="solid"/>
            <a:round/>
            <a:headEnd type="none" w="med" len="med"/>
            <a:tailEnd type="triangle" w="med" len="med"/>
          </a:ln>
        </p:spPr>
      </p:cxnSp>
      <p:cxnSp>
        <p:nvCxnSpPr>
          <p:cNvPr id="150" name="Google Shape;150;p27"/>
          <p:cNvCxnSpPr>
            <a:cxnSpLocks/>
            <a:stCxn id="147" idx="3"/>
          </p:cNvCxnSpPr>
          <p:nvPr/>
        </p:nvCxnSpPr>
        <p:spPr>
          <a:xfrm>
            <a:off x="3277509" y="4173043"/>
            <a:ext cx="492000" cy="0"/>
          </a:xfrm>
          <a:prstGeom prst="straightConnector1">
            <a:avLst/>
          </a:prstGeom>
          <a:noFill/>
          <a:ln w="19050" cap="flat" cmpd="sng">
            <a:solidFill>
              <a:schemeClr val="dk2"/>
            </a:solidFill>
            <a:prstDash val="solid"/>
            <a:round/>
            <a:headEnd type="none" w="med" len="med"/>
            <a:tailEnd type="triangle" w="med" len="med"/>
          </a:ln>
        </p:spPr>
      </p:cxnSp>
      <p:cxnSp>
        <p:nvCxnSpPr>
          <p:cNvPr id="152" name="Google Shape;152;p27"/>
          <p:cNvCxnSpPr>
            <a:cxnSpLocks/>
            <a:stCxn id="147" idx="3"/>
            <a:endCxn id="143" idx="1"/>
          </p:cNvCxnSpPr>
          <p:nvPr/>
        </p:nvCxnSpPr>
        <p:spPr>
          <a:xfrm>
            <a:off x="3277509" y="4173043"/>
            <a:ext cx="492000" cy="1564000"/>
          </a:xfrm>
          <a:prstGeom prst="straightConnector1">
            <a:avLst/>
          </a:prstGeom>
          <a:noFill/>
          <a:ln w="19050" cap="flat" cmpd="sng">
            <a:solidFill>
              <a:schemeClr val="dk2"/>
            </a:solidFill>
            <a:prstDash val="solid"/>
            <a:round/>
            <a:headEnd type="none" w="med" len="med"/>
            <a:tailEnd type="triangle" w="med" len="med"/>
          </a:ln>
        </p:spPr>
      </p:cxnSp>
      <p:pic>
        <p:nvPicPr>
          <p:cNvPr id="153" name="Google Shape;153;p27"/>
          <p:cNvPicPr preferRelativeResize="0"/>
          <p:nvPr/>
        </p:nvPicPr>
        <p:blipFill>
          <a:blip r:embed="rId8">
            <a:alphaModFix/>
          </a:blip>
          <a:stretch>
            <a:fillRect/>
          </a:stretch>
        </p:blipFill>
        <p:spPr>
          <a:xfrm>
            <a:off x="3769336" y="3450060"/>
            <a:ext cx="2427800" cy="135956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38"/>
                                        </p:tgtEl>
                                        <p:attrNameLst>
                                          <p:attrName>style.visibility</p:attrName>
                                        </p:attrNameLst>
                                      </p:cBhvr>
                                      <p:to>
                                        <p:strVal val="visible"/>
                                      </p:to>
                                    </p:set>
                                    <p:anim calcmode="lin" valueType="num">
                                      <p:cBhvr additive="base">
                                        <p:cTn id="7" dur="2000" fill="hold"/>
                                        <p:tgtEl>
                                          <p:spTgt spid="138"/>
                                        </p:tgtEl>
                                        <p:attrNameLst>
                                          <p:attrName>ppt_x</p:attrName>
                                        </p:attrNameLst>
                                      </p:cBhvr>
                                      <p:tavLst>
                                        <p:tav tm="0">
                                          <p:val>
                                            <p:strVal val="0-#ppt_w/2"/>
                                          </p:val>
                                        </p:tav>
                                        <p:tav tm="100000">
                                          <p:val>
                                            <p:strVal val="#ppt_x"/>
                                          </p:val>
                                        </p:tav>
                                      </p:tavLst>
                                    </p:anim>
                                    <p:anim calcmode="lin" valueType="num">
                                      <p:cBhvr additive="base">
                                        <p:cTn id="8" dur="2000" fill="hold"/>
                                        <p:tgtEl>
                                          <p:spTgt spid="138"/>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42"/>
                                        </p:tgtEl>
                                        <p:attrNameLst>
                                          <p:attrName>style.visibility</p:attrName>
                                        </p:attrNameLst>
                                      </p:cBhvr>
                                      <p:to>
                                        <p:strVal val="visible"/>
                                      </p:to>
                                    </p:set>
                                    <p:anim calcmode="lin" valueType="num">
                                      <p:cBhvr additive="base">
                                        <p:cTn id="11" dur="2000" fill="hold"/>
                                        <p:tgtEl>
                                          <p:spTgt spid="142"/>
                                        </p:tgtEl>
                                        <p:attrNameLst>
                                          <p:attrName>ppt_x</p:attrName>
                                        </p:attrNameLst>
                                      </p:cBhvr>
                                      <p:tavLst>
                                        <p:tav tm="0">
                                          <p:val>
                                            <p:strVal val="0-#ppt_w/2"/>
                                          </p:val>
                                        </p:tav>
                                        <p:tav tm="100000">
                                          <p:val>
                                            <p:strVal val="#ppt_x"/>
                                          </p:val>
                                        </p:tav>
                                      </p:tavLst>
                                    </p:anim>
                                    <p:anim calcmode="lin" valueType="num">
                                      <p:cBhvr additive="base">
                                        <p:cTn id="12" dur="2000" fill="hold"/>
                                        <p:tgtEl>
                                          <p:spTgt spid="142"/>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43"/>
                                        </p:tgtEl>
                                        <p:attrNameLst>
                                          <p:attrName>style.visibility</p:attrName>
                                        </p:attrNameLst>
                                      </p:cBhvr>
                                      <p:to>
                                        <p:strVal val="visible"/>
                                      </p:to>
                                    </p:set>
                                    <p:anim calcmode="lin" valueType="num">
                                      <p:cBhvr additive="base">
                                        <p:cTn id="15" dur="2000" fill="hold"/>
                                        <p:tgtEl>
                                          <p:spTgt spid="143"/>
                                        </p:tgtEl>
                                        <p:attrNameLst>
                                          <p:attrName>ppt_x</p:attrName>
                                        </p:attrNameLst>
                                      </p:cBhvr>
                                      <p:tavLst>
                                        <p:tav tm="0">
                                          <p:val>
                                            <p:strVal val="0-#ppt_w/2"/>
                                          </p:val>
                                        </p:tav>
                                        <p:tav tm="100000">
                                          <p:val>
                                            <p:strVal val="#ppt_x"/>
                                          </p:val>
                                        </p:tav>
                                      </p:tavLst>
                                    </p:anim>
                                    <p:anim calcmode="lin" valueType="num">
                                      <p:cBhvr additive="base">
                                        <p:cTn id="16" dur="2000" fill="hold"/>
                                        <p:tgtEl>
                                          <p:spTgt spid="143"/>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144"/>
                                        </p:tgtEl>
                                        <p:attrNameLst>
                                          <p:attrName>style.visibility</p:attrName>
                                        </p:attrNameLst>
                                      </p:cBhvr>
                                      <p:to>
                                        <p:strVal val="visible"/>
                                      </p:to>
                                    </p:set>
                                    <p:anim calcmode="lin" valueType="num">
                                      <p:cBhvr additive="base">
                                        <p:cTn id="19" dur="2000" fill="hold"/>
                                        <p:tgtEl>
                                          <p:spTgt spid="144"/>
                                        </p:tgtEl>
                                        <p:attrNameLst>
                                          <p:attrName>ppt_x</p:attrName>
                                        </p:attrNameLst>
                                      </p:cBhvr>
                                      <p:tavLst>
                                        <p:tav tm="0">
                                          <p:val>
                                            <p:strVal val="0-#ppt_w/2"/>
                                          </p:val>
                                        </p:tav>
                                        <p:tav tm="100000">
                                          <p:val>
                                            <p:strVal val="#ppt_x"/>
                                          </p:val>
                                        </p:tav>
                                      </p:tavLst>
                                    </p:anim>
                                    <p:anim calcmode="lin" valueType="num">
                                      <p:cBhvr additive="base">
                                        <p:cTn id="20" dur="2000" fill="hold"/>
                                        <p:tgtEl>
                                          <p:spTgt spid="144"/>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45"/>
                                        </p:tgtEl>
                                        <p:attrNameLst>
                                          <p:attrName>style.visibility</p:attrName>
                                        </p:attrNameLst>
                                      </p:cBhvr>
                                      <p:to>
                                        <p:strVal val="visible"/>
                                      </p:to>
                                    </p:set>
                                    <p:anim calcmode="lin" valueType="num">
                                      <p:cBhvr additive="base">
                                        <p:cTn id="23" dur="2000" fill="hold"/>
                                        <p:tgtEl>
                                          <p:spTgt spid="145"/>
                                        </p:tgtEl>
                                        <p:attrNameLst>
                                          <p:attrName>ppt_x</p:attrName>
                                        </p:attrNameLst>
                                      </p:cBhvr>
                                      <p:tavLst>
                                        <p:tav tm="0">
                                          <p:val>
                                            <p:strVal val="0-#ppt_w/2"/>
                                          </p:val>
                                        </p:tav>
                                        <p:tav tm="100000">
                                          <p:val>
                                            <p:strVal val="#ppt_x"/>
                                          </p:val>
                                        </p:tav>
                                      </p:tavLst>
                                    </p:anim>
                                    <p:anim calcmode="lin" valueType="num">
                                      <p:cBhvr additive="base">
                                        <p:cTn id="24" dur="2000" fill="hold"/>
                                        <p:tgtEl>
                                          <p:spTgt spid="145"/>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46"/>
                                        </p:tgtEl>
                                        <p:attrNameLst>
                                          <p:attrName>style.visibility</p:attrName>
                                        </p:attrNameLst>
                                      </p:cBhvr>
                                      <p:to>
                                        <p:strVal val="visible"/>
                                      </p:to>
                                    </p:set>
                                    <p:anim calcmode="lin" valueType="num">
                                      <p:cBhvr additive="base">
                                        <p:cTn id="27" dur="2000" fill="hold"/>
                                        <p:tgtEl>
                                          <p:spTgt spid="146"/>
                                        </p:tgtEl>
                                        <p:attrNameLst>
                                          <p:attrName>ppt_x</p:attrName>
                                        </p:attrNameLst>
                                      </p:cBhvr>
                                      <p:tavLst>
                                        <p:tav tm="0">
                                          <p:val>
                                            <p:strVal val="0-#ppt_w/2"/>
                                          </p:val>
                                        </p:tav>
                                        <p:tav tm="100000">
                                          <p:val>
                                            <p:strVal val="#ppt_x"/>
                                          </p:val>
                                        </p:tav>
                                      </p:tavLst>
                                    </p:anim>
                                    <p:anim calcmode="lin" valueType="num">
                                      <p:cBhvr additive="base">
                                        <p:cTn id="28" dur="2000" fill="hold"/>
                                        <p:tgtEl>
                                          <p:spTgt spid="146"/>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147"/>
                                        </p:tgtEl>
                                        <p:attrNameLst>
                                          <p:attrName>style.visibility</p:attrName>
                                        </p:attrNameLst>
                                      </p:cBhvr>
                                      <p:to>
                                        <p:strVal val="visible"/>
                                      </p:to>
                                    </p:set>
                                    <p:anim calcmode="lin" valueType="num">
                                      <p:cBhvr additive="base">
                                        <p:cTn id="31" dur="2000" fill="hold"/>
                                        <p:tgtEl>
                                          <p:spTgt spid="147"/>
                                        </p:tgtEl>
                                        <p:attrNameLst>
                                          <p:attrName>ppt_x</p:attrName>
                                        </p:attrNameLst>
                                      </p:cBhvr>
                                      <p:tavLst>
                                        <p:tav tm="0">
                                          <p:val>
                                            <p:strVal val="0-#ppt_w/2"/>
                                          </p:val>
                                        </p:tav>
                                        <p:tav tm="100000">
                                          <p:val>
                                            <p:strVal val="#ppt_x"/>
                                          </p:val>
                                        </p:tav>
                                      </p:tavLst>
                                    </p:anim>
                                    <p:anim calcmode="lin" valueType="num">
                                      <p:cBhvr additive="base">
                                        <p:cTn id="32" dur="2000" fill="hold"/>
                                        <p:tgtEl>
                                          <p:spTgt spid="147"/>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148"/>
                                        </p:tgtEl>
                                        <p:attrNameLst>
                                          <p:attrName>style.visibility</p:attrName>
                                        </p:attrNameLst>
                                      </p:cBhvr>
                                      <p:to>
                                        <p:strVal val="visible"/>
                                      </p:to>
                                    </p:set>
                                    <p:anim calcmode="lin" valueType="num">
                                      <p:cBhvr additive="base">
                                        <p:cTn id="35" dur="2000" fill="hold"/>
                                        <p:tgtEl>
                                          <p:spTgt spid="148"/>
                                        </p:tgtEl>
                                        <p:attrNameLst>
                                          <p:attrName>ppt_x</p:attrName>
                                        </p:attrNameLst>
                                      </p:cBhvr>
                                      <p:tavLst>
                                        <p:tav tm="0">
                                          <p:val>
                                            <p:strVal val="0-#ppt_w/2"/>
                                          </p:val>
                                        </p:tav>
                                        <p:tav tm="100000">
                                          <p:val>
                                            <p:strVal val="#ppt_x"/>
                                          </p:val>
                                        </p:tav>
                                      </p:tavLst>
                                    </p:anim>
                                    <p:anim calcmode="lin" valueType="num">
                                      <p:cBhvr additive="base">
                                        <p:cTn id="36" dur="2000" fill="hold"/>
                                        <p:tgtEl>
                                          <p:spTgt spid="148"/>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0"/>
                                  </p:stCondLst>
                                  <p:childTnLst>
                                    <p:set>
                                      <p:cBhvr>
                                        <p:cTn id="38" dur="1" fill="hold">
                                          <p:stCondLst>
                                            <p:cond delay="0"/>
                                          </p:stCondLst>
                                        </p:cTn>
                                        <p:tgtEl>
                                          <p:spTgt spid="149"/>
                                        </p:tgtEl>
                                        <p:attrNameLst>
                                          <p:attrName>style.visibility</p:attrName>
                                        </p:attrNameLst>
                                      </p:cBhvr>
                                      <p:to>
                                        <p:strVal val="visible"/>
                                      </p:to>
                                    </p:set>
                                    <p:anim calcmode="lin" valueType="num">
                                      <p:cBhvr additive="base">
                                        <p:cTn id="39" dur="2000" fill="hold"/>
                                        <p:tgtEl>
                                          <p:spTgt spid="149"/>
                                        </p:tgtEl>
                                        <p:attrNameLst>
                                          <p:attrName>ppt_x</p:attrName>
                                        </p:attrNameLst>
                                      </p:cBhvr>
                                      <p:tavLst>
                                        <p:tav tm="0">
                                          <p:val>
                                            <p:strVal val="0-#ppt_w/2"/>
                                          </p:val>
                                        </p:tav>
                                        <p:tav tm="100000">
                                          <p:val>
                                            <p:strVal val="#ppt_x"/>
                                          </p:val>
                                        </p:tav>
                                      </p:tavLst>
                                    </p:anim>
                                    <p:anim calcmode="lin" valueType="num">
                                      <p:cBhvr additive="base">
                                        <p:cTn id="40" dur="2000" fill="hold"/>
                                        <p:tgtEl>
                                          <p:spTgt spid="149"/>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0"/>
                                  </p:stCondLst>
                                  <p:childTnLst>
                                    <p:set>
                                      <p:cBhvr>
                                        <p:cTn id="42" dur="1" fill="hold">
                                          <p:stCondLst>
                                            <p:cond delay="0"/>
                                          </p:stCondLst>
                                        </p:cTn>
                                        <p:tgtEl>
                                          <p:spTgt spid="150"/>
                                        </p:tgtEl>
                                        <p:attrNameLst>
                                          <p:attrName>style.visibility</p:attrName>
                                        </p:attrNameLst>
                                      </p:cBhvr>
                                      <p:to>
                                        <p:strVal val="visible"/>
                                      </p:to>
                                    </p:set>
                                    <p:anim calcmode="lin" valueType="num">
                                      <p:cBhvr additive="base">
                                        <p:cTn id="43" dur="2000" fill="hold"/>
                                        <p:tgtEl>
                                          <p:spTgt spid="150"/>
                                        </p:tgtEl>
                                        <p:attrNameLst>
                                          <p:attrName>ppt_x</p:attrName>
                                        </p:attrNameLst>
                                      </p:cBhvr>
                                      <p:tavLst>
                                        <p:tav tm="0">
                                          <p:val>
                                            <p:strVal val="0-#ppt_w/2"/>
                                          </p:val>
                                        </p:tav>
                                        <p:tav tm="100000">
                                          <p:val>
                                            <p:strVal val="#ppt_x"/>
                                          </p:val>
                                        </p:tav>
                                      </p:tavLst>
                                    </p:anim>
                                    <p:anim calcmode="lin" valueType="num">
                                      <p:cBhvr additive="base">
                                        <p:cTn id="44" dur="2000" fill="hold"/>
                                        <p:tgtEl>
                                          <p:spTgt spid="150"/>
                                        </p:tgtEl>
                                        <p:attrNameLst>
                                          <p:attrName>ppt_y</p:attrName>
                                        </p:attrNameLst>
                                      </p:cBhvr>
                                      <p:tavLst>
                                        <p:tav tm="0">
                                          <p:val>
                                            <p:strVal val="#ppt_y"/>
                                          </p:val>
                                        </p:tav>
                                        <p:tav tm="100000">
                                          <p:val>
                                            <p:strVal val="#ppt_y"/>
                                          </p:val>
                                        </p:tav>
                                      </p:tavLst>
                                    </p:anim>
                                  </p:childTnLst>
                                </p:cTn>
                              </p:par>
                              <p:par>
                                <p:cTn id="45" presetID="2" presetClass="entr" presetSubtype="8" fill="hold" nodeType="withEffect">
                                  <p:stCondLst>
                                    <p:cond delay="0"/>
                                  </p:stCondLst>
                                  <p:childTnLst>
                                    <p:set>
                                      <p:cBhvr>
                                        <p:cTn id="46" dur="1" fill="hold">
                                          <p:stCondLst>
                                            <p:cond delay="0"/>
                                          </p:stCondLst>
                                        </p:cTn>
                                        <p:tgtEl>
                                          <p:spTgt spid="152"/>
                                        </p:tgtEl>
                                        <p:attrNameLst>
                                          <p:attrName>style.visibility</p:attrName>
                                        </p:attrNameLst>
                                      </p:cBhvr>
                                      <p:to>
                                        <p:strVal val="visible"/>
                                      </p:to>
                                    </p:set>
                                    <p:anim calcmode="lin" valueType="num">
                                      <p:cBhvr additive="base">
                                        <p:cTn id="47" dur="2000" fill="hold"/>
                                        <p:tgtEl>
                                          <p:spTgt spid="152"/>
                                        </p:tgtEl>
                                        <p:attrNameLst>
                                          <p:attrName>ppt_x</p:attrName>
                                        </p:attrNameLst>
                                      </p:cBhvr>
                                      <p:tavLst>
                                        <p:tav tm="0">
                                          <p:val>
                                            <p:strVal val="0-#ppt_w/2"/>
                                          </p:val>
                                        </p:tav>
                                        <p:tav tm="100000">
                                          <p:val>
                                            <p:strVal val="#ppt_x"/>
                                          </p:val>
                                        </p:tav>
                                      </p:tavLst>
                                    </p:anim>
                                    <p:anim calcmode="lin" valueType="num">
                                      <p:cBhvr additive="base">
                                        <p:cTn id="48" dur="2000" fill="hold"/>
                                        <p:tgtEl>
                                          <p:spTgt spid="152"/>
                                        </p:tgtEl>
                                        <p:attrNameLst>
                                          <p:attrName>ppt_y</p:attrName>
                                        </p:attrNameLst>
                                      </p:cBhvr>
                                      <p:tavLst>
                                        <p:tav tm="0">
                                          <p:val>
                                            <p:strVal val="#ppt_y"/>
                                          </p:val>
                                        </p:tav>
                                        <p:tav tm="100000">
                                          <p:val>
                                            <p:strVal val="#ppt_y"/>
                                          </p:val>
                                        </p:tav>
                                      </p:tavLst>
                                    </p:anim>
                                  </p:childTnLst>
                                </p:cTn>
                              </p:par>
                              <p:par>
                                <p:cTn id="49" presetID="2" presetClass="entr" presetSubtype="8" fill="hold" nodeType="withEffect">
                                  <p:stCondLst>
                                    <p:cond delay="0"/>
                                  </p:stCondLst>
                                  <p:childTnLst>
                                    <p:set>
                                      <p:cBhvr>
                                        <p:cTn id="50" dur="1" fill="hold">
                                          <p:stCondLst>
                                            <p:cond delay="0"/>
                                          </p:stCondLst>
                                        </p:cTn>
                                        <p:tgtEl>
                                          <p:spTgt spid="153"/>
                                        </p:tgtEl>
                                        <p:attrNameLst>
                                          <p:attrName>style.visibility</p:attrName>
                                        </p:attrNameLst>
                                      </p:cBhvr>
                                      <p:to>
                                        <p:strVal val="visible"/>
                                      </p:to>
                                    </p:set>
                                    <p:anim calcmode="lin" valueType="num">
                                      <p:cBhvr additive="base">
                                        <p:cTn id="51" dur="2000" fill="hold"/>
                                        <p:tgtEl>
                                          <p:spTgt spid="153"/>
                                        </p:tgtEl>
                                        <p:attrNameLst>
                                          <p:attrName>ppt_x</p:attrName>
                                        </p:attrNameLst>
                                      </p:cBhvr>
                                      <p:tavLst>
                                        <p:tav tm="0">
                                          <p:val>
                                            <p:strVal val="0-#ppt_w/2"/>
                                          </p:val>
                                        </p:tav>
                                        <p:tav tm="100000">
                                          <p:val>
                                            <p:strVal val="#ppt_x"/>
                                          </p:val>
                                        </p:tav>
                                      </p:tavLst>
                                    </p:anim>
                                    <p:anim calcmode="lin" valueType="num">
                                      <p:cBhvr additive="base">
                                        <p:cTn id="52" dur="2000" fill="hold"/>
                                        <p:tgtEl>
                                          <p:spTgt spid="1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p:bldP spid="14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US" sz="4000">
                <a:solidFill>
                  <a:srgbClr val="FFFFFF"/>
                </a:solidFill>
              </a:rPr>
              <a:t>INTs in ASD and ADHD</a:t>
            </a:r>
          </a:p>
        </p:txBody>
      </p:sp>
      <p:graphicFrame>
        <p:nvGraphicFramePr>
          <p:cNvPr id="5" name="Content Placeholder 2">
            <a:extLst>
              <a:ext uri="{FF2B5EF4-FFF2-40B4-BE49-F238E27FC236}">
                <a16:creationId xmlns:a16="http://schemas.microsoft.com/office/drawing/2014/main" id="{30F21EAC-B1E5-3C9E-5AC2-73DC92888E6A}"/>
              </a:ext>
            </a:extLst>
          </p:cNvPr>
          <p:cNvGraphicFramePr>
            <a:graphicFrameLocks noGrp="1"/>
          </p:cNvGraphicFramePr>
          <p:nvPr>
            <p:ph idx="1"/>
            <p:extLst>
              <p:ext uri="{D42A27DB-BD31-4B8C-83A1-F6EECF244321}">
                <p14:modId xmlns:p14="http://schemas.microsoft.com/office/powerpoint/2010/main" val="32927015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8" name="Google Shape;228;p37"/>
          <p:cNvSpPr txBox="1">
            <a:spLocks noGrp="1"/>
          </p:cNvSpPr>
          <p:nvPr>
            <p:ph type="title"/>
          </p:nvPr>
        </p:nvSpPr>
        <p:spPr>
          <a:xfrm>
            <a:off x="403008" y="319081"/>
            <a:ext cx="11386000" cy="704400"/>
          </a:xfrm>
          <a:prstGeom prst="rect">
            <a:avLst/>
          </a:prstGeom>
        </p:spPr>
        <p:txBody>
          <a:bodyPr spcFirstLastPara="1" vert="horz" wrap="square" lIns="121900" tIns="60933" rIns="121900" bIns="60933" rtlCol="0" anchor="t" anchorCtr="0">
            <a:noAutofit/>
          </a:bodyPr>
          <a:lstStyle/>
          <a:p>
            <a:r>
              <a:rPr lang="en" sz="3467"/>
              <a:t>From temporal integration/segregation to prediction</a:t>
            </a:r>
            <a:endParaRPr sz="3467"/>
          </a:p>
        </p:txBody>
      </p:sp>
      <p:sp>
        <p:nvSpPr>
          <p:cNvPr id="229" name="Google Shape;229;p37"/>
          <p:cNvSpPr txBox="1">
            <a:spLocks noGrp="1"/>
          </p:cNvSpPr>
          <p:nvPr>
            <p:ph type="body" idx="2"/>
          </p:nvPr>
        </p:nvSpPr>
        <p:spPr>
          <a:xfrm>
            <a:off x="9114567" y="6504800"/>
            <a:ext cx="2674400" cy="277600"/>
          </a:xfrm>
          <a:prstGeom prst="rect">
            <a:avLst/>
          </a:prstGeom>
        </p:spPr>
        <p:txBody>
          <a:bodyPr spcFirstLastPara="1" vert="horz" wrap="square" lIns="121900" tIns="60933" rIns="121900" bIns="60933" rtlCol="0" anchor="t" anchorCtr="0">
            <a:normAutofit fontScale="32500" lnSpcReduction="20000"/>
          </a:bodyPr>
          <a:lstStyle/>
          <a:p>
            <a:pPr marL="0" indent="0"/>
            <a:endParaRPr/>
          </a:p>
        </p:txBody>
      </p:sp>
      <p:pic>
        <p:nvPicPr>
          <p:cNvPr id="230" name="Google Shape;230;p37"/>
          <p:cNvPicPr preferRelativeResize="0"/>
          <p:nvPr/>
        </p:nvPicPr>
        <p:blipFill>
          <a:blip r:embed="rId3">
            <a:alphaModFix/>
          </a:blip>
          <a:stretch>
            <a:fillRect/>
          </a:stretch>
        </p:blipFill>
        <p:spPr>
          <a:xfrm>
            <a:off x="2144433" y="1447801"/>
            <a:ext cx="7903144" cy="54101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anim calcmode="lin" valueType="num">
                                      <p:cBhvr additive="base">
                                        <p:cTn id="7" dur="500" fill="hold"/>
                                        <p:tgtEl>
                                          <p:spTgt spid="230"/>
                                        </p:tgtEl>
                                        <p:attrNameLst>
                                          <p:attrName>ppt_x</p:attrName>
                                        </p:attrNameLst>
                                      </p:cBhvr>
                                      <p:tavLst>
                                        <p:tav tm="0">
                                          <p:val>
                                            <p:strVal val="1+#ppt_w/2"/>
                                          </p:val>
                                        </p:tav>
                                        <p:tav tm="100000">
                                          <p:val>
                                            <p:strVal val="#ppt_x"/>
                                          </p:val>
                                        </p:tav>
                                      </p:tavLst>
                                    </p:anim>
                                    <p:anim calcmode="lin" valueType="num">
                                      <p:cBhvr additive="base">
                                        <p:cTn id="8" dur="500" fill="hold"/>
                                        <p:tgtEl>
                                          <p:spTgt spid="23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Close-up of a blue surface&#10;&#10;AI-generated content may be incorrect.">
            <a:extLst>
              <a:ext uri="{FF2B5EF4-FFF2-40B4-BE49-F238E27FC236}">
                <a16:creationId xmlns:a16="http://schemas.microsoft.com/office/drawing/2014/main" id="{23503FE6-1E65-7FD0-B3CE-1C3CB98CD2B6}"/>
              </a:ext>
            </a:extLst>
          </p:cNvPr>
          <p:cNvPicPr>
            <a:picLocks noChangeAspect="1"/>
          </p:cNvPicPr>
          <p:nvPr/>
        </p:nvPicPr>
        <p:blipFill>
          <a:blip r:embed="rId3">
            <a:duotone>
              <a:schemeClr val="bg2">
                <a:shade val="45000"/>
                <a:satMod val="135000"/>
              </a:schemeClr>
              <a:prstClr val="white"/>
            </a:duotone>
          </a:blip>
          <a:srcRect t="25000"/>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b="0" i="0" dirty="0">
                <a:effectLst/>
                <a:latin typeface="fkGroteskNeue"/>
              </a:rPr>
              <a:t>Can INTs serve as a diagnostic fingerprint for individual brain dynamics?</a:t>
            </a:r>
          </a:p>
        </p:txBody>
      </p:sp>
      <p:graphicFrame>
        <p:nvGraphicFramePr>
          <p:cNvPr id="5" name="Content Placeholder 2">
            <a:extLst>
              <a:ext uri="{FF2B5EF4-FFF2-40B4-BE49-F238E27FC236}">
                <a16:creationId xmlns:a16="http://schemas.microsoft.com/office/drawing/2014/main" id="{127261A9-C1BA-9835-B731-21F57C1FA637}"/>
              </a:ext>
            </a:extLst>
          </p:cNvPr>
          <p:cNvGraphicFramePr>
            <a:graphicFrameLocks noGrp="1"/>
          </p:cNvGraphicFramePr>
          <p:nvPr>
            <p:ph idx="1"/>
            <p:extLst>
              <p:ext uri="{D42A27DB-BD31-4B8C-83A1-F6EECF244321}">
                <p14:modId xmlns:p14="http://schemas.microsoft.com/office/powerpoint/2010/main" val="200516658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US" sz="4000">
                <a:solidFill>
                  <a:srgbClr val="FFFFFF"/>
                </a:solidFill>
              </a:rPr>
              <a:t>Dataset Overview</a:t>
            </a:r>
          </a:p>
        </p:txBody>
      </p:sp>
      <p:graphicFrame>
        <p:nvGraphicFramePr>
          <p:cNvPr id="5" name="Content Placeholder 2">
            <a:extLst>
              <a:ext uri="{FF2B5EF4-FFF2-40B4-BE49-F238E27FC236}">
                <a16:creationId xmlns:a16="http://schemas.microsoft.com/office/drawing/2014/main" id="{032A94B8-C226-34EA-86CB-76E8BAB5416A}"/>
              </a:ext>
            </a:extLst>
          </p:cNvPr>
          <p:cNvGraphicFramePr>
            <a:graphicFrameLocks noGrp="1"/>
          </p:cNvGraphicFramePr>
          <p:nvPr>
            <p:ph idx="1"/>
            <p:extLst>
              <p:ext uri="{D42A27DB-BD31-4B8C-83A1-F6EECF244321}">
                <p14:modId xmlns:p14="http://schemas.microsoft.com/office/powerpoint/2010/main" val="352320126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Measuring INTs</a:t>
            </a:r>
          </a:p>
        </p:txBody>
      </p:sp>
      <p:pic>
        <p:nvPicPr>
          <p:cNvPr id="2050" name="Picture 2">
            <a:extLst>
              <a:ext uri="{FF2B5EF4-FFF2-40B4-BE49-F238E27FC236}">
                <a16:creationId xmlns:a16="http://schemas.microsoft.com/office/drawing/2014/main" id="{0EAD0D5B-E3B1-85EA-7A65-84C4AFAED78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255562" y="1738067"/>
            <a:ext cx="9680872" cy="52034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4" name="Rectangle 113">
            <a:extLst>
              <a:ext uri="{FF2B5EF4-FFF2-40B4-BE49-F238E27FC236}">
                <a16:creationId xmlns:a16="http://schemas.microsoft.com/office/drawing/2014/main" id="{50D1C5B3-B60D-4696-AE60-100D5EC8A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6" name="Group 115">
            <a:extLst>
              <a:ext uri="{FF2B5EF4-FFF2-40B4-BE49-F238E27FC236}">
                <a16:creationId xmlns:a16="http://schemas.microsoft.com/office/drawing/2014/main" id="{73EDDF53-0851-48D4-A466-6FE0DCE91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2" cy="1576446"/>
            <a:chOff x="0" y="0"/>
            <a:chExt cx="12192002" cy="1576446"/>
          </a:xfrm>
        </p:grpSpPr>
        <p:sp>
          <p:nvSpPr>
            <p:cNvPr id="117" name="Rectangle 116">
              <a:extLst>
                <a:ext uri="{FF2B5EF4-FFF2-40B4-BE49-F238E27FC236}">
                  <a16:creationId xmlns:a16="http://schemas.microsoft.com/office/drawing/2014/main" id="{D074D04C-85E8-4A3E-90D7-86A10AE048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4097020A-86B6-43BD-A2AA-66AE72CA31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 name="Rectangle 118">
              <a:extLst>
                <a:ext uri="{FF2B5EF4-FFF2-40B4-BE49-F238E27FC236}">
                  <a16:creationId xmlns:a16="http://schemas.microsoft.com/office/drawing/2014/main" id="{20C6C743-32FE-4E24-AA22-45D3B1C7C0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667CB6D-D8DE-7001-AA5F-3066F2FA090B}"/>
              </a:ext>
            </a:extLst>
          </p:cNvPr>
          <p:cNvSpPr>
            <a:spLocks noGrp="1"/>
          </p:cNvSpPr>
          <p:nvPr>
            <p:ph type="title"/>
          </p:nvPr>
        </p:nvSpPr>
        <p:spPr>
          <a:xfrm>
            <a:off x="1371600" y="407695"/>
            <a:ext cx="9724030" cy="834251"/>
          </a:xfrm>
        </p:spPr>
        <p:txBody>
          <a:bodyPr anchor="ctr">
            <a:normAutofit/>
          </a:bodyPr>
          <a:lstStyle/>
          <a:p>
            <a:r>
              <a:rPr lang="en-US" sz="4000" dirty="0">
                <a:solidFill>
                  <a:srgbClr val="FFFFFF"/>
                </a:solidFill>
              </a:rPr>
              <a:t>INT Metrics Spatial Brain Maps Across TRs</a:t>
            </a:r>
          </a:p>
        </p:txBody>
      </p:sp>
      <p:pic>
        <p:nvPicPr>
          <p:cNvPr id="59" name="Google Shape;59;p14"/>
          <p:cNvPicPr preferRelativeResize="0"/>
          <p:nvPr/>
        </p:nvPicPr>
        <p:blipFill>
          <a:blip r:embed="rId3"/>
          <a:stretch>
            <a:fillRect/>
          </a:stretch>
        </p:blipFill>
        <p:spPr>
          <a:xfrm>
            <a:off x="1224145" y="1825073"/>
            <a:ext cx="3609296" cy="601524"/>
          </a:xfrm>
          <a:prstGeom prst="rect">
            <a:avLst/>
          </a:prstGeom>
          <a:noFill/>
        </p:spPr>
      </p:pic>
      <p:pic>
        <p:nvPicPr>
          <p:cNvPr id="109" name="Google Shape;109;p16"/>
          <p:cNvPicPr preferRelativeResize="0"/>
          <p:nvPr/>
        </p:nvPicPr>
        <p:blipFill>
          <a:blip r:embed="rId4"/>
          <a:stretch>
            <a:fillRect/>
          </a:stretch>
        </p:blipFill>
        <p:spPr>
          <a:xfrm>
            <a:off x="4925041" y="1847388"/>
            <a:ext cx="3527847" cy="601524"/>
          </a:xfrm>
          <a:prstGeom prst="rect">
            <a:avLst/>
          </a:prstGeom>
          <a:noFill/>
        </p:spPr>
      </p:pic>
      <p:pic>
        <p:nvPicPr>
          <p:cNvPr id="89" name="Google Shape;89;p15"/>
          <p:cNvPicPr preferRelativeResize="0"/>
          <p:nvPr/>
        </p:nvPicPr>
        <p:blipFill>
          <a:blip r:embed="rId5"/>
          <a:stretch>
            <a:fillRect/>
          </a:stretch>
        </p:blipFill>
        <p:spPr>
          <a:xfrm>
            <a:off x="8534337" y="1839467"/>
            <a:ext cx="3527847" cy="601524"/>
          </a:xfrm>
          <a:prstGeom prst="rect">
            <a:avLst/>
          </a:prstGeom>
          <a:noFill/>
        </p:spPr>
      </p:pic>
      <p:sp>
        <p:nvSpPr>
          <p:cNvPr id="4" name="Slide Number Placeholder 3">
            <a:extLst>
              <a:ext uri="{FF2B5EF4-FFF2-40B4-BE49-F238E27FC236}">
                <a16:creationId xmlns:a16="http://schemas.microsoft.com/office/drawing/2014/main" id="{38F959D3-92CC-3629-D6A3-62F19CA82BFB}"/>
              </a:ext>
            </a:extLst>
          </p:cNvPr>
          <p:cNvSpPr>
            <a:spLocks noGrp="1"/>
          </p:cNvSpPr>
          <p:nvPr>
            <p:ph type="sldNum" sz="quarter" idx="12"/>
          </p:nvPr>
        </p:nvSpPr>
        <p:spPr>
          <a:xfrm>
            <a:off x="11704320" y="6455664"/>
            <a:ext cx="448056" cy="365125"/>
          </a:xfrm>
        </p:spPr>
        <p:txBody>
          <a:bodyPr>
            <a:normAutofit/>
          </a:bodyPr>
          <a:lstStyle/>
          <a:p>
            <a:pPr>
              <a:spcAft>
                <a:spcPts val="600"/>
              </a:spcAft>
            </a:pPr>
            <a:fld id="{ED2AB823-F179-4A4C-877B-2E0B011C8AA4}" type="slidenum">
              <a:rPr lang="en-US" sz="1100">
                <a:solidFill>
                  <a:schemeClr val="tx1">
                    <a:lumMod val="50000"/>
                    <a:lumOff val="50000"/>
                  </a:schemeClr>
                </a:solidFill>
              </a:rPr>
              <a:pPr>
                <a:spcAft>
                  <a:spcPts val="600"/>
                </a:spcAft>
              </a:pPr>
              <a:t>9</a:t>
            </a:fld>
            <a:endParaRPr lang="en-US" sz="1100">
              <a:solidFill>
                <a:schemeClr val="tx1">
                  <a:lumMod val="50000"/>
                  <a:lumOff val="50000"/>
                </a:schemeClr>
              </a:solidFill>
            </a:endParaRPr>
          </a:p>
        </p:txBody>
      </p:sp>
      <p:pic>
        <p:nvPicPr>
          <p:cNvPr id="5" name="Google Shape;61;p14"/>
          <p:cNvPicPr preferRelativeResize="0"/>
          <p:nvPr/>
        </p:nvPicPr>
        <p:blipFill>
          <a:blip r:embed="rId6">
            <a:alphaModFix/>
          </a:blip>
          <a:stretch>
            <a:fillRect/>
          </a:stretch>
        </p:blipFill>
        <p:spPr>
          <a:xfrm>
            <a:off x="1224145" y="2578796"/>
            <a:ext cx="3609296" cy="657241"/>
          </a:xfrm>
          <a:prstGeom prst="rect">
            <a:avLst/>
          </a:prstGeom>
          <a:noFill/>
          <a:ln>
            <a:noFill/>
          </a:ln>
        </p:spPr>
      </p:pic>
      <p:pic>
        <p:nvPicPr>
          <p:cNvPr id="90" name="Google Shape;90;p15"/>
          <p:cNvPicPr preferRelativeResize="0"/>
          <p:nvPr/>
        </p:nvPicPr>
        <p:blipFill>
          <a:blip r:embed="rId7">
            <a:alphaModFix/>
          </a:blip>
          <a:stretch>
            <a:fillRect/>
          </a:stretch>
        </p:blipFill>
        <p:spPr>
          <a:xfrm>
            <a:off x="4879198" y="2654815"/>
            <a:ext cx="3609296" cy="617037"/>
          </a:xfrm>
          <a:prstGeom prst="rect">
            <a:avLst/>
          </a:prstGeom>
          <a:noFill/>
          <a:ln>
            <a:noFill/>
          </a:ln>
        </p:spPr>
      </p:pic>
      <p:pic>
        <p:nvPicPr>
          <p:cNvPr id="110" name="Google Shape;110;p16"/>
          <p:cNvPicPr preferRelativeResize="0"/>
          <p:nvPr/>
        </p:nvPicPr>
        <p:blipFill>
          <a:blip r:embed="rId8">
            <a:alphaModFix/>
          </a:blip>
          <a:stretch>
            <a:fillRect/>
          </a:stretch>
        </p:blipFill>
        <p:spPr>
          <a:xfrm>
            <a:off x="8540123" y="2658334"/>
            <a:ext cx="3515347" cy="617037"/>
          </a:xfrm>
          <a:prstGeom prst="rect">
            <a:avLst/>
          </a:prstGeom>
          <a:noFill/>
          <a:ln>
            <a:noFill/>
          </a:ln>
        </p:spPr>
      </p:pic>
      <p:pic>
        <p:nvPicPr>
          <p:cNvPr id="66" name="Google Shape;66;p14"/>
          <p:cNvPicPr preferRelativeResize="0"/>
          <p:nvPr/>
        </p:nvPicPr>
        <p:blipFill>
          <a:blip r:embed="rId9">
            <a:alphaModFix/>
          </a:blip>
          <a:stretch>
            <a:fillRect/>
          </a:stretch>
        </p:blipFill>
        <p:spPr>
          <a:xfrm>
            <a:off x="1203540" y="3457019"/>
            <a:ext cx="3609296" cy="657241"/>
          </a:xfrm>
          <a:prstGeom prst="rect">
            <a:avLst/>
          </a:prstGeom>
          <a:noFill/>
          <a:ln>
            <a:noFill/>
          </a:ln>
        </p:spPr>
      </p:pic>
      <p:pic>
        <p:nvPicPr>
          <p:cNvPr id="91" name="Google Shape;91;p15"/>
          <p:cNvPicPr preferRelativeResize="0"/>
          <p:nvPr/>
        </p:nvPicPr>
        <p:blipFill>
          <a:blip r:embed="rId10">
            <a:alphaModFix/>
          </a:blip>
          <a:stretch>
            <a:fillRect/>
          </a:stretch>
        </p:blipFill>
        <p:spPr>
          <a:xfrm>
            <a:off x="4879198" y="3477120"/>
            <a:ext cx="3609296" cy="657241"/>
          </a:xfrm>
          <a:prstGeom prst="rect">
            <a:avLst/>
          </a:prstGeom>
          <a:noFill/>
          <a:ln>
            <a:noFill/>
          </a:ln>
        </p:spPr>
      </p:pic>
      <p:pic>
        <p:nvPicPr>
          <p:cNvPr id="111" name="Google Shape;111;p16"/>
          <p:cNvPicPr preferRelativeResize="0"/>
          <p:nvPr/>
        </p:nvPicPr>
        <p:blipFill>
          <a:blip r:embed="rId11">
            <a:alphaModFix/>
          </a:blip>
          <a:stretch>
            <a:fillRect/>
          </a:stretch>
        </p:blipFill>
        <p:spPr>
          <a:xfrm>
            <a:off x="8534337" y="3464197"/>
            <a:ext cx="3515347" cy="728555"/>
          </a:xfrm>
          <a:prstGeom prst="rect">
            <a:avLst/>
          </a:prstGeom>
          <a:noFill/>
          <a:ln>
            <a:noFill/>
          </a:ln>
        </p:spPr>
      </p:pic>
      <p:pic>
        <p:nvPicPr>
          <p:cNvPr id="65" name="Google Shape;65;p14"/>
          <p:cNvPicPr preferRelativeResize="0"/>
          <p:nvPr/>
        </p:nvPicPr>
        <p:blipFill>
          <a:blip r:embed="rId12">
            <a:alphaModFix/>
          </a:blip>
          <a:stretch>
            <a:fillRect/>
          </a:stretch>
        </p:blipFill>
        <p:spPr>
          <a:xfrm>
            <a:off x="1203540" y="4210226"/>
            <a:ext cx="3609296" cy="699453"/>
          </a:xfrm>
          <a:prstGeom prst="rect">
            <a:avLst/>
          </a:prstGeom>
          <a:noFill/>
          <a:ln>
            <a:noFill/>
          </a:ln>
        </p:spPr>
      </p:pic>
      <p:pic>
        <p:nvPicPr>
          <p:cNvPr id="92" name="Google Shape;92;p15"/>
          <p:cNvPicPr preferRelativeResize="0"/>
          <p:nvPr/>
        </p:nvPicPr>
        <p:blipFill>
          <a:blip r:embed="rId13">
            <a:alphaModFix/>
          </a:blip>
          <a:stretch>
            <a:fillRect/>
          </a:stretch>
        </p:blipFill>
        <p:spPr>
          <a:xfrm>
            <a:off x="4879198" y="4277131"/>
            <a:ext cx="3609296" cy="618581"/>
          </a:xfrm>
          <a:prstGeom prst="rect">
            <a:avLst/>
          </a:prstGeom>
          <a:noFill/>
          <a:ln>
            <a:noFill/>
          </a:ln>
        </p:spPr>
      </p:pic>
      <p:pic>
        <p:nvPicPr>
          <p:cNvPr id="112" name="Google Shape;112;p16"/>
          <p:cNvPicPr preferRelativeResize="0"/>
          <p:nvPr/>
        </p:nvPicPr>
        <p:blipFill>
          <a:blip r:embed="rId14">
            <a:alphaModFix/>
          </a:blip>
          <a:stretch>
            <a:fillRect/>
          </a:stretch>
        </p:blipFill>
        <p:spPr>
          <a:xfrm>
            <a:off x="8605062" y="4312277"/>
            <a:ext cx="3369867" cy="618581"/>
          </a:xfrm>
          <a:prstGeom prst="rect">
            <a:avLst/>
          </a:prstGeom>
          <a:noFill/>
          <a:ln>
            <a:noFill/>
          </a:ln>
        </p:spPr>
      </p:pic>
      <p:pic>
        <p:nvPicPr>
          <p:cNvPr id="64" name="Google Shape;64;p14"/>
          <p:cNvPicPr preferRelativeResize="0"/>
          <p:nvPr/>
        </p:nvPicPr>
        <p:blipFill>
          <a:blip r:embed="rId15">
            <a:alphaModFix/>
          </a:blip>
          <a:stretch>
            <a:fillRect/>
          </a:stretch>
        </p:blipFill>
        <p:spPr>
          <a:xfrm>
            <a:off x="1203540" y="5117596"/>
            <a:ext cx="3609297" cy="588101"/>
          </a:xfrm>
          <a:prstGeom prst="rect">
            <a:avLst/>
          </a:prstGeom>
          <a:noFill/>
          <a:ln>
            <a:noFill/>
          </a:ln>
        </p:spPr>
      </p:pic>
      <p:pic>
        <p:nvPicPr>
          <p:cNvPr id="93" name="Google Shape;93;p15"/>
          <p:cNvPicPr preferRelativeResize="0"/>
          <p:nvPr/>
        </p:nvPicPr>
        <p:blipFill>
          <a:blip r:embed="rId16">
            <a:alphaModFix/>
          </a:blip>
          <a:stretch>
            <a:fillRect/>
          </a:stretch>
        </p:blipFill>
        <p:spPr>
          <a:xfrm>
            <a:off x="4925041" y="5082021"/>
            <a:ext cx="3609296" cy="714332"/>
          </a:xfrm>
          <a:prstGeom prst="rect">
            <a:avLst/>
          </a:prstGeom>
          <a:noFill/>
          <a:ln>
            <a:noFill/>
          </a:ln>
        </p:spPr>
      </p:pic>
      <p:pic>
        <p:nvPicPr>
          <p:cNvPr id="113" name="Google Shape;113;p16"/>
          <p:cNvPicPr preferRelativeResize="0"/>
          <p:nvPr/>
        </p:nvPicPr>
        <p:blipFill>
          <a:blip r:embed="rId17">
            <a:alphaModFix/>
          </a:blip>
          <a:stretch>
            <a:fillRect/>
          </a:stretch>
        </p:blipFill>
        <p:spPr>
          <a:xfrm>
            <a:off x="8612862" y="5177772"/>
            <a:ext cx="3369867" cy="618581"/>
          </a:xfrm>
          <a:prstGeom prst="rect">
            <a:avLst/>
          </a:prstGeom>
          <a:noFill/>
          <a:ln>
            <a:noFill/>
          </a:ln>
        </p:spPr>
      </p:pic>
      <p:pic>
        <p:nvPicPr>
          <p:cNvPr id="63" name="Google Shape;63;p14"/>
          <p:cNvPicPr preferRelativeResize="0"/>
          <p:nvPr/>
        </p:nvPicPr>
        <p:blipFill>
          <a:blip r:embed="rId18">
            <a:alphaModFix/>
          </a:blip>
          <a:stretch>
            <a:fillRect/>
          </a:stretch>
        </p:blipFill>
        <p:spPr>
          <a:xfrm>
            <a:off x="1203541" y="5963069"/>
            <a:ext cx="3609296" cy="588102"/>
          </a:xfrm>
          <a:prstGeom prst="rect">
            <a:avLst/>
          </a:prstGeom>
          <a:noFill/>
          <a:ln>
            <a:noFill/>
          </a:ln>
        </p:spPr>
      </p:pic>
      <p:pic>
        <p:nvPicPr>
          <p:cNvPr id="94" name="Google Shape;94;p15"/>
          <p:cNvPicPr preferRelativeResize="0"/>
          <p:nvPr/>
        </p:nvPicPr>
        <p:blipFill>
          <a:blip r:embed="rId19">
            <a:alphaModFix/>
          </a:blip>
          <a:stretch>
            <a:fillRect/>
          </a:stretch>
        </p:blipFill>
        <p:spPr>
          <a:xfrm>
            <a:off x="4879198" y="5954486"/>
            <a:ext cx="3609296" cy="714333"/>
          </a:xfrm>
          <a:prstGeom prst="rect">
            <a:avLst/>
          </a:prstGeom>
          <a:noFill/>
          <a:ln>
            <a:noFill/>
          </a:ln>
        </p:spPr>
      </p:pic>
      <p:pic>
        <p:nvPicPr>
          <p:cNvPr id="6" name="Google Shape;114;p16"/>
          <p:cNvPicPr preferRelativeResize="0"/>
          <p:nvPr/>
        </p:nvPicPr>
        <p:blipFill>
          <a:blip r:embed="rId20">
            <a:alphaModFix/>
          </a:blip>
          <a:stretch>
            <a:fillRect/>
          </a:stretch>
        </p:blipFill>
        <p:spPr>
          <a:xfrm>
            <a:off x="8605062" y="6007300"/>
            <a:ext cx="3369868" cy="601524"/>
          </a:xfrm>
          <a:prstGeom prst="rect">
            <a:avLst/>
          </a:prstGeom>
          <a:noFill/>
          <a:ln>
            <a:noFill/>
          </a:ln>
        </p:spPr>
      </p:pic>
      <p:sp>
        <p:nvSpPr>
          <p:cNvPr id="7" name="TextBox 6">
            <a:extLst>
              <a:ext uri="{FF2B5EF4-FFF2-40B4-BE49-F238E27FC236}">
                <a16:creationId xmlns:a16="http://schemas.microsoft.com/office/drawing/2014/main" id="{A2DF0712-EF9F-530B-3515-058A1B61F818}"/>
              </a:ext>
            </a:extLst>
          </p:cNvPr>
          <p:cNvSpPr txBox="1"/>
          <p:nvPr/>
        </p:nvSpPr>
        <p:spPr>
          <a:xfrm>
            <a:off x="2139917" y="1254607"/>
            <a:ext cx="1424763" cy="369332"/>
          </a:xfrm>
          <a:prstGeom prst="rect">
            <a:avLst/>
          </a:prstGeom>
          <a:noFill/>
        </p:spPr>
        <p:txBody>
          <a:bodyPr wrap="square" rtlCol="0">
            <a:spAutoFit/>
          </a:bodyPr>
          <a:lstStyle/>
          <a:p>
            <a:r>
              <a:rPr lang="en-US" dirty="0">
                <a:solidFill>
                  <a:schemeClr val="bg2"/>
                </a:solidFill>
              </a:rPr>
              <a:t>TR=645 </a:t>
            </a:r>
            <a:r>
              <a:rPr lang="en-US" dirty="0" err="1">
                <a:solidFill>
                  <a:schemeClr val="bg2"/>
                </a:solidFill>
              </a:rPr>
              <a:t>ms</a:t>
            </a:r>
            <a:endParaRPr lang="en-US" dirty="0">
              <a:solidFill>
                <a:schemeClr val="bg2"/>
              </a:solidFill>
            </a:endParaRPr>
          </a:p>
        </p:txBody>
      </p:sp>
      <p:sp>
        <p:nvSpPr>
          <p:cNvPr id="8" name="TextBox 7">
            <a:extLst>
              <a:ext uri="{FF2B5EF4-FFF2-40B4-BE49-F238E27FC236}">
                <a16:creationId xmlns:a16="http://schemas.microsoft.com/office/drawing/2014/main" id="{8DCDD940-35E5-C7E6-C098-42A5805BDCCB}"/>
              </a:ext>
            </a:extLst>
          </p:cNvPr>
          <p:cNvSpPr txBox="1"/>
          <p:nvPr/>
        </p:nvSpPr>
        <p:spPr>
          <a:xfrm>
            <a:off x="5771705" y="1262548"/>
            <a:ext cx="1424763" cy="369332"/>
          </a:xfrm>
          <a:prstGeom prst="rect">
            <a:avLst/>
          </a:prstGeom>
          <a:noFill/>
        </p:spPr>
        <p:txBody>
          <a:bodyPr wrap="square" rtlCol="0">
            <a:spAutoFit/>
          </a:bodyPr>
          <a:lstStyle/>
          <a:p>
            <a:r>
              <a:rPr lang="en-US" dirty="0">
                <a:solidFill>
                  <a:schemeClr val="bg2"/>
                </a:solidFill>
              </a:rPr>
              <a:t>TR=1400 </a:t>
            </a:r>
            <a:r>
              <a:rPr lang="en-US" dirty="0" err="1">
                <a:solidFill>
                  <a:schemeClr val="bg2"/>
                </a:solidFill>
              </a:rPr>
              <a:t>ms</a:t>
            </a:r>
            <a:endParaRPr lang="en-US" dirty="0">
              <a:solidFill>
                <a:schemeClr val="bg2"/>
              </a:solidFill>
            </a:endParaRPr>
          </a:p>
        </p:txBody>
      </p:sp>
      <p:sp>
        <p:nvSpPr>
          <p:cNvPr id="9" name="TextBox 8">
            <a:extLst>
              <a:ext uri="{FF2B5EF4-FFF2-40B4-BE49-F238E27FC236}">
                <a16:creationId xmlns:a16="http://schemas.microsoft.com/office/drawing/2014/main" id="{4D55FF1D-1459-708C-2818-BD05AB86D04D}"/>
              </a:ext>
            </a:extLst>
          </p:cNvPr>
          <p:cNvSpPr txBox="1"/>
          <p:nvPr/>
        </p:nvSpPr>
        <p:spPr>
          <a:xfrm>
            <a:off x="9448046" y="1248335"/>
            <a:ext cx="1424763" cy="369332"/>
          </a:xfrm>
          <a:prstGeom prst="rect">
            <a:avLst/>
          </a:prstGeom>
          <a:noFill/>
        </p:spPr>
        <p:txBody>
          <a:bodyPr wrap="square" rtlCol="0">
            <a:spAutoFit/>
          </a:bodyPr>
          <a:lstStyle/>
          <a:p>
            <a:r>
              <a:rPr lang="en-US" dirty="0">
                <a:solidFill>
                  <a:schemeClr val="bg2"/>
                </a:solidFill>
              </a:rPr>
              <a:t>TR=2500 </a:t>
            </a:r>
            <a:r>
              <a:rPr lang="en-US" dirty="0" err="1">
                <a:solidFill>
                  <a:schemeClr val="bg2"/>
                </a:solidFill>
              </a:rPr>
              <a:t>ms</a:t>
            </a:r>
            <a:endParaRPr lang="en-US" dirty="0">
              <a:solidFill>
                <a:schemeClr val="bg2"/>
              </a:solidFill>
            </a:endParaRPr>
          </a:p>
        </p:txBody>
      </p:sp>
      <p:sp>
        <p:nvSpPr>
          <p:cNvPr id="11" name="TextBox 10">
            <a:extLst>
              <a:ext uri="{FF2B5EF4-FFF2-40B4-BE49-F238E27FC236}">
                <a16:creationId xmlns:a16="http://schemas.microsoft.com/office/drawing/2014/main" id="{4AFF11E7-7F07-F75F-AAB0-9629C33EB5B5}"/>
              </a:ext>
            </a:extLst>
          </p:cNvPr>
          <p:cNvSpPr txBox="1"/>
          <p:nvPr/>
        </p:nvSpPr>
        <p:spPr>
          <a:xfrm>
            <a:off x="25330" y="1767323"/>
            <a:ext cx="1021370" cy="4832092"/>
          </a:xfrm>
          <a:prstGeom prst="rect">
            <a:avLst/>
          </a:prstGeom>
          <a:noFill/>
        </p:spPr>
        <p:txBody>
          <a:bodyPr wrap="square">
            <a:spAutoFit/>
          </a:bodyPr>
          <a:lstStyle/>
          <a:p>
            <a:pPr marL="342900" indent="-342900">
              <a:buFont typeface="+mj-lt"/>
              <a:buAutoNum type="alphaUcPeriod"/>
            </a:pPr>
            <a:r>
              <a:rPr lang="en-US" sz="1400" b="0" i="0" u="none" strike="noStrike" dirty="0" err="1">
                <a:solidFill>
                  <a:schemeClr val="accent1"/>
                </a:solidFill>
                <a:effectLst/>
                <a:latin typeface="Arial" panose="020B0604020202020204" pitchFamily="34" charset="0"/>
              </a:rPr>
              <a:t>acf@half</a:t>
            </a:r>
            <a:r>
              <a:rPr lang="en-US" sz="1400" b="0" i="0" u="none" strike="noStrike" dirty="0">
                <a:solidFill>
                  <a:schemeClr val="accent1"/>
                </a:solidFill>
                <a:effectLst/>
                <a:latin typeface="Arial" panose="020B0604020202020204" pitchFamily="34" charset="0"/>
              </a:rPr>
              <a:t> lag</a:t>
            </a:r>
            <a:endParaRPr lang="en-US" sz="1400" dirty="0">
              <a:solidFill>
                <a:schemeClr val="accent1"/>
              </a:solidFill>
              <a:latin typeface="Arial" panose="020B0604020202020204" pitchFamily="34" charset="0"/>
            </a:endParaRPr>
          </a:p>
          <a:p>
            <a:pPr marL="342900" indent="-342900">
              <a:buFont typeface="+mj-lt"/>
              <a:buAutoNum type="alphaUcPeriod"/>
            </a:pPr>
            <a:endParaRPr lang="en-US" sz="1400" b="0" i="0" u="none" strike="noStrike" dirty="0">
              <a:solidFill>
                <a:schemeClr val="accent1"/>
              </a:solidFill>
              <a:effectLst/>
              <a:latin typeface="Arial" panose="020B0604020202020204" pitchFamily="34" charset="0"/>
            </a:endParaRPr>
          </a:p>
          <a:p>
            <a:pPr marL="342900" indent="-342900">
              <a:buFont typeface="+mj-lt"/>
              <a:buAutoNum type="alphaUcPeriod"/>
            </a:pPr>
            <a:endParaRPr lang="en-US" sz="1400" b="0" i="0" u="none" strike="noStrike" dirty="0">
              <a:solidFill>
                <a:schemeClr val="accent1"/>
              </a:solidFill>
              <a:effectLst/>
              <a:latin typeface="Arial" panose="020B0604020202020204" pitchFamily="34" charset="0"/>
            </a:endParaRPr>
          </a:p>
          <a:p>
            <a:pPr marL="342900" indent="-342900">
              <a:buFont typeface="+mj-lt"/>
              <a:buAutoNum type="alphaUcPeriod"/>
            </a:pPr>
            <a:r>
              <a:rPr lang="en-US" sz="1400" b="0" i="0" u="none" strike="noStrike" dirty="0">
                <a:solidFill>
                  <a:schemeClr val="accent1"/>
                </a:solidFill>
                <a:effectLst/>
                <a:latin typeface="Arial" panose="020B0604020202020204" pitchFamily="34" charset="0"/>
              </a:rPr>
              <a:t>AR1</a:t>
            </a:r>
          </a:p>
          <a:p>
            <a:pPr marL="342900" indent="-342900">
              <a:buFont typeface="+mj-lt"/>
              <a:buAutoNum type="alphaUcPeriod"/>
            </a:pPr>
            <a:endParaRPr lang="en-US" sz="1400" dirty="0">
              <a:solidFill>
                <a:schemeClr val="accent1"/>
              </a:solidFill>
              <a:latin typeface="Arial" panose="020B0604020202020204" pitchFamily="34" charset="0"/>
            </a:endParaRPr>
          </a:p>
          <a:p>
            <a:pPr marL="342900" indent="-342900">
              <a:buFont typeface="+mj-lt"/>
              <a:buAutoNum type="alphaUcPeriod"/>
            </a:pPr>
            <a:endParaRPr lang="en-US" sz="1400" b="0" i="0" u="none" strike="noStrike" dirty="0">
              <a:solidFill>
                <a:schemeClr val="accent1"/>
              </a:solidFill>
              <a:effectLst/>
              <a:latin typeface="Arial" panose="020B0604020202020204" pitchFamily="34" charset="0"/>
            </a:endParaRPr>
          </a:p>
          <a:p>
            <a:pPr marL="342900" indent="-342900">
              <a:buFont typeface="+mj-lt"/>
              <a:buAutoNum type="alphaUcPeriod"/>
            </a:pPr>
            <a:r>
              <a:rPr lang="en-US" sz="1400" b="0" i="0" u="none" strike="noStrike" dirty="0" err="1">
                <a:solidFill>
                  <a:schemeClr val="accent1"/>
                </a:solidFill>
                <a:effectLst/>
                <a:latin typeface="Arial" panose="020B0604020202020204" pitchFamily="34" charset="0"/>
              </a:rPr>
              <a:t>lag@acf</a:t>
            </a:r>
            <a:r>
              <a:rPr lang="en-US" sz="1400" b="0" i="0" u="none" strike="noStrike" dirty="0">
                <a:solidFill>
                  <a:schemeClr val="accent1"/>
                </a:solidFill>
                <a:effectLst/>
                <a:latin typeface="Arial" panose="020B0604020202020204" pitchFamily="34" charset="0"/>
              </a:rPr>
              <a:t>=1/e*TR</a:t>
            </a:r>
          </a:p>
          <a:p>
            <a:pPr marL="342900" indent="-342900">
              <a:buFont typeface="+mj-lt"/>
              <a:buAutoNum type="alphaUcPeriod"/>
            </a:pPr>
            <a:endParaRPr lang="en-US" sz="1400" b="0" i="0" u="none" strike="noStrike" dirty="0">
              <a:solidFill>
                <a:schemeClr val="accent1"/>
              </a:solidFill>
              <a:effectLst/>
              <a:latin typeface="Arial" panose="020B0604020202020204" pitchFamily="34" charset="0"/>
            </a:endParaRPr>
          </a:p>
          <a:p>
            <a:pPr marL="342900" indent="-342900">
              <a:buFont typeface="+mj-lt"/>
              <a:buAutoNum type="alphaUcPeriod"/>
            </a:pPr>
            <a:r>
              <a:rPr lang="en-US" sz="1400" b="0" i="0" u="none" strike="noStrike" dirty="0">
                <a:solidFill>
                  <a:schemeClr val="accent1"/>
                </a:solidFill>
                <a:effectLst/>
                <a:latin typeface="Arial" panose="020B0604020202020204" pitchFamily="34" charset="0"/>
              </a:rPr>
              <a:t>Sum of ACFs*TR</a:t>
            </a:r>
          </a:p>
          <a:p>
            <a:pPr marL="342900" indent="-342900">
              <a:buFont typeface="+mj-lt"/>
              <a:buAutoNum type="alphaUcPeriod"/>
            </a:pPr>
            <a:r>
              <a:rPr lang="en-US" sz="1400" b="0" i="0" u="none" strike="noStrike" dirty="0">
                <a:solidFill>
                  <a:schemeClr val="accent1"/>
                </a:solidFill>
                <a:effectLst/>
                <a:latin typeface="Arial" panose="020B0604020202020204" pitchFamily="34" charset="0"/>
              </a:rPr>
              <a:t>tau </a:t>
            </a:r>
          </a:p>
          <a:p>
            <a:pPr marL="342900" indent="-342900">
              <a:buFont typeface="+mj-lt"/>
              <a:buAutoNum type="alphaUcPeriod"/>
            </a:pPr>
            <a:endParaRPr lang="en-US" sz="1400" b="0" i="0" u="none" strike="noStrike" dirty="0">
              <a:solidFill>
                <a:schemeClr val="accent1"/>
              </a:solidFill>
              <a:effectLst/>
              <a:latin typeface="Arial" panose="020B0604020202020204" pitchFamily="34" charset="0"/>
            </a:endParaRPr>
          </a:p>
          <a:p>
            <a:pPr marL="342900" indent="-342900">
              <a:buFont typeface="+mj-lt"/>
              <a:buAutoNum type="alphaUcPeriod"/>
            </a:pPr>
            <a:endParaRPr lang="en-US" sz="1400" dirty="0">
              <a:solidFill>
                <a:schemeClr val="accent1"/>
              </a:solidFill>
              <a:latin typeface="Arial" panose="020B0604020202020204" pitchFamily="34" charset="0"/>
            </a:endParaRPr>
          </a:p>
          <a:p>
            <a:pPr marL="342900" indent="-342900">
              <a:buFont typeface="+mj-lt"/>
              <a:buAutoNum type="alphaUcPeriod"/>
            </a:pPr>
            <a:endParaRPr lang="en-US" sz="1400" b="0" i="0" u="none" strike="noStrike" dirty="0">
              <a:solidFill>
                <a:schemeClr val="accent1"/>
              </a:solidFill>
              <a:effectLst/>
              <a:latin typeface="Arial" panose="020B0604020202020204" pitchFamily="34" charset="0"/>
            </a:endParaRPr>
          </a:p>
          <a:p>
            <a:pPr marL="342900" indent="-342900">
              <a:buFont typeface="+mj-lt"/>
              <a:buAutoNum type="alphaUcPeriod"/>
            </a:pPr>
            <a:r>
              <a:rPr lang="en-US" sz="1400" b="0" i="0" u="none" strike="noStrike" dirty="0" err="1">
                <a:solidFill>
                  <a:schemeClr val="accent1"/>
                </a:solidFill>
                <a:effectLst/>
                <a:latin typeface="Arial" panose="020B0604020202020204" pitchFamily="34" charset="0"/>
              </a:rPr>
              <a:t>lag@acf</a:t>
            </a:r>
            <a:r>
              <a:rPr lang="en-US" sz="1400" b="0" i="0" u="none" strike="noStrike" dirty="0">
                <a:solidFill>
                  <a:schemeClr val="accent1"/>
                </a:solidFill>
                <a:effectLst/>
                <a:latin typeface="Arial" panose="020B0604020202020204" pitchFamily="34" charset="0"/>
              </a:rPr>
              <a:t>=0</a:t>
            </a:r>
            <a:endParaRPr lang="en-US" sz="1400" dirty="0">
              <a:solidFill>
                <a:schemeClr val="accent1"/>
              </a:solidFill>
            </a:endParaRPr>
          </a:p>
        </p:txBody>
      </p:sp>
    </p:spTree>
    <p:extLst>
      <p:ext uri="{BB962C8B-B14F-4D97-AF65-F5344CB8AC3E}">
        <p14:creationId xmlns:p14="http://schemas.microsoft.com/office/powerpoint/2010/main" val="3073441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278770-001D-69E3-A4DD-51ED1BE362E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965A00E-415E-F641-EE78-3515B6593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18449AC-5712-F9B7-2F28-2AD21794A0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22AD3F-5BD5-8853-5305-EF0739FF9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05C01EA-E934-01E9-6E94-76B9AABC3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B1CAB92-7D25-424A-204F-7A143F06C2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EF7A32-79CE-5EB8-D29D-A26634BCE9D8}"/>
              </a:ext>
            </a:extLst>
          </p:cNvPr>
          <p:cNvSpPr>
            <a:spLocks noGrp="1"/>
          </p:cNvSpPr>
          <p:nvPr>
            <p:ph type="title"/>
          </p:nvPr>
        </p:nvSpPr>
        <p:spPr>
          <a:xfrm>
            <a:off x="1071609" y="280097"/>
            <a:ext cx="9895951" cy="1033669"/>
          </a:xfrm>
        </p:spPr>
        <p:txBody>
          <a:bodyPr>
            <a:noAutofit/>
          </a:bodyPr>
          <a:lstStyle/>
          <a:p>
            <a:r>
              <a:rPr lang="en-US" sz="3200" b="0" i="0" u="none" strike="noStrike" dirty="0">
                <a:solidFill>
                  <a:schemeClr val="bg2"/>
                </a:solidFill>
                <a:effectLst/>
                <a:latin typeface="Arial" panose="020B0604020202020204" pitchFamily="34" charset="0"/>
              </a:rPr>
              <a:t>Sum of ACFs*TR (Area Under the First Positive ACF)</a:t>
            </a:r>
            <a:endParaRPr lang="en-US" sz="3200" dirty="0">
              <a:solidFill>
                <a:schemeClr val="bg2"/>
              </a:solidFill>
            </a:endParaRPr>
          </a:p>
        </p:txBody>
      </p:sp>
      <p:sp>
        <p:nvSpPr>
          <p:cNvPr id="79" name="Google Shape;79;p15"/>
          <p:cNvSpPr txBox="1">
            <a:spLocks/>
          </p:cNvSpPr>
          <p:nvPr/>
        </p:nvSpPr>
        <p:spPr>
          <a:xfrm>
            <a:off x="6523300" y="5641267"/>
            <a:ext cx="2108000" cy="635968"/>
          </a:xfrm>
          <a:prstGeom prst="rect">
            <a:avLst/>
          </a:prstGeom>
        </p:spPr>
        <p:txBody>
          <a:bodyPr spcFirstLastPara="1" vert="horz" wrap="square" lIns="121900" tIns="121900" rIns="121900" bIns="12190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0"/>
              </a:spcBef>
              <a:spcAft>
                <a:spcPts val="1600"/>
              </a:spcAft>
              <a:buFont typeface="Arial" panose="020B0604020202020204" pitchFamily="34" charset="0"/>
              <a:buNone/>
            </a:pPr>
            <a:r>
              <a:rPr lang="en-US" sz="1333" dirty="0" err="1">
                <a:solidFill>
                  <a:schemeClr val="bg1">
                    <a:lumMod val="50000"/>
                  </a:schemeClr>
                </a:solidFill>
              </a:rPr>
              <a:t>Uscătescu</a:t>
            </a:r>
            <a:r>
              <a:rPr lang="en-US" sz="1333" dirty="0">
                <a:solidFill>
                  <a:schemeClr val="bg1">
                    <a:lumMod val="50000"/>
                  </a:schemeClr>
                </a:solidFill>
              </a:rPr>
              <a:t> et al. 2023</a:t>
            </a:r>
          </a:p>
        </p:txBody>
      </p:sp>
      <p:pic>
        <p:nvPicPr>
          <p:cNvPr id="80" name="Google Shape;80;p15"/>
          <p:cNvPicPr preferRelativeResize="0"/>
          <p:nvPr/>
        </p:nvPicPr>
        <p:blipFill rotWithShape="1">
          <a:blip r:embed="rId3">
            <a:alphaModFix/>
          </a:blip>
          <a:srcRect t="4349" b="2704"/>
          <a:stretch/>
        </p:blipFill>
        <p:spPr>
          <a:xfrm>
            <a:off x="6418034" y="1679517"/>
            <a:ext cx="2596333" cy="4118000"/>
          </a:xfrm>
          <a:prstGeom prst="rect">
            <a:avLst/>
          </a:prstGeom>
          <a:noFill/>
          <a:ln>
            <a:noFill/>
          </a:ln>
        </p:spPr>
      </p:pic>
      <p:pic>
        <p:nvPicPr>
          <p:cNvPr id="3" name="Google Shape;65;p14">
            <a:extLst>
              <a:ext uri="{FF2B5EF4-FFF2-40B4-BE49-F238E27FC236}">
                <a16:creationId xmlns:a16="http://schemas.microsoft.com/office/drawing/2014/main" id="{2E55251B-525E-3248-6CC9-A71E8B6EC95F}"/>
              </a:ext>
            </a:extLst>
          </p:cNvPr>
          <p:cNvPicPr preferRelativeResize="0"/>
          <p:nvPr/>
        </p:nvPicPr>
        <p:blipFill>
          <a:blip r:embed="rId4">
            <a:alphaModFix/>
          </a:blip>
          <a:srcRect l="69223"/>
          <a:stretch/>
        </p:blipFill>
        <p:spPr>
          <a:xfrm>
            <a:off x="4873263" y="1610752"/>
            <a:ext cx="1573617" cy="950488"/>
          </a:xfrm>
          <a:prstGeom prst="rect">
            <a:avLst/>
          </a:prstGeom>
          <a:noFill/>
          <a:ln>
            <a:noFill/>
          </a:ln>
        </p:spPr>
      </p:pic>
      <p:pic>
        <p:nvPicPr>
          <p:cNvPr id="4" name="Google Shape;92;p15">
            <a:extLst>
              <a:ext uri="{FF2B5EF4-FFF2-40B4-BE49-F238E27FC236}">
                <a16:creationId xmlns:a16="http://schemas.microsoft.com/office/drawing/2014/main" id="{C3B5277B-4B79-59DA-FBAB-A5E74737F385}"/>
              </a:ext>
            </a:extLst>
          </p:cNvPr>
          <p:cNvPicPr preferRelativeResize="0"/>
          <p:nvPr/>
        </p:nvPicPr>
        <p:blipFill>
          <a:blip r:embed="rId5">
            <a:alphaModFix/>
          </a:blip>
          <a:srcRect l="67095"/>
          <a:stretch/>
        </p:blipFill>
        <p:spPr>
          <a:xfrm>
            <a:off x="4764485" y="2678097"/>
            <a:ext cx="1682395" cy="809159"/>
          </a:xfrm>
          <a:prstGeom prst="rect">
            <a:avLst/>
          </a:prstGeom>
          <a:noFill/>
          <a:ln>
            <a:noFill/>
          </a:ln>
        </p:spPr>
      </p:pic>
      <p:pic>
        <p:nvPicPr>
          <p:cNvPr id="5" name="Google Shape;112;p16">
            <a:extLst>
              <a:ext uri="{FF2B5EF4-FFF2-40B4-BE49-F238E27FC236}">
                <a16:creationId xmlns:a16="http://schemas.microsoft.com/office/drawing/2014/main" id="{5B30EAF1-7C24-A300-C48F-5EB3467B33BC}"/>
              </a:ext>
            </a:extLst>
          </p:cNvPr>
          <p:cNvPicPr preferRelativeResize="0"/>
          <p:nvPr/>
        </p:nvPicPr>
        <p:blipFill>
          <a:blip r:embed="rId6">
            <a:alphaModFix/>
          </a:blip>
          <a:srcRect l="67095"/>
          <a:stretch/>
        </p:blipFill>
        <p:spPr>
          <a:xfrm>
            <a:off x="4714386" y="4213092"/>
            <a:ext cx="1682396" cy="950489"/>
          </a:xfrm>
          <a:prstGeom prst="rect">
            <a:avLst/>
          </a:prstGeom>
          <a:noFill/>
          <a:ln>
            <a:noFill/>
          </a:ln>
        </p:spPr>
      </p:pic>
      <p:pic>
        <p:nvPicPr>
          <p:cNvPr id="7" name="Google Shape;92;p15">
            <a:extLst>
              <a:ext uri="{FF2B5EF4-FFF2-40B4-BE49-F238E27FC236}">
                <a16:creationId xmlns:a16="http://schemas.microsoft.com/office/drawing/2014/main" id="{9ADCDF11-6DF7-753E-1652-40B688166678}"/>
              </a:ext>
            </a:extLst>
          </p:cNvPr>
          <p:cNvPicPr preferRelativeResize="0"/>
          <p:nvPr/>
        </p:nvPicPr>
        <p:blipFill>
          <a:blip r:embed="rId5">
            <a:alphaModFix/>
          </a:blip>
          <a:srcRect l="21769" r="32272"/>
          <a:stretch/>
        </p:blipFill>
        <p:spPr>
          <a:xfrm>
            <a:off x="3698365" y="3496302"/>
            <a:ext cx="2298407" cy="774800"/>
          </a:xfrm>
          <a:prstGeom prst="rect">
            <a:avLst/>
          </a:prstGeom>
          <a:noFill/>
          <a:ln>
            <a:noFill/>
          </a:ln>
        </p:spPr>
      </p:pic>
      <p:pic>
        <p:nvPicPr>
          <p:cNvPr id="9" name="Google Shape;65;p14">
            <a:extLst>
              <a:ext uri="{FF2B5EF4-FFF2-40B4-BE49-F238E27FC236}">
                <a16:creationId xmlns:a16="http://schemas.microsoft.com/office/drawing/2014/main" id="{38FE4D67-C9F2-9249-0FEB-2B2A4362281E}"/>
              </a:ext>
            </a:extLst>
          </p:cNvPr>
          <p:cNvPicPr preferRelativeResize="0"/>
          <p:nvPr/>
        </p:nvPicPr>
        <p:blipFill>
          <a:blip r:embed="rId4">
            <a:alphaModFix/>
          </a:blip>
          <a:srcRect r="81380"/>
          <a:stretch/>
        </p:blipFill>
        <p:spPr>
          <a:xfrm>
            <a:off x="3812458" y="1595117"/>
            <a:ext cx="952027" cy="950488"/>
          </a:xfrm>
          <a:prstGeom prst="rect">
            <a:avLst/>
          </a:prstGeom>
          <a:noFill/>
          <a:ln>
            <a:noFill/>
          </a:ln>
        </p:spPr>
      </p:pic>
      <p:pic>
        <p:nvPicPr>
          <p:cNvPr id="11" name="Google Shape;92;p15">
            <a:extLst>
              <a:ext uri="{FF2B5EF4-FFF2-40B4-BE49-F238E27FC236}">
                <a16:creationId xmlns:a16="http://schemas.microsoft.com/office/drawing/2014/main" id="{816398BC-269E-CC9F-5A47-6EE79B61D410}"/>
              </a:ext>
            </a:extLst>
          </p:cNvPr>
          <p:cNvPicPr preferRelativeResize="0"/>
          <p:nvPr/>
        </p:nvPicPr>
        <p:blipFill>
          <a:blip r:embed="rId5">
            <a:alphaModFix/>
          </a:blip>
          <a:srcRect r="80063"/>
          <a:stretch/>
        </p:blipFill>
        <p:spPr>
          <a:xfrm>
            <a:off x="3778786" y="2678097"/>
            <a:ext cx="1019369" cy="813682"/>
          </a:xfrm>
          <a:prstGeom prst="rect">
            <a:avLst/>
          </a:prstGeom>
          <a:noFill/>
          <a:ln>
            <a:noFill/>
          </a:ln>
        </p:spPr>
      </p:pic>
      <p:pic>
        <p:nvPicPr>
          <p:cNvPr id="13" name="Google Shape;112;p16">
            <a:extLst>
              <a:ext uri="{FF2B5EF4-FFF2-40B4-BE49-F238E27FC236}">
                <a16:creationId xmlns:a16="http://schemas.microsoft.com/office/drawing/2014/main" id="{9CC06012-CC44-697E-48BF-AA07922E6F80}"/>
              </a:ext>
            </a:extLst>
          </p:cNvPr>
          <p:cNvPicPr preferRelativeResize="0"/>
          <p:nvPr/>
        </p:nvPicPr>
        <p:blipFill>
          <a:blip r:embed="rId6">
            <a:alphaModFix/>
          </a:blip>
          <a:srcRect r="80331"/>
          <a:stretch/>
        </p:blipFill>
        <p:spPr>
          <a:xfrm>
            <a:off x="3841936" y="4222138"/>
            <a:ext cx="1005632" cy="950489"/>
          </a:xfrm>
          <a:prstGeom prst="rect">
            <a:avLst/>
          </a:prstGeom>
          <a:noFill/>
          <a:ln>
            <a:noFill/>
          </a:ln>
        </p:spPr>
      </p:pic>
      <p:pic>
        <p:nvPicPr>
          <p:cNvPr id="15" name="Google Shape;112;p16">
            <a:extLst>
              <a:ext uri="{FF2B5EF4-FFF2-40B4-BE49-F238E27FC236}">
                <a16:creationId xmlns:a16="http://schemas.microsoft.com/office/drawing/2014/main" id="{81A2B56E-C7C6-0423-98DF-CD33D23F3F42}"/>
              </a:ext>
            </a:extLst>
          </p:cNvPr>
          <p:cNvPicPr preferRelativeResize="0"/>
          <p:nvPr/>
        </p:nvPicPr>
        <p:blipFill>
          <a:blip r:embed="rId6">
            <a:alphaModFix/>
          </a:blip>
          <a:srcRect l="21682" r="32359"/>
          <a:stretch/>
        </p:blipFill>
        <p:spPr>
          <a:xfrm>
            <a:off x="3669789" y="5089306"/>
            <a:ext cx="2349796" cy="950489"/>
          </a:xfrm>
          <a:prstGeom prst="rect">
            <a:avLst/>
          </a:prstGeom>
          <a:noFill/>
          <a:ln>
            <a:noFill/>
          </a:ln>
        </p:spPr>
      </p:pic>
    </p:spTree>
    <p:extLst>
      <p:ext uri="{BB962C8B-B14F-4D97-AF65-F5344CB8AC3E}">
        <p14:creationId xmlns:p14="http://schemas.microsoft.com/office/powerpoint/2010/main" val="1758574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US" sz="4000">
                <a:solidFill>
                  <a:srgbClr val="FFFFFF"/>
                </a:solidFill>
              </a:rPr>
              <a:t>Discriminability Analysis</a:t>
            </a:r>
          </a:p>
        </p:txBody>
      </p:sp>
      <p:graphicFrame>
        <p:nvGraphicFramePr>
          <p:cNvPr id="18" name="Content Placeholder 2">
            <a:extLst>
              <a:ext uri="{FF2B5EF4-FFF2-40B4-BE49-F238E27FC236}">
                <a16:creationId xmlns:a16="http://schemas.microsoft.com/office/drawing/2014/main" id="{B0578D8E-04E3-D902-ED1D-BDDC0FFB914C}"/>
              </a:ext>
            </a:extLst>
          </p:cNvPr>
          <p:cNvGraphicFramePr>
            <a:graphicFrameLocks noGrp="1"/>
          </p:cNvGraphicFramePr>
          <p:nvPr>
            <p:ph idx="1"/>
            <p:extLst>
              <p:ext uri="{D42A27DB-BD31-4B8C-83A1-F6EECF244321}">
                <p14:modId xmlns:p14="http://schemas.microsoft.com/office/powerpoint/2010/main" val="3342573237"/>
              </p:ext>
            </p:extLst>
          </p:nvPr>
        </p:nvGraphicFramePr>
        <p:xfrm>
          <a:off x="644056" y="2112579"/>
          <a:ext cx="10927829" cy="23941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8E389816-1D9D-424E-0629-9DC7D48780E1}"/>
              </a:ext>
            </a:extLst>
          </p:cNvPr>
          <p:cNvSpPr txBox="1"/>
          <p:nvPr/>
        </p:nvSpPr>
        <p:spPr>
          <a:xfrm>
            <a:off x="644055" y="4494578"/>
            <a:ext cx="7219785" cy="1477328"/>
          </a:xfrm>
          <a:prstGeom prst="rect">
            <a:avLst/>
          </a:prstGeom>
          <a:noFill/>
        </p:spPr>
        <p:txBody>
          <a:bodyPr wrap="square">
            <a:spAutoFit/>
          </a:bodyPr>
          <a:lstStyle/>
          <a:p>
            <a:r>
              <a:rPr lang="en-US" dirty="0">
                <a:solidFill>
                  <a:schemeClr val="accent5"/>
                </a:solidFill>
              </a:rPr>
              <a:t>Your brain should look </a:t>
            </a:r>
            <a:r>
              <a:rPr lang="en-US" b="1" dirty="0">
                <a:solidFill>
                  <a:schemeClr val="accent5"/>
                </a:solidFill>
              </a:rPr>
              <a:t>more like itself</a:t>
            </a:r>
            <a:r>
              <a:rPr lang="en-US" dirty="0">
                <a:solidFill>
                  <a:schemeClr val="accent5"/>
                </a:solidFill>
              </a:rPr>
              <a:t> than like others’</a:t>
            </a:r>
          </a:p>
          <a:p>
            <a:endParaRPr lang="en-US" dirty="0">
              <a:solidFill>
                <a:schemeClr val="accent5"/>
              </a:solidFill>
            </a:endParaRPr>
          </a:p>
          <a:p>
            <a:r>
              <a:rPr lang="en-US" b="1" dirty="0">
                <a:solidFill>
                  <a:schemeClr val="accent5"/>
                </a:solidFill>
              </a:rPr>
              <a:t>Within-person similarity &gt; Between-person similarity</a:t>
            </a:r>
            <a:endParaRPr lang="en-US" dirty="0">
              <a:solidFill>
                <a:schemeClr val="accent5"/>
              </a:solidFill>
            </a:endParaRPr>
          </a:p>
          <a:p>
            <a:endParaRPr lang="en-US" dirty="0">
              <a:solidFill>
                <a:schemeClr val="accent5"/>
              </a:solidFill>
            </a:endParaRPr>
          </a:p>
          <a:p>
            <a:r>
              <a:rPr lang="en-US" dirty="0">
                <a:solidFill>
                  <a:schemeClr val="accent5"/>
                </a:solidFill>
              </a:rPr>
              <a:t>Score ranges from </a:t>
            </a:r>
            <a:r>
              <a:rPr lang="en-US" b="1" dirty="0">
                <a:solidFill>
                  <a:schemeClr val="accent5"/>
                </a:solidFill>
              </a:rPr>
              <a:t>0.5 (random)</a:t>
            </a:r>
            <a:r>
              <a:rPr lang="en-US" dirty="0">
                <a:solidFill>
                  <a:schemeClr val="accent5"/>
                </a:solidFill>
              </a:rPr>
              <a:t> to </a:t>
            </a:r>
            <a:r>
              <a:rPr lang="en-US" b="1" dirty="0">
                <a:solidFill>
                  <a:schemeClr val="accent5"/>
                </a:solidFill>
              </a:rPr>
              <a:t>1.0 (perfect individual fingerprint)</a:t>
            </a:r>
            <a:endParaRPr lang="en-US" dirty="0">
              <a:solidFill>
                <a:schemeClr val="accent5"/>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18">
                                            <p:graphicEl>
                                              <a:dgm id="{C9A5CA2E-9998-410F-B941-0AED552BB11D}"/>
                                            </p:graphicEl>
                                          </p:spTgt>
                                        </p:tgtEl>
                                        <p:attrNameLst>
                                          <p:attrName>style.visibility</p:attrName>
                                        </p:attrNameLst>
                                      </p:cBhvr>
                                      <p:to>
                                        <p:strVal val="visible"/>
                                      </p:to>
                                    </p:set>
                                    <p:anim calcmode="lin" valueType="num">
                                      <p:cBhvr additive="base">
                                        <p:cTn id="14" dur="500" fill="hold"/>
                                        <p:tgtEl>
                                          <p:spTgt spid="18">
                                            <p:graphicEl>
                                              <a:dgm id="{C9A5CA2E-9998-410F-B941-0AED552BB11D}"/>
                                            </p:graphicEl>
                                          </p:spTgt>
                                        </p:tgtEl>
                                        <p:attrNameLst>
                                          <p:attrName>ppt_x</p:attrName>
                                        </p:attrNameLst>
                                      </p:cBhvr>
                                      <p:tavLst>
                                        <p:tav tm="0">
                                          <p:val>
                                            <p:strVal val="0-#ppt_w/2"/>
                                          </p:val>
                                        </p:tav>
                                        <p:tav tm="100000">
                                          <p:val>
                                            <p:strVal val="#ppt_x"/>
                                          </p:val>
                                        </p:tav>
                                      </p:tavLst>
                                    </p:anim>
                                    <p:anim calcmode="lin" valueType="num">
                                      <p:cBhvr additive="base">
                                        <p:cTn id="15" dur="500" fill="hold"/>
                                        <p:tgtEl>
                                          <p:spTgt spid="18">
                                            <p:graphicEl>
                                              <a:dgm id="{C9A5CA2E-9998-410F-B941-0AED552BB11D}"/>
                                            </p:graphicEl>
                                          </p:spTgt>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18">
                                            <p:graphicEl>
                                              <a:dgm id="{1D5243D7-96C4-44AE-947C-E9B5BC2B0C93}"/>
                                            </p:graphicEl>
                                          </p:spTgt>
                                        </p:tgtEl>
                                        <p:attrNameLst>
                                          <p:attrName>style.visibility</p:attrName>
                                        </p:attrNameLst>
                                      </p:cBhvr>
                                      <p:to>
                                        <p:strVal val="visible"/>
                                      </p:to>
                                    </p:set>
                                    <p:anim calcmode="lin" valueType="num">
                                      <p:cBhvr additive="base">
                                        <p:cTn id="20" dur="500" fill="hold"/>
                                        <p:tgtEl>
                                          <p:spTgt spid="18">
                                            <p:graphicEl>
                                              <a:dgm id="{1D5243D7-96C4-44AE-947C-E9B5BC2B0C93}"/>
                                            </p:graphic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18">
                                            <p:graphicEl>
                                              <a:dgm id="{1D5243D7-96C4-44AE-947C-E9B5BC2B0C93}"/>
                                            </p:graphicEl>
                                          </p:spTgt>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23" dur="1" fill="hold">
                                          <p:stCondLst>
                                            <p:cond delay="0"/>
                                          </p:stCondLst>
                                        </p:cTn>
                                        <p:tgtEl>
                                          <p:spTgt spid="18">
                                            <p:graphicEl>
                                              <a:dgm id="{1A997079-4C31-4E88-A0C0-BB37D80C26D8}"/>
                                            </p:graphicEl>
                                          </p:spTgt>
                                        </p:tgtEl>
                                        <p:attrNameLst>
                                          <p:attrName>style.visibility</p:attrName>
                                        </p:attrNameLst>
                                      </p:cBhvr>
                                      <p:to>
                                        <p:strVal val="visible"/>
                                      </p:to>
                                    </p:set>
                                    <p:anim calcmode="lin" valueType="num">
                                      <p:cBhvr additive="base">
                                        <p:cTn id="24" dur="500" fill="hold"/>
                                        <p:tgtEl>
                                          <p:spTgt spid="18">
                                            <p:graphicEl>
                                              <a:dgm id="{1A997079-4C31-4E88-A0C0-BB37D80C26D8}"/>
                                            </p:graphic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8">
                                            <p:graphicEl>
                                              <a:dgm id="{1A997079-4C31-4E88-A0C0-BB37D80C26D8}"/>
                                            </p:graphic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8">
                                            <p:graphicEl>
                                              <a:dgm id="{4D525CCF-7608-4F18-8E84-14B0B113C7F5}"/>
                                            </p:graphicEl>
                                          </p:spTgt>
                                        </p:tgtEl>
                                        <p:attrNameLst>
                                          <p:attrName>style.visibility</p:attrName>
                                        </p:attrNameLst>
                                      </p:cBhvr>
                                      <p:to>
                                        <p:strVal val="visible"/>
                                      </p:to>
                                    </p:set>
                                    <p:anim calcmode="lin" valueType="num">
                                      <p:cBhvr additive="base">
                                        <p:cTn id="30" dur="500" fill="hold"/>
                                        <p:tgtEl>
                                          <p:spTgt spid="18">
                                            <p:graphicEl>
                                              <a:dgm id="{4D525CCF-7608-4F18-8E84-14B0B113C7F5}"/>
                                            </p:graphic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18">
                                            <p:graphicEl>
                                              <a:dgm id="{4D525CCF-7608-4F18-8E84-14B0B113C7F5}"/>
                                            </p:graphicEl>
                                          </p:spTgt>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0"/>
                                  </p:stCondLst>
                                  <p:childTnLst>
                                    <p:set>
                                      <p:cBhvr>
                                        <p:cTn id="33" dur="1" fill="hold">
                                          <p:stCondLst>
                                            <p:cond delay="0"/>
                                          </p:stCondLst>
                                        </p:cTn>
                                        <p:tgtEl>
                                          <p:spTgt spid="18">
                                            <p:graphicEl>
                                              <a:dgm id="{617F60CE-E421-4367-9885-C7941C8CDB38}"/>
                                            </p:graphicEl>
                                          </p:spTgt>
                                        </p:tgtEl>
                                        <p:attrNameLst>
                                          <p:attrName>style.visibility</p:attrName>
                                        </p:attrNameLst>
                                      </p:cBhvr>
                                      <p:to>
                                        <p:strVal val="visible"/>
                                      </p:to>
                                    </p:set>
                                    <p:anim calcmode="lin" valueType="num">
                                      <p:cBhvr additive="base">
                                        <p:cTn id="34" dur="500" fill="hold"/>
                                        <p:tgtEl>
                                          <p:spTgt spid="18">
                                            <p:graphicEl>
                                              <a:dgm id="{617F60CE-E421-4367-9885-C7941C8CDB38}"/>
                                            </p:graphic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18">
                                            <p:graphicEl>
                                              <a:dgm id="{617F60CE-E421-4367-9885-C7941C8CDB38}"/>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8" grpId="0">
        <p:bldSub>
          <a:bldDgm bld="one"/>
        </p:bldSub>
      </p:bldGraphic>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48483-81A6-0AE6-18A7-0347CFEF1002}"/>
              </a:ext>
            </a:extLst>
          </p:cNvPr>
          <p:cNvSpPr>
            <a:spLocks noGrp="1"/>
          </p:cNvSpPr>
          <p:nvPr>
            <p:ph type="title"/>
          </p:nvPr>
        </p:nvSpPr>
        <p:spPr/>
        <p:txBody>
          <a:bodyPr/>
          <a:lstStyle/>
          <a:p>
            <a:pPr algn="ctr"/>
            <a:r>
              <a:rPr lang="en-US" dirty="0"/>
              <a:t>Discriminability Scores</a:t>
            </a:r>
          </a:p>
        </p:txBody>
      </p:sp>
      <p:sp>
        <p:nvSpPr>
          <p:cNvPr id="4" name="Slide Number Placeholder 3">
            <a:extLst>
              <a:ext uri="{FF2B5EF4-FFF2-40B4-BE49-F238E27FC236}">
                <a16:creationId xmlns:a16="http://schemas.microsoft.com/office/drawing/2014/main" id="{2DB41F52-5E0C-7157-A961-6E69938F6FD4}"/>
              </a:ext>
            </a:extLst>
          </p:cNvPr>
          <p:cNvSpPr>
            <a:spLocks noGrp="1"/>
          </p:cNvSpPr>
          <p:nvPr>
            <p:ph type="sldNum" sz="quarter" idx="12"/>
          </p:nvPr>
        </p:nvSpPr>
        <p:spPr>
          <a:xfrm>
            <a:off x="8610600" y="6483946"/>
            <a:ext cx="2743200" cy="365125"/>
          </a:xfrm>
        </p:spPr>
        <p:txBody>
          <a:bodyPr/>
          <a:lstStyle/>
          <a:p>
            <a:fld id="{ED2AB823-F179-4A4C-877B-2E0B011C8AA4}" type="slidenum">
              <a:rPr lang="en-US" smtClean="0"/>
              <a:t>12</a:t>
            </a:fld>
            <a:endParaRPr lang="en-US"/>
          </a:p>
        </p:txBody>
      </p:sp>
      <p:pic>
        <p:nvPicPr>
          <p:cNvPr id="4100" name="Picture 4">
            <a:extLst>
              <a:ext uri="{FF2B5EF4-FFF2-40B4-BE49-F238E27FC236}">
                <a16:creationId xmlns:a16="http://schemas.microsoft.com/office/drawing/2014/main" id="{4EE71EB1-66CA-7BE2-B95A-3E2E2B0ED73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48641" y="1464861"/>
            <a:ext cx="1781170" cy="2884488"/>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C7086DAD-5050-7BFD-A602-06EF92C2ED01}"/>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455323" y="1464861"/>
            <a:ext cx="2064850" cy="3290599"/>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870C9FAE-E094-1D07-26B2-E03B0A95B09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1773" b="12416"/>
          <a:stretch/>
        </p:blipFill>
        <p:spPr bwMode="auto">
          <a:xfrm>
            <a:off x="772125" y="4276279"/>
            <a:ext cx="5315372" cy="208533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3">
            <a:extLst>
              <a:ext uri="{FF2B5EF4-FFF2-40B4-BE49-F238E27FC236}">
                <a16:creationId xmlns:a16="http://schemas.microsoft.com/office/drawing/2014/main" id="{CF237597-5655-0187-B5E3-7CB38DBE2E5C}"/>
              </a:ext>
            </a:extLst>
          </p:cNvPr>
          <p:cNvSpPr txBox="1">
            <a:spLocks/>
          </p:cNvSpPr>
          <p:nvPr/>
        </p:nvSpPr>
        <p:spPr>
          <a:xfrm>
            <a:off x="8610600" y="6483946"/>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ED2AB823-F179-4A4C-877B-2E0B011C8AA4}" type="slidenum">
              <a:rPr lang="en-US" smtClean="0"/>
              <a:pPr>
                <a:spcAft>
                  <a:spcPts val="600"/>
                </a:spcAft>
              </a:pPr>
              <a:t>12</a:t>
            </a:fld>
            <a:endParaRPr lang="en-US"/>
          </a:p>
        </p:txBody>
      </p:sp>
      <p:pic>
        <p:nvPicPr>
          <p:cNvPr id="4104" name="Picture 8">
            <a:extLst>
              <a:ext uri="{FF2B5EF4-FFF2-40B4-BE49-F238E27FC236}">
                <a16:creationId xmlns:a16="http://schemas.microsoft.com/office/drawing/2014/main" id="{4BD74938-8626-6E81-7EB7-E6AE8AA465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04248" y="1513020"/>
            <a:ext cx="2064850" cy="31088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a:extLst>
              <a:ext uri="{FF2B5EF4-FFF2-40B4-BE49-F238E27FC236}">
                <a16:creationId xmlns:a16="http://schemas.microsoft.com/office/drawing/2014/main" id="{1EFD84E5-5368-CD37-A554-28848866A7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78987" y="1513020"/>
            <a:ext cx="1781170" cy="2789379"/>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a:extLst>
              <a:ext uri="{FF2B5EF4-FFF2-40B4-BE49-F238E27FC236}">
                <a16:creationId xmlns:a16="http://schemas.microsoft.com/office/drawing/2014/main" id="{10AFB4FC-FD9C-88EE-45BB-3DAABD066C7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12944" b="12417"/>
          <a:stretch/>
        </p:blipFill>
        <p:spPr bwMode="auto">
          <a:xfrm>
            <a:off x="6629712" y="4284614"/>
            <a:ext cx="5260891" cy="2029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8374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B242B7-DB54-3FB6-28E9-19D55FD178C1}"/>
              </a:ext>
            </a:extLst>
          </p:cNvPr>
          <p:cNvSpPr>
            <a:spLocks noGrp="1"/>
          </p:cNvSpPr>
          <p:nvPr>
            <p:ph type="sldNum" sz="quarter" idx="12"/>
          </p:nvPr>
        </p:nvSpPr>
        <p:spPr/>
        <p:txBody>
          <a:bodyPr/>
          <a:lstStyle/>
          <a:p>
            <a:fld id="{ED2AB823-F179-4A4C-877B-2E0B011C8AA4}" type="slidenum">
              <a:rPr lang="en-US" smtClean="0"/>
              <a:t>13</a:t>
            </a:fld>
            <a:endParaRPr lang="en-US"/>
          </a:p>
        </p:txBody>
      </p:sp>
      <p:pic>
        <p:nvPicPr>
          <p:cNvPr id="5122" name="Picture 2">
            <a:extLst>
              <a:ext uri="{FF2B5EF4-FFF2-40B4-BE49-F238E27FC236}">
                <a16:creationId xmlns:a16="http://schemas.microsoft.com/office/drawing/2014/main" id="{8EED3211-31A9-F64F-EC71-C1FA65179C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4150" y="2041458"/>
            <a:ext cx="1847850" cy="283845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16F20675-9F68-5C07-5CDE-70915FA3D0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9706" y="2041458"/>
            <a:ext cx="1533525" cy="24384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B99E97B7-E754-9FCD-139A-E70F9A058E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95157" y="4904463"/>
            <a:ext cx="3096843" cy="1589823"/>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84E62B2E-17D8-44F5-1848-0B0877D55F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8927" y="2041458"/>
            <a:ext cx="1750779" cy="2743200"/>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a:extLst>
              <a:ext uri="{FF2B5EF4-FFF2-40B4-BE49-F238E27FC236}">
                <a16:creationId xmlns:a16="http://schemas.microsoft.com/office/drawing/2014/main" id="{9C490D53-36D0-674E-86F6-CB831A7C64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4483" y="2027281"/>
            <a:ext cx="1495425" cy="2419350"/>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a:extLst>
              <a:ext uri="{FF2B5EF4-FFF2-40B4-BE49-F238E27FC236}">
                <a16:creationId xmlns:a16="http://schemas.microsoft.com/office/drawing/2014/main" id="{5F9574FC-0FCC-88A6-B2D6-BFC745F3B83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30942" y="2027281"/>
            <a:ext cx="1790700" cy="2667000"/>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a:extLst>
              <a:ext uri="{FF2B5EF4-FFF2-40B4-BE49-F238E27FC236}">
                <a16:creationId xmlns:a16="http://schemas.microsoft.com/office/drawing/2014/main" id="{163665E7-3FB2-190F-9B29-096870EA492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0685" y="2070143"/>
            <a:ext cx="1524000" cy="2333625"/>
          </a:xfrm>
          <a:prstGeom prst="rect">
            <a:avLst/>
          </a:prstGeom>
          <a:noFill/>
          <a:extLst>
            <a:ext uri="{909E8E84-426E-40DD-AFC4-6F175D3DCCD1}">
              <a14:hiddenFill xmlns:a14="http://schemas.microsoft.com/office/drawing/2010/main">
                <a:solidFill>
                  <a:srgbClr val="FFFFFF"/>
                </a:solidFill>
              </a14:hiddenFill>
            </a:ext>
          </a:extLst>
        </p:spPr>
      </p:pic>
      <p:pic>
        <p:nvPicPr>
          <p:cNvPr id="5136" name="Picture 16">
            <a:extLst>
              <a:ext uri="{FF2B5EF4-FFF2-40B4-BE49-F238E27FC236}">
                <a16:creationId xmlns:a16="http://schemas.microsoft.com/office/drawing/2014/main" id="{C851E8E2-FDAD-6759-46EA-AAAB939AFF0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1600" y="2070144"/>
            <a:ext cx="1679085" cy="2592918"/>
          </a:xfrm>
          <a:prstGeom prst="rect">
            <a:avLst/>
          </a:prstGeom>
          <a:noFill/>
          <a:extLst>
            <a:ext uri="{909E8E84-426E-40DD-AFC4-6F175D3DCCD1}">
              <a14:hiddenFill xmlns:a14="http://schemas.microsoft.com/office/drawing/2010/main">
                <a:solidFill>
                  <a:srgbClr val="FFFFFF"/>
                </a:solidFill>
              </a14:hiddenFill>
            </a:ext>
          </a:extLst>
        </p:spPr>
      </p:pic>
      <p:pic>
        <p:nvPicPr>
          <p:cNvPr id="5138" name="Picture 18">
            <a:extLst>
              <a:ext uri="{FF2B5EF4-FFF2-40B4-BE49-F238E27FC236}">
                <a16:creationId xmlns:a16="http://schemas.microsoft.com/office/drawing/2014/main" id="{E24F25EC-9F0E-7AB7-092E-C1C971BBF92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2070143"/>
            <a:ext cx="1566700" cy="2383671"/>
          </a:xfrm>
          <a:prstGeom prst="rect">
            <a:avLst/>
          </a:prstGeom>
          <a:noFill/>
          <a:extLst>
            <a:ext uri="{909E8E84-426E-40DD-AFC4-6F175D3DCCD1}">
              <a14:hiddenFill xmlns:a14="http://schemas.microsoft.com/office/drawing/2010/main">
                <a:solidFill>
                  <a:srgbClr val="FFFFFF"/>
                </a:solidFill>
              </a14:hiddenFill>
            </a:ext>
          </a:extLst>
        </p:spPr>
      </p:pic>
      <p:pic>
        <p:nvPicPr>
          <p:cNvPr id="5140" name="Picture 20">
            <a:extLst>
              <a:ext uri="{FF2B5EF4-FFF2-40B4-BE49-F238E27FC236}">
                <a16:creationId xmlns:a16="http://schemas.microsoft.com/office/drawing/2014/main" id="{41C36211-566B-4E7A-A4F0-6482DFFC917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4944381"/>
            <a:ext cx="3010555" cy="1542722"/>
          </a:xfrm>
          <a:prstGeom prst="rect">
            <a:avLst/>
          </a:prstGeom>
          <a:noFill/>
          <a:extLst>
            <a:ext uri="{909E8E84-426E-40DD-AFC4-6F175D3DCCD1}">
              <a14:hiddenFill xmlns:a14="http://schemas.microsoft.com/office/drawing/2010/main">
                <a:solidFill>
                  <a:srgbClr val="FFFFFF"/>
                </a:solidFill>
              </a14:hiddenFill>
            </a:ext>
          </a:extLst>
        </p:spPr>
      </p:pic>
      <p:pic>
        <p:nvPicPr>
          <p:cNvPr id="5142" name="Picture 22">
            <a:extLst>
              <a:ext uri="{FF2B5EF4-FFF2-40B4-BE49-F238E27FC236}">
                <a16:creationId xmlns:a16="http://schemas.microsoft.com/office/drawing/2014/main" id="{139E38AC-E1F2-590E-3F41-CD8CC799262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8000" y="4942692"/>
            <a:ext cx="3010555" cy="1543874"/>
          </a:xfrm>
          <a:prstGeom prst="rect">
            <a:avLst/>
          </a:prstGeom>
          <a:noFill/>
          <a:extLst>
            <a:ext uri="{909E8E84-426E-40DD-AFC4-6F175D3DCCD1}">
              <a14:hiddenFill xmlns:a14="http://schemas.microsoft.com/office/drawing/2010/main">
                <a:solidFill>
                  <a:srgbClr val="FFFFFF"/>
                </a:solidFill>
              </a14:hiddenFill>
            </a:ext>
          </a:extLst>
        </p:spPr>
      </p:pic>
      <p:pic>
        <p:nvPicPr>
          <p:cNvPr id="5144" name="Picture 24">
            <a:extLst>
              <a:ext uri="{FF2B5EF4-FFF2-40B4-BE49-F238E27FC236}">
                <a16:creationId xmlns:a16="http://schemas.microsoft.com/office/drawing/2014/main" id="{D50BA11B-1D86-1186-EA7A-65B8FD8E22D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96000" y="4934973"/>
            <a:ext cx="3010555" cy="1559313"/>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C340042E-BAEE-5894-0BA8-F50FC8D85513}"/>
              </a:ext>
            </a:extLst>
          </p:cNvPr>
          <p:cNvSpPr>
            <a:spLocks noGrp="1"/>
          </p:cNvSpPr>
          <p:nvPr>
            <p:ph type="title"/>
          </p:nvPr>
        </p:nvSpPr>
        <p:spPr>
          <a:xfrm>
            <a:off x="838200" y="365125"/>
            <a:ext cx="10515600" cy="1325563"/>
          </a:xfrm>
        </p:spPr>
        <p:txBody>
          <a:bodyPr/>
          <a:lstStyle/>
          <a:p>
            <a:pPr algn="ctr"/>
            <a:r>
              <a:rPr lang="en-US" dirty="0"/>
              <a:t>Discriminability Scores</a:t>
            </a:r>
          </a:p>
        </p:txBody>
      </p:sp>
    </p:spTree>
    <p:extLst>
      <p:ext uri="{BB962C8B-B14F-4D97-AF65-F5344CB8AC3E}">
        <p14:creationId xmlns:p14="http://schemas.microsoft.com/office/powerpoint/2010/main" val="2846666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777E57D-6A88-4B5B-A068-2BA7FF4E8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8F963C-B265-E62E-874A-5B4CD0FDB5A9}"/>
              </a:ext>
            </a:extLst>
          </p:cNvPr>
          <p:cNvSpPr>
            <a:spLocks noGrp="1"/>
          </p:cNvSpPr>
          <p:nvPr>
            <p:ph type="title"/>
          </p:nvPr>
        </p:nvSpPr>
        <p:spPr>
          <a:xfrm>
            <a:off x="841248" y="502920"/>
            <a:ext cx="10509504" cy="1975104"/>
          </a:xfrm>
        </p:spPr>
        <p:txBody>
          <a:bodyPr anchor="b">
            <a:normAutofit/>
          </a:bodyPr>
          <a:lstStyle/>
          <a:p>
            <a:r>
              <a:rPr lang="en-US" sz="5400" b="1"/>
              <a:t>Linear Mixed-Effects Model</a:t>
            </a:r>
            <a:endParaRPr lang="en-US" sz="5400"/>
          </a:p>
        </p:txBody>
      </p:sp>
      <p:sp>
        <p:nvSpPr>
          <p:cNvPr id="25" name="Rectangle 24">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289407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F7264F6-B0D0-B7F5-A79C-CD28AEEEF6A1}"/>
              </a:ext>
            </a:extLst>
          </p:cNvPr>
          <p:cNvSpPr>
            <a:spLocks noGrp="1"/>
          </p:cNvSpPr>
          <p:nvPr>
            <p:ph idx="1"/>
          </p:nvPr>
        </p:nvSpPr>
        <p:spPr>
          <a:xfrm>
            <a:off x="841248" y="3328416"/>
            <a:ext cx="10509504" cy="2715768"/>
          </a:xfrm>
        </p:spPr>
        <p:txBody>
          <a:bodyPr>
            <a:normAutofit/>
          </a:bodyPr>
          <a:lstStyle/>
          <a:p>
            <a:pPr>
              <a:buNone/>
            </a:pPr>
            <a:r>
              <a:rPr lang="en-US" sz="2200" b="1" dirty="0"/>
              <a:t>AR(1) = </a:t>
            </a:r>
            <a:r>
              <a:rPr lang="el-GR" sz="2200" b="1" dirty="0"/>
              <a:t>β₁·</a:t>
            </a:r>
            <a:r>
              <a:rPr lang="en-US" sz="2200" b="1" dirty="0"/>
              <a:t>Age + </a:t>
            </a:r>
            <a:r>
              <a:rPr lang="el-GR" sz="2200" b="1" dirty="0"/>
              <a:t>β₂·</a:t>
            </a:r>
            <a:r>
              <a:rPr lang="en-US" sz="2200" b="1" dirty="0"/>
              <a:t>Age² + </a:t>
            </a:r>
            <a:r>
              <a:rPr lang="el-GR" sz="2200" b="1" dirty="0"/>
              <a:t>β₃·</a:t>
            </a:r>
            <a:r>
              <a:rPr lang="en-US" sz="2200" b="1" dirty="0"/>
              <a:t>Sex + </a:t>
            </a:r>
            <a:r>
              <a:rPr lang="el-GR" sz="2200" b="1" dirty="0"/>
              <a:t>β₄·</a:t>
            </a:r>
            <a:r>
              <a:rPr lang="en-US" sz="2200" b="1" dirty="0"/>
              <a:t>Head Motion + </a:t>
            </a:r>
            <a:r>
              <a:rPr lang="el-GR" sz="2200" b="1" dirty="0"/>
              <a:t>β₅ </a:t>
            </a:r>
            <a:r>
              <a:rPr lang="en-US" sz="2200" b="1" dirty="0"/>
              <a:t>.Age * Sex</a:t>
            </a:r>
          </a:p>
          <a:p>
            <a:pPr>
              <a:buNone/>
            </a:pPr>
            <a:endParaRPr lang="en-US" sz="2200" dirty="0"/>
          </a:p>
          <a:p>
            <a:pPr>
              <a:buFont typeface="Arial" panose="020B0604020202020204" pitchFamily="34" charset="0"/>
              <a:buChar char="•"/>
            </a:pPr>
            <a:r>
              <a:rPr lang="en-US" sz="2200" b="1" dirty="0"/>
              <a:t>Age, Age²</a:t>
            </a:r>
            <a:r>
              <a:rPr lang="en-US" sz="2200" dirty="0"/>
              <a:t>: Linear and quadratic age terms to capture nonlinear lifespan trends</a:t>
            </a:r>
          </a:p>
          <a:p>
            <a:pPr>
              <a:buFont typeface="Arial" panose="020B0604020202020204" pitchFamily="34" charset="0"/>
              <a:buChar char="•"/>
            </a:pPr>
            <a:r>
              <a:rPr lang="en-US" sz="2200" b="1" dirty="0"/>
              <a:t>Sex</a:t>
            </a:r>
            <a:r>
              <a:rPr lang="en-US" sz="2200" dirty="0"/>
              <a:t>: Binary variable</a:t>
            </a:r>
          </a:p>
          <a:p>
            <a:pPr>
              <a:buFont typeface="Arial" panose="020B0604020202020204" pitchFamily="34" charset="0"/>
              <a:buChar char="•"/>
            </a:pPr>
            <a:r>
              <a:rPr lang="en-US" sz="2200" b="1" dirty="0"/>
              <a:t>Head Motion</a:t>
            </a:r>
            <a:r>
              <a:rPr lang="en-US" sz="2200" dirty="0"/>
              <a:t>: Mean framewise displacement (FD), included as a covariate</a:t>
            </a:r>
          </a:p>
          <a:p>
            <a:pPr>
              <a:buFont typeface="Arial" panose="020B0604020202020204" pitchFamily="34" charset="0"/>
              <a:buChar char="•"/>
            </a:pPr>
            <a:r>
              <a:rPr lang="en-US" sz="2200" b="1" dirty="0"/>
              <a:t>Age * Sex </a:t>
            </a:r>
            <a:r>
              <a:rPr lang="en-US" sz="2200" dirty="0"/>
              <a:t>: Age and Sex Interaction</a:t>
            </a:r>
          </a:p>
        </p:txBody>
      </p:sp>
      <p:sp>
        <p:nvSpPr>
          <p:cNvPr id="4" name="Slide Number Placeholder 3">
            <a:extLst>
              <a:ext uri="{FF2B5EF4-FFF2-40B4-BE49-F238E27FC236}">
                <a16:creationId xmlns:a16="http://schemas.microsoft.com/office/drawing/2014/main" id="{F35A26AB-3DB4-3AA5-4A66-EAB295C3EFA3}"/>
              </a:ext>
            </a:extLst>
          </p:cNvPr>
          <p:cNvSpPr>
            <a:spLocks noGrp="1"/>
          </p:cNvSpPr>
          <p:nvPr>
            <p:ph type="sldNum" sz="quarter" idx="12"/>
          </p:nvPr>
        </p:nvSpPr>
        <p:spPr>
          <a:xfrm>
            <a:off x="8717280" y="6356350"/>
            <a:ext cx="2633472" cy="365125"/>
          </a:xfrm>
        </p:spPr>
        <p:txBody>
          <a:bodyPr>
            <a:normAutofit/>
          </a:bodyPr>
          <a:lstStyle/>
          <a:p>
            <a:pPr>
              <a:spcAft>
                <a:spcPts val="600"/>
              </a:spcAft>
            </a:pPr>
            <a:fld id="{ED2AB823-F179-4A4C-877B-2E0B011C8AA4}" type="slidenum">
              <a:rPr lang="en-US">
                <a:solidFill>
                  <a:schemeClr val="tx1">
                    <a:lumMod val="50000"/>
                    <a:lumOff val="50000"/>
                  </a:schemeClr>
                </a:solidFill>
              </a:rPr>
              <a:pPr>
                <a:spcAft>
                  <a:spcPts val="600"/>
                </a:spcAft>
              </a:pPr>
              <a:t>14</a:t>
            </a:fld>
            <a:endParaRPr lang="en-US">
              <a:solidFill>
                <a:schemeClr val="tx1">
                  <a:lumMod val="50000"/>
                  <a:lumOff val="50000"/>
                </a:schemeClr>
              </a:solidFill>
            </a:endParaRPr>
          </a:p>
        </p:txBody>
      </p:sp>
    </p:spTree>
    <p:extLst>
      <p:ext uri="{BB962C8B-B14F-4D97-AF65-F5344CB8AC3E}">
        <p14:creationId xmlns:p14="http://schemas.microsoft.com/office/powerpoint/2010/main" val="1536422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578026-CF9D-74FC-5067-FD021B97AD57}"/>
            </a:ext>
          </a:extLst>
        </p:cNvPr>
        <p:cNvGrpSpPr/>
        <p:nvPr/>
      </p:nvGrpSpPr>
      <p:grpSpPr>
        <a:xfrm>
          <a:off x="0" y="0"/>
          <a:ext cx="0" cy="0"/>
          <a:chOff x="0" y="0"/>
          <a:chExt cx="0" cy="0"/>
        </a:xfrm>
      </p:grpSpPr>
      <p:sp useBgFill="1">
        <p:nvSpPr>
          <p:cNvPr id="7194" name="Rectangle 7193">
            <a:extLst>
              <a:ext uri="{FF2B5EF4-FFF2-40B4-BE49-F238E27FC236}">
                <a16:creationId xmlns:a16="http://schemas.microsoft.com/office/drawing/2014/main" id="{CED028D0-C4C3-CBB7-B7A1-9DB8C6F871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F6553333-2BF2-D544-086F-552199D5DAAE}"/>
              </a:ext>
            </a:extLst>
          </p:cNvPr>
          <p:cNvSpPr>
            <a:spLocks noGrp="1"/>
          </p:cNvSpPr>
          <p:nvPr>
            <p:ph type="title"/>
          </p:nvPr>
        </p:nvSpPr>
        <p:spPr>
          <a:xfrm>
            <a:off x="638881" y="457200"/>
            <a:ext cx="10909640" cy="1368614"/>
          </a:xfrm>
        </p:spPr>
        <p:txBody>
          <a:bodyPr vert="horz" lIns="91440" tIns="45720" rIns="91440" bIns="45720" rtlCol="0" anchor="ctr">
            <a:normAutofit fontScale="90000"/>
          </a:bodyPr>
          <a:lstStyle/>
          <a:p>
            <a:pPr algn="ctr"/>
            <a:r>
              <a:rPr lang="en-US" sz="6600" dirty="0"/>
              <a:t>Statistical Modeling @ TR=645 </a:t>
            </a:r>
            <a:r>
              <a:rPr lang="en-US" sz="6600" dirty="0" err="1"/>
              <a:t>ms</a:t>
            </a:r>
            <a:endParaRPr lang="en-US" sz="6600" dirty="0"/>
          </a:p>
        </p:txBody>
      </p:sp>
      <p:sp>
        <p:nvSpPr>
          <p:cNvPr id="7195" name="sketch line">
            <a:extLst>
              <a:ext uri="{FF2B5EF4-FFF2-40B4-BE49-F238E27FC236}">
                <a16:creationId xmlns:a16="http://schemas.microsoft.com/office/drawing/2014/main" id="{957B01E2-47DA-4B86-6578-59C282451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A collage of images of brain&#10;&#10;AI-generated content may be incorrect.">
            <a:extLst>
              <a:ext uri="{FF2B5EF4-FFF2-40B4-BE49-F238E27FC236}">
                <a16:creationId xmlns:a16="http://schemas.microsoft.com/office/drawing/2014/main" id="{795769DC-5C23-7994-7790-510CEF8E343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20040" y="3112084"/>
            <a:ext cx="5614416" cy="2666848"/>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A collage of images of different colors&#10;&#10;AI-generated content may be incorrect.">
            <a:extLst>
              <a:ext uri="{FF2B5EF4-FFF2-40B4-BE49-F238E27FC236}">
                <a16:creationId xmlns:a16="http://schemas.microsoft.com/office/drawing/2014/main" id="{C1D9B048-77EE-D7F6-3BDA-BBBFC31965B7}"/>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254496" y="3126120"/>
            <a:ext cx="5614416" cy="26387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9567119-28EC-FDBB-67B2-434B6DCD9868}"/>
              </a:ext>
            </a:extLst>
          </p:cNvPr>
          <p:cNvSpPr txBox="1"/>
          <p:nvPr/>
        </p:nvSpPr>
        <p:spPr>
          <a:xfrm>
            <a:off x="638881" y="2758589"/>
            <a:ext cx="1189920" cy="310338"/>
          </a:xfrm>
          <a:prstGeom prst="rect">
            <a:avLst/>
          </a:prstGeom>
          <a:noFill/>
        </p:spPr>
        <p:txBody>
          <a:bodyPr wrap="square" rtlCol="0">
            <a:spAutoFit/>
          </a:bodyPr>
          <a:lstStyle/>
          <a:p>
            <a:r>
              <a:rPr lang="en-US" sz="1400" dirty="0">
                <a:solidFill>
                  <a:schemeClr val="bg1">
                    <a:lumMod val="50000"/>
                  </a:schemeClr>
                </a:solidFill>
              </a:rPr>
              <a:t>Head Motion</a:t>
            </a:r>
          </a:p>
        </p:txBody>
      </p:sp>
      <p:sp>
        <p:nvSpPr>
          <p:cNvPr id="3" name="TextBox 2">
            <a:extLst>
              <a:ext uri="{FF2B5EF4-FFF2-40B4-BE49-F238E27FC236}">
                <a16:creationId xmlns:a16="http://schemas.microsoft.com/office/drawing/2014/main" id="{23AE6216-1895-3E95-C30B-50D937F0BE93}"/>
              </a:ext>
            </a:extLst>
          </p:cNvPr>
          <p:cNvSpPr txBox="1"/>
          <p:nvPr/>
        </p:nvSpPr>
        <p:spPr>
          <a:xfrm>
            <a:off x="2805557" y="2758589"/>
            <a:ext cx="1189920" cy="310338"/>
          </a:xfrm>
          <a:prstGeom prst="rect">
            <a:avLst/>
          </a:prstGeom>
          <a:noFill/>
        </p:spPr>
        <p:txBody>
          <a:bodyPr wrap="square" rtlCol="0">
            <a:spAutoFit/>
          </a:bodyPr>
          <a:lstStyle/>
          <a:p>
            <a:r>
              <a:rPr lang="en-US" sz="1400" dirty="0">
                <a:solidFill>
                  <a:schemeClr val="bg1">
                    <a:lumMod val="50000"/>
                  </a:schemeClr>
                </a:solidFill>
              </a:rPr>
              <a:t>Age</a:t>
            </a:r>
          </a:p>
        </p:txBody>
      </p:sp>
      <p:sp>
        <p:nvSpPr>
          <p:cNvPr id="4" name="TextBox 3">
            <a:extLst>
              <a:ext uri="{FF2B5EF4-FFF2-40B4-BE49-F238E27FC236}">
                <a16:creationId xmlns:a16="http://schemas.microsoft.com/office/drawing/2014/main" id="{55A8CC27-285D-32CC-2603-4C5293CDBD8A}"/>
              </a:ext>
            </a:extLst>
          </p:cNvPr>
          <p:cNvSpPr txBox="1"/>
          <p:nvPr/>
        </p:nvSpPr>
        <p:spPr>
          <a:xfrm>
            <a:off x="4596026" y="2758589"/>
            <a:ext cx="1189920" cy="307777"/>
          </a:xfrm>
          <a:prstGeom prst="rect">
            <a:avLst/>
          </a:prstGeom>
          <a:noFill/>
        </p:spPr>
        <p:txBody>
          <a:bodyPr wrap="square" rtlCol="0">
            <a:spAutoFit/>
          </a:bodyPr>
          <a:lstStyle/>
          <a:p>
            <a:r>
              <a:rPr lang="en-US" sz="1400" dirty="0">
                <a:solidFill>
                  <a:schemeClr val="bg1">
                    <a:lumMod val="50000"/>
                  </a:schemeClr>
                </a:solidFill>
              </a:rPr>
              <a:t>Sex</a:t>
            </a:r>
          </a:p>
        </p:txBody>
      </p:sp>
      <p:sp>
        <p:nvSpPr>
          <p:cNvPr id="5" name="TextBox 4">
            <a:extLst>
              <a:ext uri="{FF2B5EF4-FFF2-40B4-BE49-F238E27FC236}">
                <a16:creationId xmlns:a16="http://schemas.microsoft.com/office/drawing/2014/main" id="{8F689F06-2DDA-46A5-3E0B-601BDF264D93}"/>
              </a:ext>
            </a:extLst>
          </p:cNvPr>
          <p:cNvSpPr txBox="1"/>
          <p:nvPr/>
        </p:nvSpPr>
        <p:spPr>
          <a:xfrm>
            <a:off x="1699721" y="4290338"/>
            <a:ext cx="1189920" cy="310338"/>
          </a:xfrm>
          <a:prstGeom prst="rect">
            <a:avLst/>
          </a:prstGeom>
          <a:noFill/>
        </p:spPr>
        <p:txBody>
          <a:bodyPr wrap="square" rtlCol="0">
            <a:spAutoFit/>
          </a:bodyPr>
          <a:lstStyle/>
          <a:p>
            <a:r>
              <a:rPr lang="en-US" sz="1400" dirty="0">
                <a:solidFill>
                  <a:schemeClr val="bg1">
                    <a:lumMod val="50000"/>
                  </a:schemeClr>
                </a:solidFill>
              </a:rPr>
              <a:t>Age*Sex</a:t>
            </a:r>
          </a:p>
        </p:txBody>
      </p:sp>
      <p:sp>
        <p:nvSpPr>
          <p:cNvPr id="6" name="TextBox 5">
            <a:extLst>
              <a:ext uri="{FF2B5EF4-FFF2-40B4-BE49-F238E27FC236}">
                <a16:creationId xmlns:a16="http://schemas.microsoft.com/office/drawing/2014/main" id="{E2FA6C16-6A38-E984-0A9A-CF6DBAF12468}"/>
              </a:ext>
            </a:extLst>
          </p:cNvPr>
          <p:cNvSpPr txBox="1"/>
          <p:nvPr/>
        </p:nvSpPr>
        <p:spPr>
          <a:xfrm>
            <a:off x="3406105" y="4290338"/>
            <a:ext cx="1323549" cy="307777"/>
          </a:xfrm>
          <a:prstGeom prst="rect">
            <a:avLst/>
          </a:prstGeom>
          <a:noFill/>
        </p:spPr>
        <p:txBody>
          <a:bodyPr wrap="square" rtlCol="0">
            <a:spAutoFit/>
          </a:bodyPr>
          <a:lstStyle/>
          <a:p>
            <a:r>
              <a:rPr lang="en-US" sz="1400" dirty="0">
                <a:solidFill>
                  <a:schemeClr val="bg1">
                    <a:lumMod val="50000"/>
                  </a:schemeClr>
                </a:solidFill>
              </a:rPr>
              <a:t>Age Quadratic</a:t>
            </a:r>
          </a:p>
        </p:txBody>
      </p:sp>
      <p:sp>
        <p:nvSpPr>
          <p:cNvPr id="7" name="TextBox 6">
            <a:extLst>
              <a:ext uri="{FF2B5EF4-FFF2-40B4-BE49-F238E27FC236}">
                <a16:creationId xmlns:a16="http://schemas.microsoft.com/office/drawing/2014/main" id="{03F20AA7-02AE-D48A-9BCD-6CD6C34C77EF}"/>
              </a:ext>
            </a:extLst>
          </p:cNvPr>
          <p:cNvSpPr txBox="1"/>
          <p:nvPr/>
        </p:nvSpPr>
        <p:spPr>
          <a:xfrm>
            <a:off x="6529905" y="2784869"/>
            <a:ext cx="1189920" cy="310338"/>
          </a:xfrm>
          <a:prstGeom prst="rect">
            <a:avLst/>
          </a:prstGeom>
          <a:noFill/>
        </p:spPr>
        <p:txBody>
          <a:bodyPr wrap="square" rtlCol="0">
            <a:spAutoFit/>
          </a:bodyPr>
          <a:lstStyle/>
          <a:p>
            <a:r>
              <a:rPr lang="en-US" sz="1400" dirty="0">
                <a:solidFill>
                  <a:schemeClr val="bg1">
                    <a:lumMod val="50000"/>
                  </a:schemeClr>
                </a:solidFill>
              </a:rPr>
              <a:t>Head Motion</a:t>
            </a:r>
          </a:p>
        </p:txBody>
      </p:sp>
      <p:sp>
        <p:nvSpPr>
          <p:cNvPr id="9" name="TextBox 8">
            <a:extLst>
              <a:ext uri="{FF2B5EF4-FFF2-40B4-BE49-F238E27FC236}">
                <a16:creationId xmlns:a16="http://schemas.microsoft.com/office/drawing/2014/main" id="{642861F8-5B6F-1145-909A-688330AF8B43}"/>
              </a:ext>
            </a:extLst>
          </p:cNvPr>
          <p:cNvSpPr txBox="1"/>
          <p:nvPr/>
        </p:nvSpPr>
        <p:spPr>
          <a:xfrm>
            <a:off x="8696581" y="2784869"/>
            <a:ext cx="1189920" cy="310338"/>
          </a:xfrm>
          <a:prstGeom prst="rect">
            <a:avLst/>
          </a:prstGeom>
          <a:noFill/>
        </p:spPr>
        <p:txBody>
          <a:bodyPr wrap="square" rtlCol="0">
            <a:spAutoFit/>
          </a:bodyPr>
          <a:lstStyle/>
          <a:p>
            <a:r>
              <a:rPr lang="en-US" sz="1400" dirty="0">
                <a:solidFill>
                  <a:schemeClr val="bg1">
                    <a:lumMod val="50000"/>
                  </a:schemeClr>
                </a:solidFill>
              </a:rPr>
              <a:t>Age</a:t>
            </a:r>
          </a:p>
        </p:txBody>
      </p:sp>
      <p:sp>
        <p:nvSpPr>
          <p:cNvPr id="10" name="TextBox 9">
            <a:extLst>
              <a:ext uri="{FF2B5EF4-FFF2-40B4-BE49-F238E27FC236}">
                <a16:creationId xmlns:a16="http://schemas.microsoft.com/office/drawing/2014/main" id="{1FF52484-BBB6-7D30-E973-38CC21555EA9}"/>
              </a:ext>
            </a:extLst>
          </p:cNvPr>
          <p:cNvSpPr txBox="1"/>
          <p:nvPr/>
        </p:nvSpPr>
        <p:spPr>
          <a:xfrm>
            <a:off x="10487050" y="2784869"/>
            <a:ext cx="1189920" cy="307777"/>
          </a:xfrm>
          <a:prstGeom prst="rect">
            <a:avLst/>
          </a:prstGeom>
          <a:noFill/>
        </p:spPr>
        <p:txBody>
          <a:bodyPr wrap="square" rtlCol="0">
            <a:spAutoFit/>
          </a:bodyPr>
          <a:lstStyle/>
          <a:p>
            <a:r>
              <a:rPr lang="en-US" sz="1400" dirty="0">
                <a:solidFill>
                  <a:schemeClr val="bg1">
                    <a:lumMod val="50000"/>
                  </a:schemeClr>
                </a:solidFill>
              </a:rPr>
              <a:t>Sex</a:t>
            </a:r>
          </a:p>
        </p:txBody>
      </p:sp>
      <p:sp>
        <p:nvSpPr>
          <p:cNvPr id="11" name="TextBox 10">
            <a:extLst>
              <a:ext uri="{FF2B5EF4-FFF2-40B4-BE49-F238E27FC236}">
                <a16:creationId xmlns:a16="http://schemas.microsoft.com/office/drawing/2014/main" id="{D03EC916-1FCF-A132-9016-83B2485CF7A7}"/>
              </a:ext>
            </a:extLst>
          </p:cNvPr>
          <p:cNvSpPr txBox="1"/>
          <p:nvPr/>
        </p:nvSpPr>
        <p:spPr>
          <a:xfrm>
            <a:off x="7590745" y="4316618"/>
            <a:ext cx="1189920" cy="310338"/>
          </a:xfrm>
          <a:prstGeom prst="rect">
            <a:avLst/>
          </a:prstGeom>
          <a:noFill/>
        </p:spPr>
        <p:txBody>
          <a:bodyPr wrap="square" rtlCol="0">
            <a:spAutoFit/>
          </a:bodyPr>
          <a:lstStyle/>
          <a:p>
            <a:r>
              <a:rPr lang="en-US" sz="1400" dirty="0">
                <a:solidFill>
                  <a:schemeClr val="bg1">
                    <a:lumMod val="50000"/>
                  </a:schemeClr>
                </a:solidFill>
              </a:rPr>
              <a:t>Age*Sex</a:t>
            </a:r>
          </a:p>
        </p:txBody>
      </p:sp>
      <p:sp>
        <p:nvSpPr>
          <p:cNvPr id="12" name="TextBox 11">
            <a:extLst>
              <a:ext uri="{FF2B5EF4-FFF2-40B4-BE49-F238E27FC236}">
                <a16:creationId xmlns:a16="http://schemas.microsoft.com/office/drawing/2014/main" id="{5B4BC63E-107F-8CB1-6CA2-DE6DD6CFFBD1}"/>
              </a:ext>
            </a:extLst>
          </p:cNvPr>
          <p:cNvSpPr txBox="1"/>
          <p:nvPr/>
        </p:nvSpPr>
        <p:spPr>
          <a:xfrm>
            <a:off x="9297129" y="4316618"/>
            <a:ext cx="1323549" cy="307777"/>
          </a:xfrm>
          <a:prstGeom prst="rect">
            <a:avLst/>
          </a:prstGeom>
          <a:noFill/>
        </p:spPr>
        <p:txBody>
          <a:bodyPr wrap="square" rtlCol="0">
            <a:spAutoFit/>
          </a:bodyPr>
          <a:lstStyle/>
          <a:p>
            <a:r>
              <a:rPr lang="en-US" sz="1400" dirty="0">
                <a:solidFill>
                  <a:schemeClr val="bg1">
                    <a:lumMod val="50000"/>
                  </a:schemeClr>
                </a:solidFill>
              </a:rPr>
              <a:t>Age Quadratic</a:t>
            </a:r>
          </a:p>
        </p:txBody>
      </p:sp>
      <p:sp>
        <p:nvSpPr>
          <p:cNvPr id="13" name="TextBox 12">
            <a:extLst>
              <a:ext uri="{FF2B5EF4-FFF2-40B4-BE49-F238E27FC236}">
                <a16:creationId xmlns:a16="http://schemas.microsoft.com/office/drawing/2014/main" id="{C93BC504-26C9-114B-6F19-A11B37391685}"/>
              </a:ext>
            </a:extLst>
          </p:cNvPr>
          <p:cNvSpPr txBox="1"/>
          <p:nvPr/>
        </p:nvSpPr>
        <p:spPr>
          <a:xfrm>
            <a:off x="7771200" y="2103120"/>
            <a:ext cx="2275840" cy="369332"/>
          </a:xfrm>
          <a:prstGeom prst="rect">
            <a:avLst/>
          </a:prstGeom>
          <a:noFill/>
        </p:spPr>
        <p:txBody>
          <a:bodyPr wrap="square" rtlCol="0">
            <a:spAutoFit/>
          </a:bodyPr>
          <a:lstStyle/>
          <a:p>
            <a:pPr algn="ctr"/>
            <a:r>
              <a:rPr lang="en-US" dirty="0"/>
              <a:t>T maps</a:t>
            </a:r>
          </a:p>
        </p:txBody>
      </p:sp>
      <p:sp>
        <p:nvSpPr>
          <p:cNvPr id="14" name="TextBox 13">
            <a:extLst>
              <a:ext uri="{FF2B5EF4-FFF2-40B4-BE49-F238E27FC236}">
                <a16:creationId xmlns:a16="http://schemas.microsoft.com/office/drawing/2014/main" id="{9D8A661A-D52C-C10B-97CB-759290C72325}"/>
              </a:ext>
            </a:extLst>
          </p:cNvPr>
          <p:cNvSpPr txBox="1"/>
          <p:nvPr/>
        </p:nvSpPr>
        <p:spPr>
          <a:xfrm>
            <a:off x="1989328" y="2103120"/>
            <a:ext cx="2275840" cy="369332"/>
          </a:xfrm>
          <a:prstGeom prst="rect">
            <a:avLst/>
          </a:prstGeom>
          <a:noFill/>
        </p:spPr>
        <p:txBody>
          <a:bodyPr wrap="square" rtlCol="0">
            <a:spAutoFit/>
          </a:bodyPr>
          <a:lstStyle/>
          <a:p>
            <a:pPr algn="ctr"/>
            <a:r>
              <a:rPr lang="en-US" dirty="0"/>
              <a:t>-log(P)</a:t>
            </a:r>
          </a:p>
        </p:txBody>
      </p:sp>
    </p:spTree>
    <p:extLst>
      <p:ext uri="{BB962C8B-B14F-4D97-AF65-F5344CB8AC3E}">
        <p14:creationId xmlns:p14="http://schemas.microsoft.com/office/powerpoint/2010/main" val="4178877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7" name="Rectangle 922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anchor="b">
            <a:normAutofit/>
          </a:bodyPr>
          <a:lstStyle/>
          <a:p>
            <a:r>
              <a:rPr lang="en-US" sz="5400"/>
              <a:t>Inverted-U Age Pattern</a:t>
            </a:r>
          </a:p>
        </p:txBody>
      </p:sp>
      <p:sp>
        <p:nvSpPr>
          <p:cNvPr id="922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anchor="t">
            <a:normAutofit/>
          </a:bodyPr>
          <a:lstStyle/>
          <a:p>
            <a:pPr marL="0" indent="0">
              <a:buNone/>
            </a:pPr>
            <a:r>
              <a:rPr lang="en-US" sz="2200" dirty="0"/>
              <a:t>• INTs increase → peak → decline with age</a:t>
            </a:r>
          </a:p>
        </p:txBody>
      </p:sp>
      <p:pic>
        <p:nvPicPr>
          <p:cNvPr id="9218" name="Picture 2">
            <a:extLst>
              <a:ext uri="{FF2B5EF4-FFF2-40B4-BE49-F238E27FC236}">
                <a16:creationId xmlns:a16="http://schemas.microsoft.com/office/drawing/2014/main" id="{430A0187-878F-D5BA-55F5-8C54478B100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54296" y="1055846"/>
            <a:ext cx="6903720" cy="47463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27815CE-9FA8-E462-36A2-2802B45C810D}"/>
              </a:ext>
            </a:extLst>
          </p:cNvPr>
          <p:cNvSpPr txBox="1"/>
          <p:nvPr/>
        </p:nvSpPr>
        <p:spPr>
          <a:xfrm>
            <a:off x="4128479" y="1381242"/>
            <a:ext cx="921004" cy="369332"/>
          </a:xfrm>
          <a:prstGeom prst="rect">
            <a:avLst/>
          </a:prstGeom>
          <a:noFill/>
        </p:spPr>
        <p:txBody>
          <a:bodyPr wrap="square" rtlCol="0">
            <a:spAutoFit/>
          </a:bodyPr>
          <a:lstStyle/>
          <a:p>
            <a:r>
              <a:rPr lang="en-US" dirty="0"/>
              <a:t>TR=645</a:t>
            </a:r>
          </a:p>
        </p:txBody>
      </p:sp>
      <p:sp>
        <p:nvSpPr>
          <p:cNvPr id="8" name="TextBox 7">
            <a:extLst>
              <a:ext uri="{FF2B5EF4-FFF2-40B4-BE49-F238E27FC236}">
                <a16:creationId xmlns:a16="http://schemas.microsoft.com/office/drawing/2014/main" id="{3CAB8A8D-0290-D830-C5DE-8694B70B80F4}"/>
              </a:ext>
            </a:extLst>
          </p:cNvPr>
          <p:cNvSpPr txBox="1"/>
          <p:nvPr/>
        </p:nvSpPr>
        <p:spPr>
          <a:xfrm>
            <a:off x="4064997" y="2966489"/>
            <a:ext cx="1047968" cy="369332"/>
          </a:xfrm>
          <a:prstGeom prst="rect">
            <a:avLst/>
          </a:prstGeom>
          <a:noFill/>
        </p:spPr>
        <p:txBody>
          <a:bodyPr wrap="square" rtlCol="0">
            <a:spAutoFit/>
          </a:bodyPr>
          <a:lstStyle/>
          <a:p>
            <a:r>
              <a:rPr lang="en-US" dirty="0"/>
              <a:t>TR=1400</a:t>
            </a:r>
          </a:p>
        </p:txBody>
      </p:sp>
      <p:sp>
        <p:nvSpPr>
          <p:cNvPr id="9" name="TextBox 8">
            <a:extLst>
              <a:ext uri="{FF2B5EF4-FFF2-40B4-BE49-F238E27FC236}">
                <a16:creationId xmlns:a16="http://schemas.microsoft.com/office/drawing/2014/main" id="{54A41C7A-B7AE-A8D4-C83F-70BD27EE2DA6}"/>
              </a:ext>
            </a:extLst>
          </p:cNvPr>
          <p:cNvSpPr txBox="1"/>
          <p:nvPr/>
        </p:nvSpPr>
        <p:spPr>
          <a:xfrm>
            <a:off x="3994621" y="4525627"/>
            <a:ext cx="1047968" cy="369332"/>
          </a:xfrm>
          <a:prstGeom prst="rect">
            <a:avLst/>
          </a:prstGeom>
          <a:noFill/>
        </p:spPr>
        <p:txBody>
          <a:bodyPr wrap="square" rtlCol="0">
            <a:spAutoFit/>
          </a:bodyPr>
          <a:lstStyle/>
          <a:p>
            <a:r>
              <a:rPr lang="en-US" dirty="0"/>
              <a:t>TR=2500</a:t>
            </a:r>
          </a:p>
        </p:txBody>
      </p:sp>
      <p:sp>
        <p:nvSpPr>
          <p:cNvPr id="10" name="TextBox 9">
            <a:extLst>
              <a:ext uri="{FF2B5EF4-FFF2-40B4-BE49-F238E27FC236}">
                <a16:creationId xmlns:a16="http://schemas.microsoft.com/office/drawing/2014/main" id="{B874A121-6E30-142E-79F8-37D02216AEAB}"/>
              </a:ext>
            </a:extLst>
          </p:cNvPr>
          <p:cNvSpPr txBox="1"/>
          <p:nvPr/>
        </p:nvSpPr>
        <p:spPr>
          <a:xfrm>
            <a:off x="4968259" y="909167"/>
            <a:ext cx="3535661" cy="215444"/>
          </a:xfrm>
          <a:prstGeom prst="rect">
            <a:avLst/>
          </a:prstGeom>
          <a:noFill/>
        </p:spPr>
        <p:txBody>
          <a:bodyPr wrap="square" rtlCol="0">
            <a:spAutoFit/>
          </a:bodyPr>
          <a:lstStyle/>
          <a:p>
            <a:r>
              <a:rPr lang="en-US" sz="800" b="1" dirty="0">
                <a:solidFill>
                  <a:schemeClr val="accent5"/>
                </a:solidFill>
              </a:rPr>
              <a:t>Visual</a:t>
            </a:r>
            <a:r>
              <a:rPr lang="en-US" sz="800" b="1" dirty="0"/>
              <a:t> </a:t>
            </a:r>
            <a:r>
              <a:rPr lang="en-US" sz="800" b="1" dirty="0" err="1">
                <a:solidFill>
                  <a:schemeClr val="tx2">
                    <a:lumMod val="50000"/>
                    <a:lumOff val="50000"/>
                  </a:schemeClr>
                </a:solidFill>
              </a:rPr>
              <a:t>Somatomotor</a:t>
            </a:r>
            <a:r>
              <a:rPr lang="en-US" sz="800" b="1" dirty="0"/>
              <a:t> </a:t>
            </a:r>
            <a:r>
              <a:rPr lang="en-US" sz="800" b="1" dirty="0">
                <a:solidFill>
                  <a:schemeClr val="accent6">
                    <a:lumMod val="75000"/>
                  </a:schemeClr>
                </a:solidFill>
              </a:rPr>
              <a:t>Dorsal Attn </a:t>
            </a:r>
            <a:r>
              <a:rPr lang="en-US" sz="800" b="1" dirty="0">
                <a:solidFill>
                  <a:srgbClr val="FFC000"/>
                </a:solidFill>
              </a:rPr>
              <a:t>Ven Attn </a:t>
            </a:r>
            <a:r>
              <a:rPr lang="en-US" sz="800" b="1" dirty="0">
                <a:solidFill>
                  <a:srgbClr val="CC0066"/>
                </a:solidFill>
              </a:rPr>
              <a:t>Limbic</a:t>
            </a:r>
            <a:r>
              <a:rPr lang="en-US" sz="800" b="1" dirty="0"/>
              <a:t> </a:t>
            </a:r>
            <a:r>
              <a:rPr lang="en-US" sz="800" b="1" dirty="0">
                <a:solidFill>
                  <a:schemeClr val="accent5">
                    <a:lumMod val="75000"/>
                  </a:schemeClr>
                </a:solidFill>
              </a:rPr>
              <a:t>Frontoparietal</a:t>
            </a:r>
            <a:r>
              <a:rPr lang="en-US" sz="800" b="1" dirty="0"/>
              <a:t> </a:t>
            </a:r>
            <a:r>
              <a:rPr lang="en-US" sz="800" b="1" dirty="0">
                <a:solidFill>
                  <a:srgbClr val="FF3300"/>
                </a:solidFill>
              </a:rPr>
              <a:t>Default</a:t>
            </a:r>
          </a:p>
        </p:txBody>
      </p:sp>
      <p:sp>
        <p:nvSpPr>
          <p:cNvPr id="11" name="TextBox 10">
            <a:extLst>
              <a:ext uri="{FF2B5EF4-FFF2-40B4-BE49-F238E27FC236}">
                <a16:creationId xmlns:a16="http://schemas.microsoft.com/office/drawing/2014/main" id="{B21989A6-8CCA-FA9B-F395-DB1F9DB5CF75}"/>
              </a:ext>
            </a:extLst>
          </p:cNvPr>
          <p:cNvSpPr txBox="1"/>
          <p:nvPr/>
        </p:nvSpPr>
        <p:spPr>
          <a:xfrm>
            <a:off x="4968258" y="5674824"/>
            <a:ext cx="3535661" cy="215444"/>
          </a:xfrm>
          <a:prstGeom prst="rect">
            <a:avLst/>
          </a:prstGeom>
          <a:noFill/>
        </p:spPr>
        <p:txBody>
          <a:bodyPr wrap="square" rtlCol="0">
            <a:spAutoFit/>
          </a:bodyPr>
          <a:lstStyle/>
          <a:p>
            <a:r>
              <a:rPr lang="en-US" sz="800" b="1" dirty="0">
                <a:solidFill>
                  <a:schemeClr val="accent5"/>
                </a:solidFill>
              </a:rPr>
              <a:t>Visual</a:t>
            </a:r>
            <a:r>
              <a:rPr lang="en-US" sz="800" b="1" dirty="0"/>
              <a:t> </a:t>
            </a:r>
            <a:r>
              <a:rPr lang="en-US" sz="800" b="1" dirty="0" err="1">
                <a:solidFill>
                  <a:schemeClr val="tx2">
                    <a:lumMod val="50000"/>
                    <a:lumOff val="50000"/>
                  </a:schemeClr>
                </a:solidFill>
              </a:rPr>
              <a:t>Somatomotor</a:t>
            </a:r>
            <a:r>
              <a:rPr lang="en-US" sz="800" b="1" dirty="0"/>
              <a:t> </a:t>
            </a:r>
            <a:r>
              <a:rPr lang="en-US" sz="800" b="1" dirty="0">
                <a:solidFill>
                  <a:schemeClr val="accent6">
                    <a:lumMod val="75000"/>
                  </a:schemeClr>
                </a:solidFill>
              </a:rPr>
              <a:t>Dorsal Attn </a:t>
            </a:r>
            <a:r>
              <a:rPr lang="en-US" sz="800" b="1" dirty="0">
                <a:solidFill>
                  <a:srgbClr val="FFC000"/>
                </a:solidFill>
              </a:rPr>
              <a:t>Ven Attn </a:t>
            </a:r>
            <a:r>
              <a:rPr lang="en-US" sz="800" b="1" dirty="0">
                <a:solidFill>
                  <a:srgbClr val="CC0066"/>
                </a:solidFill>
              </a:rPr>
              <a:t>Limbic</a:t>
            </a:r>
            <a:r>
              <a:rPr lang="en-US" sz="800" b="1" dirty="0"/>
              <a:t> </a:t>
            </a:r>
            <a:r>
              <a:rPr lang="en-US" sz="800" b="1" dirty="0">
                <a:solidFill>
                  <a:schemeClr val="accent5">
                    <a:lumMod val="75000"/>
                  </a:schemeClr>
                </a:solidFill>
              </a:rPr>
              <a:t>Frontoparietal</a:t>
            </a:r>
            <a:r>
              <a:rPr lang="en-US" sz="800" b="1" dirty="0"/>
              <a:t> </a:t>
            </a:r>
            <a:r>
              <a:rPr lang="en-US" sz="800" b="1" dirty="0">
                <a:solidFill>
                  <a:srgbClr val="FF3300"/>
                </a:solidFill>
              </a:rPr>
              <a:t>Default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51" name="Rectangle 1025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anchor="b">
            <a:normAutofit fontScale="90000"/>
          </a:bodyPr>
          <a:lstStyle/>
          <a:p>
            <a:r>
              <a:rPr lang="en-US" sz="3800" dirty="0"/>
              <a:t>Sex and Age Interaction Effects on INT (AR1) in Yeo 7 Networks</a:t>
            </a:r>
          </a:p>
        </p:txBody>
      </p:sp>
      <p:sp>
        <p:nvSpPr>
          <p:cNvPr id="1025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anchor="t">
            <a:normAutofit/>
          </a:bodyPr>
          <a:lstStyle/>
          <a:p>
            <a:pPr marL="0" indent="0">
              <a:buNone/>
            </a:pPr>
            <a:r>
              <a:rPr lang="en-US" sz="2200" dirty="0"/>
              <a:t>• Sex × Age interactions vary by region</a:t>
            </a:r>
          </a:p>
        </p:txBody>
      </p:sp>
      <p:pic>
        <p:nvPicPr>
          <p:cNvPr id="10242" name="Picture 2" descr="A screenshot of a graph&#10;&#10;AI-generated content may be incorrect.">
            <a:extLst>
              <a:ext uri="{FF2B5EF4-FFF2-40B4-BE49-F238E27FC236}">
                <a16:creationId xmlns:a16="http://schemas.microsoft.com/office/drawing/2014/main" id="{C2554333-7555-9B90-583B-5D0360E37B9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54296" y="1055846"/>
            <a:ext cx="6903720" cy="47463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E925B24-38C9-77E8-FC6C-DEB3B0650973}"/>
              </a:ext>
            </a:extLst>
          </p:cNvPr>
          <p:cNvSpPr txBox="1"/>
          <p:nvPr/>
        </p:nvSpPr>
        <p:spPr>
          <a:xfrm>
            <a:off x="4193794" y="1368179"/>
            <a:ext cx="921004" cy="369332"/>
          </a:xfrm>
          <a:prstGeom prst="rect">
            <a:avLst/>
          </a:prstGeom>
          <a:noFill/>
        </p:spPr>
        <p:txBody>
          <a:bodyPr wrap="square" rtlCol="0">
            <a:spAutoFit/>
          </a:bodyPr>
          <a:lstStyle/>
          <a:p>
            <a:r>
              <a:rPr lang="en-US" dirty="0"/>
              <a:t>TR=645</a:t>
            </a:r>
          </a:p>
        </p:txBody>
      </p:sp>
      <p:sp>
        <p:nvSpPr>
          <p:cNvPr id="5" name="TextBox 4">
            <a:extLst>
              <a:ext uri="{FF2B5EF4-FFF2-40B4-BE49-F238E27FC236}">
                <a16:creationId xmlns:a16="http://schemas.microsoft.com/office/drawing/2014/main" id="{941AD9C8-8404-3AC8-F32C-67B9E1C9C06D}"/>
              </a:ext>
            </a:extLst>
          </p:cNvPr>
          <p:cNvSpPr txBox="1"/>
          <p:nvPr/>
        </p:nvSpPr>
        <p:spPr>
          <a:xfrm>
            <a:off x="4130312" y="2953426"/>
            <a:ext cx="1047968" cy="369332"/>
          </a:xfrm>
          <a:prstGeom prst="rect">
            <a:avLst/>
          </a:prstGeom>
          <a:noFill/>
        </p:spPr>
        <p:txBody>
          <a:bodyPr wrap="square" rtlCol="0">
            <a:spAutoFit/>
          </a:bodyPr>
          <a:lstStyle/>
          <a:p>
            <a:r>
              <a:rPr lang="en-US" dirty="0"/>
              <a:t>TR=1400</a:t>
            </a:r>
          </a:p>
        </p:txBody>
      </p:sp>
      <p:sp>
        <p:nvSpPr>
          <p:cNvPr id="6" name="TextBox 5">
            <a:extLst>
              <a:ext uri="{FF2B5EF4-FFF2-40B4-BE49-F238E27FC236}">
                <a16:creationId xmlns:a16="http://schemas.microsoft.com/office/drawing/2014/main" id="{9667279B-1D8F-F81C-E8C5-433E94EE0770}"/>
              </a:ext>
            </a:extLst>
          </p:cNvPr>
          <p:cNvSpPr txBox="1"/>
          <p:nvPr/>
        </p:nvSpPr>
        <p:spPr>
          <a:xfrm>
            <a:off x="4059936" y="4512564"/>
            <a:ext cx="1047968" cy="369332"/>
          </a:xfrm>
          <a:prstGeom prst="rect">
            <a:avLst/>
          </a:prstGeom>
          <a:noFill/>
        </p:spPr>
        <p:txBody>
          <a:bodyPr wrap="square" rtlCol="0">
            <a:spAutoFit/>
          </a:bodyPr>
          <a:lstStyle/>
          <a:p>
            <a:r>
              <a:rPr lang="en-US" dirty="0"/>
              <a:t>TR=2500</a:t>
            </a:r>
          </a:p>
        </p:txBody>
      </p:sp>
      <p:sp>
        <p:nvSpPr>
          <p:cNvPr id="7" name="TextBox 6">
            <a:extLst>
              <a:ext uri="{FF2B5EF4-FFF2-40B4-BE49-F238E27FC236}">
                <a16:creationId xmlns:a16="http://schemas.microsoft.com/office/drawing/2014/main" id="{3F77CA2A-8CF0-1815-47D6-F9542CAC0520}"/>
              </a:ext>
            </a:extLst>
          </p:cNvPr>
          <p:cNvSpPr txBox="1"/>
          <p:nvPr/>
        </p:nvSpPr>
        <p:spPr>
          <a:xfrm>
            <a:off x="4968259" y="888847"/>
            <a:ext cx="3535661" cy="215444"/>
          </a:xfrm>
          <a:prstGeom prst="rect">
            <a:avLst/>
          </a:prstGeom>
          <a:noFill/>
        </p:spPr>
        <p:txBody>
          <a:bodyPr wrap="square" rtlCol="0">
            <a:spAutoFit/>
          </a:bodyPr>
          <a:lstStyle/>
          <a:p>
            <a:r>
              <a:rPr lang="en-US" sz="800" b="1" dirty="0">
                <a:solidFill>
                  <a:schemeClr val="accent5"/>
                </a:solidFill>
              </a:rPr>
              <a:t>Visual</a:t>
            </a:r>
            <a:r>
              <a:rPr lang="en-US" sz="800" b="1" dirty="0"/>
              <a:t> </a:t>
            </a:r>
            <a:r>
              <a:rPr lang="en-US" sz="800" b="1" dirty="0" err="1">
                <a:solidFill>
                  <a:schemeClr val="tx2">
                    <a:lumMod val="50000"/>
                    <a:lumOff val="50000"/>
                  </a:schemeClr>
                </a:solidFill>
              </a:rPr>
              <a:t>Somatomotor</a:t>
            </a:r>
            <a:r>
              <a:rPr lang="en-US" sz="800" b="1" dirty="0"/>
              <a:t> </a:t>
            </a:r>
            <a:r>
              <a:rPr lang="en-US" sz="800" b="1" dirty="0">
                <a:solidFill>
                  <a:schemeClr val="accent6">
                    <a:lumMod val="75000"/>
                  </a:schemeClr>
                </a:solidFill>
              </a:rPr>
              <a:t>Dorsal Attn </a:t>
            </a:r>
            <a:r>
              <a:rPr lang="en-US" sz="800" b="1" dirty="0">
                <a:solidFill>
                  <a:srgbClr val="FFC000"/>
                </a:solidFill>
              </a:rPr>
              <a:t>Ven Attn </a:t>
            </a:r>
            <a:r>
              <a:rPr lang="en-US" sz="800" b="1" dirty="0">
                <a:solidFill>
                  <a:srgbClr val="CC0066"/>
                </a:solidFill>
              </a:rPr>
              <a:t>Limbic</a:t>
            </a:r>
            <a:r>
              <a:rPr lang="en-US" sz="800" b="1" dirty="0"/>
              <a:t> </a:t>
            </a:r>
            <a:r>
              <a:rPr lang="en-US" sz="800" b="1" dirty="0">
                <a:solidFill>
                  <a:schemeClr val="accent5">
                    <a:lumMod val="75000"/>
                  </a:schemeClr>
                </a:solidFill>
              </a:rPr>
              <a:t>Frontoparietal</a:t>
            </a:r>
            <a:r>
              <a:rPr lang="en-US" sz="800" b="1" dirty="0"/>
              <a:t> </a:t>
            </a:r>
            <a:r>
              <a:rPr lang="en-US" sz="800" b="1" dirty="0">
                <a:solidFill>
                  <a:srgbClr val="FF3300"/>
                </a:solidFill>
              </a:rPr>
              <a:t>Default</a:t>
            </a:r>
          </a:p>
        </p:txBody>
      </p:sp>
      <p:sp>
        <p:nvSpPr>
          <p:cNvPr id="8" name="TextBox 7">
            <a:extLst>
              <a:ext uri="{FF2B5EF4-FFF2-40B4-BE49-F238E27FC236}">
                <a16:creationId xmlns:a16="http://schemas.microsoft.com/office/drawing/2014/main" id="{E326BB7A-6E1B-0590-DF5F-C126047F0D86}"/>
              </a:ext>
            </a:extLst>
          </p:cNvPr>
          <p:cNvSpPr txBox="1"/>
          <p:nvPr/>
        </p:nvSpPr>
        <p:spPr>
          <a:xfrm>
            <a:off x="4968258" y="5654504"/>
            <a:ext cx="3535661" cy="215444"/>
          </a:xfrm>
          <a:prstGeom prst="rect">
            <a:avLst/>
          </a:prstGeom>
          <a:noFill/>
        </p:spPr>
        <p:txBody>
          <a:bodyPr wrap="square" rtlCol="0">
            <a:spAutoFit/>
          </a:bodyPr>
          <a:lstStyle/>
          <a:p>
            <a:r>
              <a:rPr lang="en-US" sz="800" b="1" dirty="0">
                <a:solidFill>
                  <a:schemeClr val="accent5"/>
                </a:solidFill>
              </a:rPr>
              <a:t>Visual</a:t>
            </a:r>
            <a:r>
              <a:rPr lang="en-US" sz="800" b="1" dirty="0"/>
              <a:t> </a:t>
            </a:r>
            <a:r>
              <a:rPr lang="en-US" sz="800" b="1" dirty="0" err="1">
                <a:solidFill>
                  <a:schemeClr val="tx2">
                    <a:lumMod val="50000"/>
                    <a:lumOff val="50000"/>
                  </a:schemeClr>
                </a:solidFill>
              </a:rPr>
              <a:t>Somatomotor</a:t>
            </a:r>
            <a:r>
              <a:rPr lang="en-US" sz="800" b="1" dirty="0"/>
              <a:t> </a:t>
            </a:r>
            <a:r>
              <a:rPr lang="en-US" sz="800" b="1" dirty="0">
                <a:solidFill>
                  <a:schemeClr val="accent6">
                    <a:lumMod val="75000"/>
                  </a:schemeClr>
                </a:solidFill>
              </a:rPr>
              <a:t>Dorsal Attn </a:t>
            </a:r>
            <a:r>
              <a:rPr lang="en-US" sz="800" b="1" dirty="0">
                <a:solidFill>
                  <a:srgbClr val="FFC000"/>
                </a:solidFill>
              </a:rPr>
              <a:t>Ven Attn </a:t>
            </a:r>
            <a:r>
              <a:rPr lang="en-US" sz="800" b="1" dirty="0">
                <a:solidFill>
                  <a:srgbClr val="CC0066"/>
                </a:solidFill>
              </a:rPr>
              <a:t>Limbic</a:t>
            </a:r>
            <a:r>
              <a:rPr lang="en-US" sz="800" b="1" dirty="0"/>
              <a:t> </a:t>
            </a:r>
            <a:r>
              <a:rPr lang="en-US" sz="800" b="1" dirty="0">
                <a:solidFill>
                  <a:schemeClr val="accent5">
                    <a:lumMod val="75000"/>
                  </a:schemeClr>
                </a:solidFill>
              </a:rPr>
              <a:t>Frontoparietal</a:t>
            </a:r>
            <a:r>
              <a:rPr lang="en-US" sz="800" b="1" dirty="0"/>
              <a:t> </a:t>
            </a:r>
            <a:r>
              <a:rPr lang="en-US" sz="800" b="1" dirty="0">
                <a:solidFill>
                  <a:srgbClr val="FF3300"/>
                </a:solidFill>
              </a:rPr>
              <a:t>Default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00" name="Rectangle 7199">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9841DFEE-F4A2-2A2F-3B51-3081FB52897F}"/>
              </a:ext>
            </a:extLst>
          </p:cNvPr>
          <p:cNvSpPr>
            <a:spLocks noGrp="1"/>
          </p:cNvSpPr>
          <p:nvPr>
            <p:ph type="title"/>
          </p:nvPr>
        </p:nvSpPr>
        <p:spPr>
          <a:xfrm>
            <a:off x="638881" y="457200"/>
            <a:ext cx="10909640" cy="1368614"/>
          </a:xfrm>
        </p:spPr>
        <p:txBody>
          <a:bodyPr vert="horz" lIns="91440" tIns="45720" rIns="91440" bIns="45720" rtlCol="0" anchor="ctr">
            <a:normAutofit fontScale="90000"/>
          </a:bodyPr>
          <a:lstStyle/>
          <a:p>
            <a:pPr algn="ctr"/>
            <a:r>
              <a:rPr lang="en-US" sz="6600" dirty="0"/>
              <a:t>Statistical Modeling @ TR=1400 </a:t>
            </a:r>
            <a:r>
              <a:rPr lang="en-US" sz="6600" dirty="0" err="1"/>
              <a:t>ms</a:t>
            </a:r>
            <a:endParaRPr lang="en-US" sz="6600" dirty="0"/>
          </a:p>
        </p:txBody>
      </p:sp>
      <p:sp>
        <p:nvSpPr>
          <p:cNvPr id="720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4" name="Picture 6" descr="A collage of images of brain&#10;&#10;AI-generated content may be incorrect.">
            <a:extLst>
              <a:ext uri="{FF2B5EF4-FFF2-40B4-BE49-F238E27FC236}">
                <a16:creationId xmlns:a16="http://schemas.microsoft.com/office/drawing/2014/main" id="{F79C3BE5-809E-ACE1-7EC7-734880480E2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20040" y="3105066"/>
            <a:ext cx="5614416" cy="2680883"/>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A collage of images of different colors&#10;&#10;AI-generated content may be incorrect.">
            <a:extLst>
              <a:ext uri="{FF2B5EF4-FFF2-40B4-BE49-F238E27FC236}">
                <a16:creationId xmlns:a16="http://schemas.microsoft.com/office/drawing/2014/main" id="{625F4BE9-071B-2295-640A-0E9FEBF5F5DF}"/>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254496" y="3161211"/>
            <a:ext cx="5614416" cy="256859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728CC17-396D-B92B-D65A-70D13F8BDC1D}"/>
              </a:ext>
            </a:extLst>
          </p:cNvPr>
          <p:cNvSpPr txBox="1"/>
          <p:nvPr/>
        </p:nvSpPr>
        <p:spPr>
          <a:xfrm>
            <a:off x="638881" y="2758589"/>
            <a:ext cx="1189920" cy="310338"/>
          </a:xfrm>
          <a:prstGeom prst="rect">
            <a:avLst/>
          </a:prstGeom>
          <a:noFill/>
        </p:spPr>
        <p:txBody>
          <a:bodyPr wrap="square" rtlCol="0">
            <a:spAutoFit/>
          </a:bodyPr>
          <a:lstStyle/>
          <a:p>
            <a:r>
              <a:rPr lang="en-US" sz="1400" dirty="0">
                <a:solidFill>
                  <a:schemeClr val="bg1">
                    <a:lumMod val="50000"/>
                  </a:schemeClr>
                </a:solidFill>
              </a:rPr>
              <a:t>Head Motion</a:t>
            </a:r>
          </a:p>
        </p:txBody>
      </p:sp>
      <p:sp>
        <p:nvSpPr>
          <p:cNvPr id="3" name="TextBox 2">
            <a:extLst>
              <a:ext uri="{FF2B5EF4-FFF2-40B4-BE49-F238E27FC236}">
                <a16:creationId xmlns:a16="http://schemas.microsoft.com/office/drawing/2014/main" id="{4A821108-BF5F-C31F-53BF-3A810A4D256D}"/>
              </a:ext>
            </a:extLst>
          </p:cNvPr>
          <p:cNvSpPr txBox="1"/>
          <p:nvPr/>
        </p:nvSpPr>
        <p:spPr>
          <a:xfrm>
            <a:off x="2805557" y="2758589"/>
            <a:ext cx="1189920" cy="310338"/>
          </a:xfrm>
          <a:prstGeom prst="rect">
            <a:avLst/>
          </a:prstGeom>
          <a:noFill/>
        </p:spPr>
        <p:txBody>
          <a:bodyPr wrap="square" rtlCol="0">
            <a:spAutoFit/>
          </a:bodyPr>
          <a:lstStyle/>
          <a:p>
            <a:r>
              <a:rPr lang="en-US" sz="1400" dirty="0">
                <a:solidFill>
                  <a:schemeClr val="bg1">
                    <a:lumMod val="50000"/>
                  </a:schemeClr>
                </a:solidFill>
              </a:rPr>
              <a:t>Age</a:t>
            </a:r>
          </a:p>
        </p:txBody>
      </p:sp>
      <p:sp>
        <p:nvSpPr>
          <p:cNvPr id="4" name="TextBox 3">
            <a:extLst>
              <a:ext uri="{FF2B5EF4-FFF2-40B4-BE49-F238E27FC236}">
                <a16:creationId xmlns:a16="http://schemas.microsoft.com/office/drawing/2014/main" id="{308DE84F-14FD-0816-4807-23A05DB1C486}"/>
              </a:ext>
            </a:extLst>
          </p:cNvPr>
          <p:cNvSpPr txBox="1"/>
          <p:nvPr/>
        </p:nvSpPr>
        <p:spPr>
          <a:xfrm>
            <a:off x="4596026" y="2758589"/>
            <a:ext cx="1189920" cy="307777"/>
          </a:xfrm>
          <a:prstGeom prst="rect">
            <a:avLst/>
          </a:prstGeom>
          <a:noFill/>
        </p:spPr>
        <p:txBody>
          <a:bodyPr wrap="square" rtlCol="0">
            <a:spAutoFit/>
          </a:bodyPr>
          <a:lstStyle/>
          <a:p>
            <a:r>
              <a:rPr lang="en-US" sz="1400" dirty="0">
                <a:solidFill>
                  <a:schemeClr val="bg1">
                    <a:lumMod val="50000"/>
                  </a:schemeClr>
                </a:solidFill>
              </a:rPr>
              <a:t>Sex</a:t>
            </a:r>
          </a:p>
        </p:txBody>
      </p:sp>
      <p:sp>
        <p:nvSpPr>
          <p:cNvPr id="5" name="TextBox 4">
            <a:extLst>
              <a:ext uri="{FF2B5EF4-FFF2-40B4-BE49-F238E27FC236}">
                <a16:creationId xmlns:a16="http://schemas.microsoft.com/office/drawing/2014/main" id="{38A794F9-A62A-E10E-9832-8F498FFC1973}"/>
              </a:ext>
            </a:extLst>
          </p:cNvPr>
          <p:cNvSpPr txBox="1"/>
          <p:nvPr/>
        </p:nvSpPr>
        <p:spPr>
          <a:xfrm>
            <a:off x="1699721" y="4290338"/>
            <a:ext cx="1189920" cy="310338"/>
          </a:xfrm>
          <a:prstGeom prst="rect">
            <a:avLst/>
          </a:prstGeom>
          <a:noFill/>
        </p:spPr>
        <p:txBody>
          <a:bodyPr wrap="square" rtlCol="0">
            <a:spAutoFit/>
          </a:bodyPr>
          <a:lstStyle/>
          <a:p>
            <a:r>
              <a:rPr lang="en-US" sz="1400" dirty="0">
                <a:solidFill>
                  <a:schemeClr val="bg1">
                    <a:lumMod val="50000"/>
                  </a:schemeClr>
                </a:solidFill>
              </a:rPr>
              <a:t>Age*Sex</a:t>
            </a:r>
          </a:p>
        </p:txBody>
      </p:sp>
      <p:sp>
        <p:nvSpPr>
          <p:cNvPr id="6" name="TextBox 5">
            <a:extLst>
              <a:ext uri="{FF2B5EF4-FFF2-40B4-BE49-F238E27FC236}">
                <a16:creationId xmlns:a16="http://schemas.microsoft.com/office/drawing/2014/main" id="{448F4FD9-8153-7614-3A45-A9EEA5E6DF90}"/>
              </a:ext>
            </a:extLst>
          </p:cNvPr>
          <p:cNvSpPr txBox="1"/>
          <p:nvPr/>
        </p:nvSpPr>
        <p:spPr>
          <a:xfrm>
            <a:off x="3406105" y="4290338"/>
            <a:ext cx="1323549" cy="307777"/>
          </a:xfrm>
          <a:prstGeom prst="rect">
            <a:avLst/>
          </a:prstGeom>
          <a:noFill/>
        </p:spPr>
        <p:txBody>
          <a:bodyPr wrap="square" rtlCol="0">
            <a:spAutoFit/>
          </a:bodyPr>
          <a:lstStyle/>
          <a:p>
            <a:r>
              <a:rPr lang="en-US" sz="1400" dirty="0">
                <a:solidFill>
                  <a:schemeClr val="bg1">
                    <a:lumMod val="50000"/>
                  </a:schemeClr>
                </a:solidFill>
              </a:rPr>
              <a:t>Age Quadratic</a:t>
            </a:r>
          </a:p>
        </p:txBody>
      </p:sp>
      <p:sp>
        <p:nvSpPr>
          <p:cNvPr id="7" name="TextBox 6">
            <a:extLst>
              <a:ext uri="{FF2B5EF4-FFF2-40B4-BE49-F238E27FC236}">
                <a16:creationId xmlns:a16="http://schemas.microsoft.com/office/drawing/2014/main" id="{996D7949-79DA-15A9-CC6D-B2031E795EAF}"/>
              </a:ext>
            </a:extLst>
          </p:cNvPr>
          <p:cNvSpPr txBox="1"/>
          <p:nvPr/>
        </p:nvSpPr>
        <p:spPr>
          <a:xfrm>
            <a:off x="6477356" y="2763848"/>
            <a:ext cx="1189920" cy="310338"/>
          </a:xfrm>
          <a:prstGeom prst="rect">
            <a:avLst/>
          </a:prstGeom>
          <a:noFill/>
        </p:spPr>
        <p:txBody>
          <a:bodyPr wrap="square" rtlCol="0">
            <a:spAutoFit/>
          </a:bodyPr>
          <a:lstStyle/>
          <a:p>
            <a:r>
              <a:rPr lang="en-US" sz="1400" dirty="0">
                <a:solidFill>
                  <a:schemeClr val="bg1">
                    <a:lumMod val="50000"/>
                  </a:schemeClr>
                </a:solidFill>
              </a:rPr>
              <a:t>Head Motion</a:t>
            </a:r>
          </a:p>
        </p:txBody>
      </p:sp>
      <p:sp>
        <p:nvSpPr>
          <p:cNvPr id="9" name="TextBox 8">
            <a:extLst>
              <a:ext uri="{FF2B5EF4-FFF2-40B4-BE49-F238E27FC236}">
                <a16:creationId xmlns:a16="http://schemas.microsoft.com/office/drawing/2014/main" id="{74B98704-46D3-66BC-B586-1772C7B45E0D}"/>
              </a:ext>
            </a:extLst>
          </p:cNvPr>
          <p:cNvSpPr txBox="1"/>
          <p:nvPr/>
        </p:nvSpPr>
        <p:spPr>
          <a:xfrm>
            <a:off x="8644032" y="2763848"/>
            <a:ext cx="1189920" cy="310338"/>
          </a:xfrm>
          <a:prstGeom prst="rect">
            <a:avLst/>
          </a:prstGeom>
          <a:noFill/>
        </p:spPr>
        <p:txBody>
          <a:bodyPr wrap="square" rtlCol="0">
            <a:spAutoFit/>
          </a:bodyPr>
          <a:lstStyle/>
          <a:p>
            <a:r>
              <a:rPr lang="en-US" sz="1400" dirty="0">
                <a:solidFill>
                  <a:schemeClr val="bg1">
                    <a:lumMod val="50000"/>
                  </a:schemeClr>
                </a:solidFill>
              </a:rPr>
              <a:t>Age</a:t>
            </a:r>
          </a:p>
        </p:txBody>
      </p:sp>
      <p:sp>
        <p:nvSpPr>
          <p:cNvPr id="10" name="TextBox 9">
            <a:extLst>
              <a:ext uri="{FF2B5EF4-FFF2-40B4-BE49-F238E27FC236}">
                <a16:creationId xmlns:a16="http://schemas.microsoft.com/office/drawing/2014/main" id="{FEAFB26E-01D6-57DF-D4CE-83D3815124F8}"/>
              </a:ext>
            </a:extLst>
          </p:cNvPr>
          <p:cNvSpPr txBox="1"/>
          <p:nvPr/>
        </p:nvSpPr>
        <p:spPr>
          <a:xfrm>
            <a:off x="10434501" y="2763848"/>
            <a:ext cx="1189920" cy="307777"/>
          </a:xfrm>
          <a:prstGeom prst="rect">
            <a:avLst/>
          </a:prstGeom>
          <a:noFill/>
        </p:spPr>
        <p:txBody>
          <a:bodyPr wrap="square" rtlCol="0">
            <a:spAutoFit/>
          </a:bodyPr>
          <a:lstStyle/>
          <a:p>
            <a:r>
              <a:rPr lang="en-US" sz="1400" dirty="0">
                <a:solidFill>
                  <a:schemeClr val="bg1">
                    <a:lumMod val="50000"/>
                  </a:schemeClr>
                </a:solidFill>
              </a:rPr>
              <a:t>Sex</a:t>
            </a:r>
          </a:p>
        </p:txBody>
      </p:sp>
      <p:sp>
        <p:nvSpPr>
          <p:cNvPr id="11" name="TextBox 10">
            <a:extLst>
              <a:ext uri="{FF2B5EF4-FFF2-40B4-BE49-F238E27FC236}">
                <a16:creationId xmlns:a16="http://schemas.microsoft.com/office/drawing/2014/main" id="{3D3B240C-EE5F-C517-8370-6C4739B3126C}"/>
              </a:ext>
            </a:extLst>
          </p:cNvPr>
          <p:cNvSpPr txBox="1"/>
          <p:nvPr/>
        </p:nvSpPr>
        <p:spPr>
          <a:xfrm>
            <a:off x="7538196" y="4295597"/>
            <a:ext cx="1189920" cy="310338"/>
          </a:xfrm>
          <a:prstGeom prst="rect">
            <a:avLst/>
          </a:prstGeom>
          <a:noFill/>
        </p:spPr>
        <p:txBody>
          <a:bodyPr wrap="square" rtlCol="0">
            <a:spAutoFit/>
          </a:bodyPr>
          <a:lstStyle/>
          <a:p>
            <a:r>
              <a:rPr lang="en-US" sz="1400" dirty="0">
                <a:solidFill>
                  <a:schemeClr val="bg1">
                    <a:lumMod val="50000"/>
                  </a:schemeClr>
                </a:solidFill>
              </a:rPr>
              <a:t>Age*Sex</a:t>
            </a:r>
          </a:p>
        </p:txBody>
      </p:sp>
      <p:sp>
        <p:nvSpPr>
          <p:cNvPr id="12" name="TextBox 11">
            <a:extLst>
              <a:ext uri="{FF2B5EF4-FFF2-40B4-BE49-F238E27FC236}">
                <a16:creationId xmlns:a16="http://schemas.microsoft.com/office/drawing/2014/main" id="{AB85DFCF-6B9F-D9DD-03E2-01B5F714DD17}"/>
              </a:ext>
            </a:extLst>
          </p:cNvPr>
          <p:cNvSpPr txBox="1"/>
          <p:nvPr/>
        </p:nvSpPr>
        <p:spPr>
          <a:xfrm>
            <a:off x="9244580" y="4295597"/>
            <a:ext cx="1323549" cy="307777"/>
          </a:xfrm>
          <a:prstGeom prst="rect">
            <a:avLst/>
          </a:prstGeom>
          <a:noFill/>
        </p:spPr>
        <p:txBody>
          <a:bodyPr wrap="square" rtlCol="0">
            <a:spAutoFit/>
          </a:bodyPr>
          <a:lstStyle/>
          <a:p>
            <a:r>
              <a:rPr lang="en-US" sz="1400" dirty="0">
                <a:solidFill>
                  <a:schemeClr val="bg1">
                    <a:lumMod val="50000"/>
                  </a:schemeClr>
                </a:solidFill>
              </a:rPr>
              <a:t>Age Quadratic</a:t>
            </a:r>
          </a:p>
        </p:txBody>
      </p:sp>
      <p:sp>
        <p:nvSpPr>
          <p:cNvPr id="13" name="TextBox 12">
            <a:extLst>
              <a:ext uri="{FF2B5EF4-FFF2-40B4-BE49-F238E27FC236}">
                <a16:creationId xmlns:a16="http://schemas.microsoft.com/office/drawing/2014/main" id="{C9495C19-05B6-2BD2-E89B-D81AFD562559}"/>
              </a:ext>
            </a:extLst>
          </p:cNvPr>
          <p:cNvSpPr txBox="1"/>
          <p:nvPr/>
        </p:nvSpPr>
        <p:spPr>
          <a:xfrm>
            <a:off x="7771200" y="2103120"/>
            <a:ext cx="2275840" cy="369332"/>
          </a:xfrm>
          <a:prstGeom prst="rect">
            <a:avLst/>
          </a:prstGeom>
          <a:noFill/>
        </p:spPr>
        <p:txBody>
          <a:bodyPr wrap="square" rtlCol="0">
            <a:spAutoFit/>
          </a:bodyPr>
          <a:lstStyle/>
          <a:p>
            <a:pPr algn="ctr"/>
            <a:r>
              <a:rPr lang="en-US" dirty="0"/>
              <a:t>T maps</a:t>
            </a:r>
          </a:p>
        </p:txBody>
      </p:sp>
      <p:sp>
        <p:nvSpPr>
          <p:cNvPr id="14" name="TextBox 13">
            <a:extLst>
              <a:ext uri="{FF2B5EF4-FFF2-40B4-BE49-F238E27FC236}">
                <a16:creationId xmlns:a16="http://schemas.microsoft.com/office/drawing/2014/main" id="{B696740F-387B-F2F8-B4BC-1C8189C1FFFD}"/>
              </a:ext>
            </a:extLst>
          </p:cNvPr>
          <p:cNvSpPr txBox="1"/>
          <p:nvPr/>
        </p:nvSpPr>
        <p:spPr>
          <a:xfrm>
            <a:off x="1989328" y="2103120"/>
            <a:ext cx="2275840" cy="369332"/>
          </a:xfrm>
          <a:prstGeom prst="rect">
            <a:avLst/>
          </a:prstGeom>
          <a:noFill/>
        </p:spPr>
        <p:txBody>
          <a:bodyPr wrap="square" rtlCol="0">
            <a:spAutoFit/>
          </a:bodyPr>
          <a:lstStyle/>
          <a:p>
            <a:pPr algn="ctr"/>
            <a:r>
              <a:rPr lang="en-US" dirty="0"/>
              <a:t>-log(P)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9A34AA-9BF9-8FBF-AF83-FB2C4A0B178C}"/>
            </a:ext>
          </a:extLst>
        </p:cNvPr>
        <p:cNvGrpSpPr/>
        <p:nvPr/>
      </p:nvGrpSpPr>
      <p:grpSpPr>
        <a:xfrm>
          <a:off x="0" y="0"/>
          <a:ext cx="0" cy="0"/>
          <a:chOff x="0" y="0"/>
          <a:chExt cx="0" cy="0"/>
        </a:xfrm>
      </p:grpSpPr>
      <p:sp useBgFill="1">
        <p:nvSpPr>
          <p:cNvPr id="8201" name="Rectangle 8200">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223BE29A-DB17-DC92-B2CF-75EAECBCA492}"/>
              </a:ext>
            </a:extLst>
          </p:cNvPr>
          <p:cNvSpPr>
            <a:spLocks noGrp="1"/>
          </p:cNvSpPr>
          <p:nvPr>
            <p:ph type="title"/>
          </p:nvPr>
        </p:nvSpPr>
        <p:spPr>
          <a:xfrm>
            <a:off x="638881" y="457200"/>
            <a:ext cx="10909640" cy="1368614"/>
          </a:xfrm>
        </p:spPr>
        <p:txBody>
          <a:bodyPr vert="horz" lIns="91440" tIns="45720" rIns="91440" bIns="45720" rtlCol="0" anchor="ctr">
            <a:normAutofit fontScale="90000"/>
          </a:bodyPr>
          <a:lstStyle/>
          <a:p>
            <a:pPr algn="ctr"/>
            <a:r>
              <a:rPr lang="en-US" sz="6600" dirty="0"/>
              <a:t>Statistical Modeling @ TR=2500 </a:t>
            </a:r>
            <a:r>
              <a:rPr lang="en-US" sz="6600" dirty="0" err="1"/>
              <a:t>ms</a:t>
            </a:r>
            <a:endParaRPr lang="en-US" sz="6600" dirty="0"/>
          </a:p>
        </p:txBody>
      </p:sp>
      <p:sp>
        <p:nvSpPr>
          <p:cNvPr id="8203"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A collage of images of the brain&#10;&#10;AI-generated content may be incorrect.">
            <a:extLst>
              <a:ext uri="{FF2B5EF4-FFF2-40B4-BE49-F238E27FC236}">
                <a16:creationId xmlns:a16="http://schemas.microsoft.com/office/drawing/2014/main" id="{1D27CF26-F8E6-54E9-24D1-AB1AEC16F73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20040" y="3105066"/>
            <a:ext cx="5614416" cy="2680883"/>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A collage of images of different colors&#10;&#10;AI-generated content may be incorrect.">
            <a:extLst>
              <a:ext uri="{FF2B5EF4-FFF2-40B4-BE49-F238E27FC236}">
                <a16:creationId xmlns:a16="http://schemas.microsoft.com/office/drawing/2014/main" id="{0144C9F0-0952-A95C-9DCB-6DF464DB852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254496" y="3133138"/>
            <a:ext cx="5614416" cy="262473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978F8D9-B78E-D797-DEBF-7320E474452F}"/>
              </a:ext>
            </a:extLst>
          </p:cNvPr>
          <p:cNvSpPr txBox="1"/>
          <p:nvPr/>
        </p:nvSpPr>
        <p:spPr>
          <a:xfrm>
            <a:off x="638881" y="2758589"/>
            <a:ext cx="1189920" cy="310338"/>
          </a:xfrm>
          <a:prstGeom prst="rect">
            <a:avLst/>
          </a:prstGeom>
          <a:noFill/>
        </p:spPr>
        <p:txBody>
          <a:bodyPr wrap="square" rtlCol="0">
            <a:spAutoFit/>
          </a:bodyPr>
          <a:lstStyle/>
          <a:p>
            <a:r>
              <a:rPr lang="en-US" sz="1400" dirty="0">
                <a:solidFill>
                  <a:schemeClr val="bg1">
                    <a:lumMod val="50000"/>
                  </a:schemeClr>
                </a:solidFill>
              </a:rPr>
              <a:t>Head Motion</a:t>
            </a:r>
          </a:p>
        </p:txBody>
      </p:sp>
      <p:sp>
        <p:nvSpPr>
          <p:cNvPr id="3" name="TextBox 2">
            <a:extLst>
              <a:ext uri="{FF2B5EF4-FFF2-40B4-BE49-F238E27FC236}">
                <a16:creationId xmlns:a16="http://schemas.microsoft.com/office/drawing/2014/main" id="{8202EBED-51BC-606D-E11E-FFB625CE1E4E}"/>
              </a:ext>
            </a:extLst>
          </p:cNvPr>
          <p:cNvSpPr txBox="1"/>
          <p:nvPr/>
        </p:nvSpPr>
        <p:spPr>
          <a:xfrm>
            <a:off x="2805557" y="2758589"/>
            <a:ext cx="1189920" cy="310338"/>
          </a:xfrm>
          <a:prstGeom prst="rect">
            <a:avLst/>
          </a:prstGeom>
          <a:noFill/>
        </p:spPr>
        <p:txBody>
          <a:bodyPr wrap="square" rtlCol="0">
            <a:spAutoFit/>
          </a:bodyPr>
          <a:lstStyle/>
          <a:p>
            <a:r>
              <a:rPr lang="en-US" sz="1400" dirty="0">
                <a:solidFill>
                  <a:schemeClr val="bg1">
                    <a:lumMod val="50000"/>
                  </a:schemeClr>
                </a:solidFill>
              </a:rPr>
              <a:t>Age</a:t>
            </a:r>
          </a:p>
        </p:txBody>
      </p:sp>
      <p:sp>
        <p:nvSpPr>
          <p:cNvPr id="4" name="TextBox 3">
            <a:extLst>
              <a:ext uri="{FF2B5EF4-FFF2-40B4-BE49-F238E27FC236}">
                <a16:creationId xmlns:a16="http://schemas.microsoft.com/office/drawing/2014/main" id="{B29B606A-350F-86CE-54F4-09562D88718E}"/>
              </a:ext>
            </a:extLst>
          </p:cNvPr>
          <p:cNvSpPr txBox="1"/>
          <p:nvPr/>
        </p:nvSpPr>
        <p:spPr>
          <a:xfrm>
            <a:off x="4596026" y="2758589"/>
            <a:ext cx="1189920" cy="307777"/>
          </a:xfrm>
          <a:prstGeom prst="rect">
            <a:avLst/>
          </a:prstGeom>
          <a:noFill/>
        </p:spPr>
        <p:txBody>
          <a:bodyPr wrap="square" rtlCol="0">
            <a:spAutoFit/>
          </a:bodyPr>
          <a:lstStyle/>
          <a:p>
            <a:r>
              <a:rPr lang="en-US" sz="1400" dirty="0">
                <a:solidFill>
                  <a:schemeClr val="bg1">
                    <a:lumMod val="50000"/>
                  </a:schemeClr>
                </a:solidFill>
              </a:rPr>
              <a:t>Sex</a:t>
            </a:r>
          </a:p>
        </p:txBody>
      </p:sp>
      <p:sp>
        <p:nvSpPr>
          <p:cNvPr id="5" name="TextBox 4">
            <a:extLst>
              <a:ext uri="{FF2B5EF4-FFF2-40B4-BE49-F238E27FC236}">
                <a16:creationId xmlns:a16="http://schemas.microsoft.com/office/drawing/2014/main" id="{61D9F37D-32F5-46C1-AD98-F19F5754CCD5}"/>
              </a:ext>
            </a:extLst>
          </p:cNvPr>
          <p:cNvSpPr txBox="1"/>
          <p:nvPr/>
        </p:nvSpPr>
        <p:spPr>
          <a:xfrm>
            <a:off x="1699721" y="4290338"/>
            <a:ext cx="1189920" cy="310338"/>
          </a:xfrm>
          <a:prstGeom prst="rect">
            <a:avLst/>
          </a:prstGeom>
          <a:noFill/>
        </p:spPr>
        <p:txBody>
          <a:bodyPr wrap="square" rtlCol="0">
            <a:spAutoFit/>
          </a:bodyPr>
          <a:lstStyle/>
          <a:p>
            <a:r>
              <a:rPr lang="en-US" sz="1400" dirty="0">
                <a:solidFill>
                  <a:schemeClr val="bg1">
                    <a:lumMod val="50000"/>
                  </a:schemeClr>
                </a:solidFill>
              </a:rPr>
              <a:t>Age*Sex</a:t>
            </a:r>
          </a:p>
        </p:txBody>
      </p:sp>
      <p:sp>
        <p:nvSpPr>
          <p:cNvPr id="6" name="TextBox 5">
            <a:extLst>
              <a:ext uri="{FF2B5EF4-FFF2-40B4-BE49-F238E27FC236}">
                <a16:creationId xmlns:a16="http://schemas.microsoft.com/office/drawing/2014/main" id="{0DA4640E-0DC7-6242-50EF-44FABD117479}"/>
              </a:ext>
            </a:extLst>
          </p:cNvPr>
          <p:cNvSpPr txBox="1"/>
          <p:nvPr/>
        </p:nvSpPr>
        <p:spPr>
          <a:xfrm>
            <a:off x="3406105" y="4290338"/>
            <a:ext cx="1323549" cy="307777"/>
          </a:xfrm>
          <a:prstGeom prst="rect">
            <a:avLst/>
          </a:prstGeom>
          <a:noFill/>
        </p:spPr>
        <p:txBody>
          <a:bodyPr wrap="square" rtlCol="0">
            <a:spAutoFit/>
          </a:bodyPr>
          <a:lstStyle/>
          <a:p>
            <a:r>
              <a:rPr lang="en-US" sz="1400" dirty="0">
                <a:solidFill>
                  <a:schemeClr val="bg1">
                    <a:lumMod val="50000"/>
                  </a:schemeClr>
                </a:solidFill>
              </a:rPr>
              <a:t>Age Quadratic</a:t>
            </a:r>
          </a:p>
        </p:txBody>
      </p:sp>
      <p:sp>
        <p:nvSpPr>
          <p:cNvPr id="7" name="TextBox 6">
            <a:extLst>
              <a:ext uri="{FF2B5EF4-FFF2-40B4-BE49-F238E27FC236}">
                <a16:creationId xmlns:a16="http://schemas.microsoft.com/office/drawing/2014/main" id="{541A2D9D-1A60-DA81-3666-E58A44E098EF}"/>
              </a:ext>
            </a:extLst>
          </p:cNvPr>
          <p:cNvSpPr txBox="1"/>
          <p:nvPr/>
        </p:nvSpPr>
        <p:spPr>
          <a:xfrm>
            <a:off x="6456333" y="2753334"/>
            <a:ext cx="1189920" cy="310338"/>
          </a:xfrm>
          <a:prstGeom prst="rect">
            <a:avLst/>
          </a:prstGeom>
          <a:noFill/>
        </p:spPr>
        <p:txBody>
          <a:bodyPr wrap="square" rtlCol="0">
            <a:spAutoFit/>
          </a:bodyPr>
          <a:lstStyle/>
          <a:p>
            <a:r>
              <a:rPr lang="en-US" sz="1400" dirty="0">
                <a:solidFill>
                  <a:schemeClr val="bg1">
                    <a:lumMod val="50000"/>
                  </a:schemeClr>
                </a:solidFill>
              </a:rPr>
              <a:t>Head Motion</a:t>
            </a:r>
          </a:p>
        </p:txBody>
      </p:sp>
      <p:sp>
        <p:nvSpPr>
          <p:cNvPr id="9" name="TextBox 8">
            <a:extLst>
              <a:ext uri="{FF2B5EF4-FFF2-40B4-BE49-F238E27FC236}">
                <a16:creationId xmlns:a16="http://schemas.microsoft.com/office/drawing/2014/main" id="{CE9F7B82-36AA-F951-50D6-3203CD7EA315}"/>
              </a:ext>
            </a:extLst>
          </p:cNvPr>
          <p:cNvSpPr txBox="1"/>
          <p:nvPr/>
        </p:nvSpPr>
        <p:spPr>
          <a:xfrm>
            <a:off x="8623009" y="2753334"/>
            <a:ext cx="1189920" cy="310338"/>
          </a:xfrm>
          <a:prstGeom prst="rect">
            <a:avLst/>
          </a:prstGeom>
          <a:noFill/>
        </p:spPr>
        <p:txBody>
          <a:bodyPr wrap="square" rtlCol="0">
            <a:spAutoFit/>
          </a:bodyPr>
          <a:lstStyle/>
          <a:p>
            <a:r>
              <a:rPr lang="en-US" sz="1400" dirty="0">
                <a:solidFill>
                  <a:schemeClr val="bg1">
                    <a:lumMod val="50000"/>
                  </a:schemeClr>
                </a:solidFill>
              </a:rPr>
              <a:t>Age</a:t>
            </a:r>
          </a:p>
        </p:txBody>
      </p:sp>
      <p:sp>
        <p:nvSpPr>
          <p:cNvPr id="10" name="TextBox 9">
            <a:extLst>
              <a:ext uri="{FF2B5EF4-FFF2-40B4-BE49-F238E27FC236}">
                <a16:creationId xmlns:a16="http://schemas.microsoft.com/office/drawing/2014/main" id="{579C6438-629B-3C32-4637-31E04202A411}"/>
              </a:ext>
            </a:extLst>
          </p:cNvPr>
          <p:cNvSpPr txBox="1"/>
          <p:nvPr/>
        </p:nvSpPr>
        <p:spPr>
          <a:xfrm>
            <a:off x="10413478" y="2753334"/>
            <a:ext cx="1189920" cy="307777"/>
          </a:xfrm>
          <a:prstGeom prst="rect">
            <a:avLst/>
          </a:prstGeom>
          <a:noFill/>
        </p:spPr>
        <p:txBody>
          <a:bodyPr wrap="square" rtlCol="0">
            <a:spAutoFit/>
          </a:bodyPr>
          <a:lstStyle/>
          <a:p>
            <a:r>
              <a:rPr lang="en-US" sz="1400" dirty="0">
                <a:solidFill>
                  <a:schemeClr val="bg1">
                    <a:lumMod val="50000"/>
                  </a:schemeClr>
                </a:solidFill>
              </a:rPr>
              <a:t>Sex</a:t>
            </a:r>
          </a:p>
        </p:txBody>
      </p:sp>
      <p:sp>
        <p:nvSpPr>
          <p:cNvPr id="11" name="TextBox 10">
            <a:extLst>
              <a:ext uri="{FF2B5EF4-FFF2-40B4-BE49-F238E27FC236}">
                <a16:creationId xmlns:a16="http://schemas.microsoft.com/office/drawing/2014/main" id="{C218C28E-DD05-F0D5-A556-40663AC8B791}"/>
              </a:ext>
            </a:extLst>
          </p:cNvPr>
          <p:cNvSpPr txBox="1"/>
          <p:nvPr/>
        </p:nvSpPr>
        <p:spPr>
          <a:xfrm>
            <a:off x="7517173" y="4285083"/>
            <a:ext cx="1189920" cy="310338"/>
          </a:xfrm>
          <a:prstGeom prst="rect">
            <a:avLst/>
          </a:prstGeom>
          <a:noFill/>
        </p:spPr>
        <p:txBody>
          <a:bodyPr wrap="square" rtlCol="0">
            <a:spAutoFit/>
          </a:bodyPr>
          <a:lstStyle/>
          <a:p>
            <a:r>
              <a:rPr lang="en-US" sz="1400" dirty="0">
                <a:solidFill>
                  <a:schemeClr val="bg1">
                    <a:lumMod val="50000"/>
                  </a:schemeClr>
                </a:solidFill>
              </a:rPr>
              <a:t>Age*Sex</a:t>
            </a:r>
          </a:p>
        </p:txBody>
      </p:sp>
      <p:sp>
        <p:nvSpPr>
          <p:cNvPr id="12" name="TextBox 11">
            <a:extLst>
              <a:ext uri="{FF2B5EF4-FFF2-40B4-BE49-F238E27FC236}">
                <a16:creationId xmlns:a16="http://schemas.microsoft.com/office/drawing/2014/main" id="{4BCEF70D-2CFC-82C1-95E8-76C8A91E02F2}"/>
              </a:ext>
            </a:extLst>
          </p:cNvPr>
          <p:cNvSpPr txBox="1"/>
          <p:nvPr/>
        </p:nvSpPr>
        <p:spPr>
          <a:xfrm>
            <a:off x="9223557" y="4285083"/>
            <a:ext cx="1323549" cy="307777"/>
          </a:xfrm>
          <a:prstGeom prst="rect">
            <a:avLst/>
          </a:prstGeom>
          <a:noFill/>
        </p:spPr>
        <p:txBody>
          <a:bodyPr wrap="square" rtlCol="0">
            <a:spAutoFit/>
          </a:bodyPr>
          <a:lstStyle/>
          <a:p>
            <a:r>
              <a:rPr lang="en-US" sz="1400" dirty="0">
                <a:solidFill>
                  <a:schemeClr val="bg1">
                    <a:lumMod val="50000"/>
                  </a:schemeClr>
                </a:solidFill>
              </a:rPr>
              <a:t>Age Quadratic</a:t>
            </a:r>
          </a:p>
        </p:txBody>
      </p:sp>
      <p:sp>
        <p:nvSpPr>
          <p:cNvPr id="13" name="TextBox 12">
            <a:extLst>
              <a:ext uri="{FF2B5EF4-FFF2-40B4-BE49-F238E27FC236}">
                <a16:creationId xmlns:a16="http://schemas.microsoft.com/office/drawing/2014/main" id="{16BC200D-813C-C0EA-FCCD-8F300DE415B4}"/>
              </a:ext>
            </a:extLst>
          </p:cNvPr>
          <p:cNvSpPr txBox="1"/>
          <p:nvPr/>
        </p:nvSpPr>
        <p:spPr>
          <a:xfrm>
            <a:off x="7771200" y="2103120"/>
            <a:ext cx="2275840" cy="369332"/>
          </a:xfrm>
          <a:prstGeom prst="rect">
            <a:avLst/>
          </a:prstGeom>
          <a:noFill/>
        </p:spPr>
        <p:txBody>
          <a:bodyPr wrap="square" rtlCol="0">
            <a:spAutoFit/>
          </a:bodyPr>
          <a:lstStyle/>
          <a:p>
            <a:pPr algn="ctr"/>
            <a:r>
              <a:rPr lang="en-US" dirty="0"/>
              <a:t>T maps</a:t>
            </a:r>
          </a:p>
        </p:txBody>
      </p:sp>
      <p:sp>
        <p:nvSpPr>
          <p:cNvPr id="14" name="TextBox 13">
            <a:extLst>
              <a:ext uri="{FF2B5EF4-FFF2-40B4-BE49-F238E27FC236}">
                <a16:creationId xmlns:a16="http://schemas.microsoft.com/office/drawing/2014/main" id="{07D56A4D-0A9E-9F28-3D5E-6B87C9984C1D}"/>
              </a:ext>
            </a:extLst>
          </p:cNvPr>
          <p:cNvSpPr txBox="1"/>
          <p:nvPr/>
        </p:nvSpPr>
        <p:spPr>
          <a:xfrm>
            <a:off x="1989328" y="2103120"/>
            <a:ext cx="2275840" cy="369332"/>
          </a:xfrm>
          <a:prstGeom prst="rect">
            <a:avLst/>
          </a:prstGeom>
          <a:noFill/>
        </p:spPr>
        <p:txBody>
          <a:bodyPr wrap="square" rtlCol="0">
            <a:spAutoFit/>
          </a:bodyPr>
          <a:lstStyle/>
          <a:p>
            <a:pPr algn="ctr"/>
            <a:r>
              <a:rPr lang="en-US" dirty="0"/>
              <a:t>-log(P)</a:t>
            </a:r>
          </a:p>
        </p:txBody>
      </p:sp>
    </p:spTree>
    <p:extLst>
      <p:ext uri="{BB962C8B-B14F-4D97-AF65-F5344CB8AC3E}">
        <p14:creationId xmlns:p14="http://schemas.microsoft.com/office/powerpoint/2010/main" val="3133593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305" name="Rectangle 11304">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6" name="Rectangle 11305">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7" name="Rectangle 11306">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08" name="Rectangle 11307">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5" y="288404"/>
            <a:ext cx="7170656" cy="977442"/>
          </a:xfrm>
        </p:spPr>
        <p:txBody>
          <a:bodyPr vert="horz" lIns="91440" tIns="45720" rIns="91440" bIns="45720" rtlCol="0" anchor="ctr">
            <a:normAutofit/>
          </a:bodyPr>
          <a:lstStyle/>
          <a:p>
            <a:r>
              <a:rPr lang="en-US" sz="4000" dirty="0">
                <a:solidFill>
                  <a:srgbClr val="FFFFFF"/>
                </a:solidFill>
              </a:rPr>
              <a:t>T-maps Comparison</a:t>
            </a:r>
          </a:p>
        </p:txBody>
      </p:sp>
      <p:pic>
        <p:nvPicPr>
          <p:cNvPr id="11272" name="Picture 8" descr="A chart with colorful squares&#10;&#10;AI-generated content may be incorrect.">
            <a:extLst>
              <a:ext uri="{FF2B5EF4-FFF2-40B4-BE49-F238E27FC236}">
                <a16:creationId xmlns:a16="http://schemas.microsoft.com/office/drawing/2014/main" id="{5F40C5E0-D0BE-7AF6-1A13-B0AD2B91F95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434309" y="2449281"/>
            <a:ext cx="2706950" cy="3526972"/>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A chart with colorful squares&#10;&#10;AI-generated content may be incorrect.">
            <a:extLst>
              <a:ext uri="{FF2B5EF4-FFF2-40B4-BE49-F238E27FC236}">
                <a16:creationId xmlns:a16="http://schemas.microsoft.com/office/drawing/2014/main" id="{EF34D360-9D16-732A-3016-A441D251E2D7}"/>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724889" y="2449281"/>
            <a:ext cx="2742220" cy="3526972"/>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A chart of different colored squares&#10;&#10;AI-generated content may be incorrect.">
            <a:extLst>
              <a:ext uri="{FF2B5EF4-FFF2-40B4-BE49-F238E27FC236}">
                <a16:creationId xmlns:a16="http://schemas.microsoft.com/office/drawing/2014/main" id="{C7AA8A17-0386-041C-6E51-93364744D376}"/>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8050740" y="2449281"/>
            <a:ext cx="2812759" cy="352697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0BFDB5B-9AD7-B0C3-CD53-A438D7EE4103}"/>
              </a:ext>
            </a:extLst>
          </p:cNvPr>
          <p:cNvSpPr txBox="1"/>
          <p:nvPr/>
        </p:nvSpPr>
        <p:spPr>
          <a:xfrm>
            <a:off x="1434309" y="1778000"/>
            <a:ext cx="2837245" cy="369332"/>
          </a:xfrm>
          <a:prstGeom prst="rect">
            <a:avLst/>
          </a:prstGeom>
          <a:noFill/>
        </p:spPr>
        <p:txBody>
          <a:bodyPr wrap="square" rtlCol="0">
            <a:spAutoFit/>
          </a:bodyPr>
          <a:lstStyle/>
          <a:p>
            <a:pPr algn="ctr"/>
            <a:r>
              <a:rPr lang="en-US" dirty="0"/>
              <a:t>Head Motion</a:t>
            </a:r>
          </a:p>
        </p:txBody>
      </p:sp>
      <p:sp>
        <p:nvSpPr>
          <p:cNvPr id="5" name="TextBox 4">
            <a:extLst>
              <a:ext uri="{FF2B5EF4-FFF2-40B4-BE49-F238E27FC236}">
                <a16:creationId xmlns:a16="http://schemas.microsoft.com/office/drawing/2014/main" id="{9EAAB2BD-AB8B-C860-8143-A56790F93788}"/>
              </a:ext>
            </a:extLst>
          </p:cNvPr>
          <p:cNvSpPr txBox="1"/>
          <p:nvPr/>
        </p:nvSpPr>
        <p:spPr>
          <a:xfrm>
            <a:off x="4878549" y="1778000"/>
            <a:ext cx="2837245" cy="369332"/>
          </a:xfrm>
          <a:prstGeom prst="rect">
            <a:avLst/>
          </a:prstGeom>
          <a:noFill/>
        </p:spPr>
        <p:txBody>
          <a:bodyPr wrap="square" rtlCol="0">
            <a:spAutoFit/>
          </a:bodyPr>
          <a:lstStyle/>
          <a:p>
            <a:pPr algn="ctr"/>
            <a:r>
              <a:rPr lang="en-US" dirty="0"/>
              <a:t>Sex</a:t>
            </a:r>
          </a:p>
        </p:txBody>
      </p:sp>
      <p:sp>
        <p:nvSpPr>
          <p:cNvPr id="6" name="TextBox 5">
            <a:extLst>
              <a:ext uri="{FF2B5EF4-FFF2-40B4-BE49-F238E27FC236}">
                <a16:creationId xmlns:a16="http://schemas.microsoft.com/office/drawing/2014/main" id="{31E901F1-4844-7FA1-9BBF-862EE93E9346}"/>
              </a:ext>
            </a:extLst>
          </p:cNvPr>
          <p:cNvSpPr txBox="1"/>
          <p:nvPr/>
        </p:nvSpPr>
        <p:spPr>
          <a:xfrm>
            <a:off x="8128856" y="1778000"/>
            <a:ext cx="2837245" cy="369332"/>
          </a:xfrm>
          <a:prstGeom prst="rect">
            <a:avLst/>
          </a:prstGeom>
          <a:noFill/>
        </p:spPr>
        <p:txBody>
          <a:bodyPr wrap="square" rtlCol="0">
            <a:spAutoFit/>
          </a:bodyPr>
          <a:lstStyle/>
          <a:p>
            <a:pPr algn="ctr"/>
            <a:r>
              <a:rPr lang="en-US" dirty="0"/>
              <a:t>Age Quadratic</a:t>
            </a:r>
          </a:p>
        </p:txBody>
      </p:sp>
      <p:sp>
        <p:nvSpPr>
          <p:cNvPr id="7" name="TextBox 6">
            <a:extLst>
              <a:ext uri="{FF2B5EF4-FFF2-40B4-BE49-F238E27FC236}">
                <a16:creationId xmlns:a16="http://schemas.microsoft.com/office/drawing/2014/main" id="{F25F0F00-DBDA-32BF-5BA0-B91FA05F52E8}"/>
              </a:ext>
            </a:extLst>
          </p:cNvPr>
          <p:cNvSpPr txBox="1"/>
          <p:nvPr/>
        </p:nvSpPr>
        <p:spPr>
          <a:xfrm>
            <a:off x="875819" y="2596089"/>
            <a:ext cx="921004" cy="307777"/>
          </a:xfrm>
          <a:prstGeom prst="rect">
            <a:avLst/>
          </a:prstGeom>
          <a:noFill/>
        </p:spPr>
        <p:txBody>
          <a:bodyPr wrap="square" rtlCol="0">
            <a:spAutoFit/>
          </a:bodyPr>
          <a:lstStyle/>
          <a:p>
            <a:r>
              <a:rPr lang="en-US" sz="1400" dirty="0"/>
              <a:t>TR=645</a:t>
            </a:r>
          </a:p>
        </p:txBody>
      </p:sp>
      <p:sp>
        <p:nvSpPr>
          <p:cNvPr id="8" name="TextBox 7">
            <a:extLst>
              <a:ext uri="{FF2B5EF4-FFF2-40B4-BE49-F238E27FC236}">
                <a16:creationId xmlns:a16="http://schemas.microsoft.com/office/drawing/2014/main" id="{9CA0ABC0-C0B3-ACED-EF53-2433E8E9D407}"/>
              </a:ext>
            </a:extLst>
          </p:cNvPr>
          <p:cNvSpPr txBox="1"/>
          <p:nvPr/>
        </p:nvSpPr>
        <p:spPr>
          <a:xfrm>
            <a:off x="812337" y="3800246"/>
            <a:ext cx="1047968" cy="307777"/>
          </a:xfrm>
          <a:prstGeom prst="rect">
            <a:avLst/>
          </a:prstGeom>
          <a:noFill/>
        </p:spPr>
        <p:txBody>
          <a:bodyPr wrap="square" rtlCol="0">
            <a:spAutoFit/>
          </a:bodyPr>
          <a:lstStyle/>
          <a:p>
            <a:r>
              <a:rPr lang="en-US" sz="1400" dirty="0"/>
              <a:t>TR=1400</a:t>
            </a:r>
          </a:p>
        </p:txBody>
      </p:sp>
      <p:sp>
        <p:nvSpPr>
          <p:cNvPr id="9" name="TextBox 8">
            <a:extLst>
              <a:ext uri="{FF2B5EF4-FFF2-40B4-BE49-F238E27FC236}">
                <a16:creationId xmlns:a16="http://schemas.microsoft.com/office/drawing/2014/main" id="{865C0881-5DF5-4D81-CF83-B9CDBD287A12}"/>
              </a:ext>
            </a:extLst>
          </p:cNvPr>
          <p:cNvSpPr txBox="1"/>
          <p:nvPr/>
        </p:nvSpPr>
        <p:spPr>
          <a:xfrm>
            <a:off x="804517" y="5021346"/>
            <a:ext cx="1047968" cy="307777"/>
          </a:xfrm>
          <a:prstGeom prst="rect">
            <a:avLst/>
          </a:prstGeom>
          <a:noFill/>
        </p:spPr>
        <p:txBody>
          <a:bodyPr wrap="square" rtlCol="0">
            <a:spAutoFit/>
          </a:bodyPr>
          <a:lstStyle/>
          <a:p>
            <a:r>
              <a:rPr lang="en-US" sz="1400" dirty="0"/>
              <a:t>TR=2500</a:t>
            </a:r>
          </a:p>
        </p:txBody>
      </p:sp>
      <p:sp>
        <p:nvSpPr>
          <p:cNvPr id="10" name="TextBox 9">
            <a:extLst>
              <a:ext uri="{FF2B5EF4-FFF2-40B4-BE49-F238E27FC236}">
                <a16:creationId xmlns:a16="http://schemas.microsoft.com/office/drawing/2014/main" id="{A391F439-0AA6-2A98-CAD3-5230DE0F9117}"/>
              </a:ext>
            </a:extLst>
          </p:cNvPr>
          <p:cNvSpPr txBox="1"/>
          <p:nvPr/>
        </p:nvSpPr>
        <p:spPr>
          <a:xfrm>
            <a:off x="4307007" y="2617859"/>
            <a:ext cx="921004" cy="307777"/>
          </a:xfrm>
          <a:prstGeom prst="rect">
            <a:avLst/>
          </a:prstGeom>
          <a:noFill/>
        </p:spPr>
        <p:txBody>
          <a:bodyPr wrap="square" rtlCol="0">
            <a:spAutoFit/>
          </a:bodyPr>
          <a:lstStyle/>
          <a:p>
            <a:r>
              <a:rPr lang="en-US" sz="1400" dirty="0"/>
              <a:t>TR=645</a:t>
            </a:r>
          </a:p>
        </p:txBody>
      </p:sp>
      <p:sp>
        <p:nvSpPr>
          <p:cNvPr id="11" name="TextBox 10">
            <a:extLst>
              <a:ext uri="{FF2B5EF4-FFF2-40B4-BE49-F238E27FC236}">
                <a16:creationId xmlns:a16="http://schemas.microsoft.com/office/drawing/2014/main" id="{9998A273-FE3B-E0E1-87FF-FBA27830D013}"/>
              </a:ext>
            </a:extLst>
          </p:cNvPr>
          <p:cNvSpPr txBox="1"/>
          <p:nvPr/>
        </p:nvSpPr>
        <p:spPr>
          <a:xfrm>
            <a:off x="4243525" y="3822016"/>
            <a:ext cx="1047968" cy="307777"/>
          </a:xfrm>
          <a:prstGeom prst="rect">
            <a:avLst/>
          </a:prstGeom>
          <a:noFill/>
        </p:spPr>
        <p:txBody>
          <a:bodyPr wrap="square" rtlCol="0">
            <a:spAutoFit/>
          </a:bodyPr>
          <a:lstStyle/>
          <a:p>
            <a:r>
              <a:rPr lang="en-US" sz="1400" dirty="0"/>
              <a:t>TR=1400</a:t>
            </a:r>
          </a:p>
        </p:txBody>
      </p:sp>
      <p:sp>
        <p:nvSpPr>
          <p:cNvPr id="12" name="TextBox 11">
            <a:extLst>
              <a:ext uri="{FF2B5EF4-FFF2-40B4-BE49-F238E27FC236}">
                <a16:creationId xmlns:a16="http://schemas.microsoft.com/office/drawing/2014/main" id="{023D56E1-8287-9601-18A6-1C9AE96AC0D5}"/>
              </a:ext>
            </a:extLst>
          </p:cNvPr>
          <p:cNvSpPr txBox="1"/>
          <p:nvPr/>
        </p:nvSpPr>
        <p:spPr>
          <a:xfrm>
            <a:off x="4235705" y="5043116"/>
            <a:ext cx="1047968" cy="307777"/>
          </a:xfrm>
          <a:prstGeom prst="rect">
            <a:avLst/>
          </a:prstGeom>
          <a:noFill/>
        </p:spPr>
        <p:txBody>
          <a:bodyPr wrap="square" rtlCol="0">
            <a:spAutoFit/>
          </a:bodyPr>
          <a:lstStyle/>
          <a:p>
            <a:r>
              <a:rPr lang="en-US" sz="1400" dirty="0"/>
              <a:t>TR=2500</a:t>
            </a:r>
          </a:p>
        </p:txBody>
      </p:sp>
      <p:sp>
        <p:nvSpPr>
          <p:cNvPr id="13" name="TextBox 12">
            <a:extLst>
              <a:ext uri="{FF2B5EF4-FFF2-40B4-BE49-F238E27FC236}">
                <a16:creationId xmlns:a16="http://schemas.microsoft.com/office/drawing/2014/main" id="{38E186D4-521D-5A29-6368-27315EDF6CCF}"/>
              </a:ext>
            </a:extLst>
          </p:cNvPr>
          <p:cNvSpPr txBox="1"/>
          <p:nvPr/>
        </p:nvSpPr>
        <p:spPr>
          <a:xfrm>
            <a:off x="7598852" y="2617859"/>
            <a:ext cx="921004" cy="307777"/>
          </a:xfrm>
          <a:prstGeom prst="rect">
            <a:avLst/>
          </a:prstGeom>
          <a:noFill/>
        </p:spPr>
        <p:txBody>
          <a:bodyPr wrap="square" rtlCol="0">
            <a:spAutoFit/>
          </a:bodyPr>
          <a:lstStyle/>
          <a:p>
            <a:r>
              <a:rPr lang="en-US" sz="1400" dirty="0"/>
              <a:t>TR=645</a:t>
            </a:r>
          </a:p>
        </p:txBody>
      </p:sp>
      <p:sp>
        <p:nvSpPr>
          <p:cNvPr id="14" name="TextBox 13">
            <a:extLst>
              <a:ext uri="{FF2B5EF4-FFF2-40B4-BE49-F238E27FC236}">
                <a16:creationId xmlns:a16="http://schemas.microsoft.com/office/drawing/2014/main" id="{2726439C-F51E-90DE-D47F-2F81755565BC}"/>
              </a:ext>
            </a:extLst>
          </p:cNvPr>
          <p:cNvSpPr txBox="1"/>
          <p:nvPr/>
        </p:nvSpPr>
        <p:spPr>
          <a:xfrm>
            <a:off x="7535370" y="3822016"/>
            <a:ext cx="1047968" cy="307777"/>
          </a:xfrm>
          <a:prstGeom prst="rect">
            <a:avLst/>
          </a:prstGeom>
          <a:noFill/>
        </p:spPr>
        <p:txBody>
          <a:bodyPr wrap="square" rtlCol="0">
            <a:spAutoFit/>
          </a:bodyPr>
          <a:lstStyle/>
          <a:p>
            <a:r>
              <a:rPr lang="en-US" sz="1400" dirty="0"/>
              <a:t>TR=1400</a:t>
            </a:r>
          </a:p>
        </p:txBody>
      </p:sp>
      <p:sp>
        <p:nvSpPr>
          <p:cNvPr id="15" name="TextBox 14">
            <a:extLst>
              <a:ext uri="{FF2B5EF4-FFF2-40B4-BE49-F238E27FC236}">
                <a16:creationId xmlns:a16="http://schemas.microsoft.com/office/drawing/2014/main" id="{2A5F2B39-9717-F1AB-593E-2FCD29C05228}"/>
              </a:ext>
            </a:extLst>
          </p:cNvPr>
          <p:cNvSpPr txBox="1"/>
          <p:nvPr/>
        </p:nvSpPr>
        <p:spPr>
          <a:xfrm>
            <a:off x="7527550" y="5043116"/>
            <a:ext cx="1047968" cy="307777"/>
          </a:xfrm>
          <a:prstGeom prst="rect">
            <a:avLst/>
          </a:prstGeom>
          <a:noFill/>
        </p:spPr>
        <p:txBody>
          <a:bodyPr wrap="square" rtlCol="0">
            <a:spAutoFit/>
          </a:bodyPr>
          <a:lstStyle/>
          <a:p>
            <a:r>
              <a:rPr lang="en-US" sz="1400" dirty="0"/>
              <a:t>TR=2500</a:t>
            </a:r>
          </a:p>
        </p:txBody>
      </p:sp>
      <p:sp>
        <p:nvSpPr>
          <p:cNvPr id="16" name="TextBox 15">
            <a:extLst>
              <a:ext uri="{FF2B5EF4-FFF2-40B4-BE49-F238E27FC236}">
                <a16:creationId xmlns:a16="http://schemas.microsoft.com/office/drawing/2014/main" id="{68FECDC7-FC10-114E-4B9D-A830217C1DDC}"/>
              </a:ext>
            </a:extLst>
          </p:cNvPr>
          <p:cNvSpPr txBox="1"/>
          <p:nvPr/>
        </p:nvSpPr>
        <p:spPr>
          <a:xfrm>
            <a:off x="1564604" y="2271369"/>
            <a:ext cx="2706950" cy="184666"/>
          </a:xfrm>
          <a:prstGeom prst="rect">
            <a:avLst/>
          </a:prstGeom>
          <a:noFill/>
        </p:spPr>
        <p:txBody>
          <a:bodyPr wrap="square" rtlCol="0">
            <a:spAutoFit/>
          </a:bodyPr>
          <a:lstStyle/>
          <a:p>
            <a:r>
              <a:rPr lang="en-US" sz="600" b="1" dirty="0">
                <a:solidFill>
                  <a:schemeClr val="accent5"/>
                </a:solidFill>
              </a:rPr>
              <a:t>Visual</a:t>
            </a:r>
            <a:r>
              <a:rPr lang="en-US" sz="600" b="1" dirty="0"/>
              <a:t> </a:t>
            </a:r>
            <a:r>
              <a:rPr lang="en-US" sz="600" b="1" dirty="0" err="1">
                <a:solidFill>
                  <a:schemeClr val="tx2">
                    <a:lumMod val="50000"/>
                    <a:lumOff val="50000"/>
                  </a:schemeClr>
                </a:solidFill>
              </a:rPr>
              <a:t>Somatomotor</a:t>
            </a:r>
            <a:r>
              <a:rPr lang="en-US" sz="600" b="1" dirty="0"/>
              <a:t> </a:t>
            </a:r>
            <a:r>
              <a:rPr lang="en-US" sz="600" b="1" dirty="0">
                <a:solidFill>
                  <a:schemeClr val="accent6">
                    <a:lumMod val="75000"/>
                  </a:schemeClr>
                </a:solidFill>
              </a:rPr>
              <a:t>Dorsal Attn </a:t>
            </a:r>
            <a:r>
              <a:rPr lang="en-US" sz="600" b="1" dirty="0">
                <a:solidFill>
                  <a:srgbClr val="FFC000"/>
                </a:solidFill>
              </a:rPr>
              <a:t>Ven Attn </a:t>
            </a:r>
            <a:r>
              <a:rPr lang="en-US" sz="600" b="1" dirty="0">
                <a:solidFill>
                  <a:srgbClr val="CC0066"/>
                </a:solidFill>
              </a:rPr>
              <a:t>Limbic</a:t>
            </a:r>
            <a:r>
              <a:rPr lang="en-US" sz="600" b="1" dirty="0"/>
              <a:t> </a:t>
            </a:r>
            <a:r>
              <a:rPr lang="en-US" sz="600" b="1" dirty="0">
                <a:solidFill>
                  <a:schemeClr val="accent5">
                    <a:lumMod val="75000"/>
                  </a:schemeClr>
                </a:solidFill>
              </a:rPr>
              <a:t>Frontoparietal</a:t>
            </a:r>
            <a:r>
              <a:rPr lang="en-US" sz="600" b="1" dirty="0"/>
              <a:t> </a:t>
            </a:r>
            <a:r>
              <a:rPr lang="en-US" sz="600" b="1" dirty="0">
                <a:solidFill>
                  <a:srgbClr val="FF3300"/>
                </a:solidFill>
              </a:rPr>
              <a:t>Default</a:t>
            </a:r>
          </a:p>
        </p:txBody>
      </p:sp>
      <p:sp>
        <p:nvSpPr>
          <p:cNvPr id="17" name="TextBox 16">
            <a:extLst>
              <a:ext uri="{FF2B5EF4-FFF2-40B4-BE49-F238E27FC236}">
                <a16:creationId xmlns:a16="http://schemas.microsoft.com/office/drawing/2014/main" id="{EB39EEBD-A522-3642-E81D-E748B0AD48A9}"/>
              </a:ext>
            </a:extLst>
          </p:cNvPr>
          <p:cNvSpPr txBox="1"/>
          <p:nvPr/>
        </p:nvSpPr>
        <p:spPr>
          <a:xfrm>
            <a:off x="4943696" y="2290262"/>
            <a:ext cx="2706950" cy="184666"/>
          </a:xfrm>
          <a:prstGeom prst="rect">
            <a:avLst/>
          </a:prstGeom>
          <a:noFill/>
        </p:spPr>
        <p:txBody>
          <a:bodyPr wrap="square" rtlCol="0">
            <a:spAutoFit/>
          </a:bodyPr>
          <a:lstStyle/>
          <a:p>
            <a:r>
              <a:rPr lang="en-US" sz="600" b="1" dirty="0">
                <a:solidFill>
                  <a:schemeClr val="accent5"/>
                </a:solidFill>
              </a:rPr>
              <a:t>Visual</a:t>
            </a:r>
            <a:r>
              <a:rPr lang="en-US" sz="600" b="1" dirty="0"/>
              <a:t> </a:t>
            </a:r>
            <a:r>
              <a:rPr lang="en-US" sz="600" b="1" dirty="0" err="1">
                <a:solidFill>
                  <a:schemeClr val="tx2">
                    <a:lumMod val="50000"/>
                    <a:lumOff val="50000"/>
                  </a:schemeClr>
                </a:solidFill>
              </a:rPr>
              <a:t>Somatomotor</a:t>
            </a:r>
            <a:r>
              <a:rPr lang="en-US" sz="600" b="1" dirty="0"/>
              <a:t> </a:t>
            </a:r>
            <a:r>
              <a:rPr lang="en-US" sz="600" b="1" dirty="0">
                <a:solidFill>
                  <a:schemeClr val="accent6">
                    <a:lumMod val="75000"/>
                  </a:schemeClr>
                </a:solidFill>
              </a:rPr>
              <a:t>Dorsal Attn </a:t>
            </a:r>
            <a:r>
              <a:rPr lang="en-US" sz="600" b="1" dirty="0">
                <a:solidFill>
                  <a:srgbClr val="FFC000"/>
                </a:solidFill>
              </a:rPr>
              <a:t>Ven Attn </a:t>
            </a:r>
            <a:r>
              <a:rPr lang="en-US" sz="600" b="1" dirty="0">
                <a:solidFill>
                  <a:srgbClr val="CC0066"/>
                </a:solidFill>
              </a:rPr>
              <a:t>Limbic</a:t>
            </a:r>
            <a:r>
              <a:rPr lang="en-US" sz="600" b="1" dirty="0"/>
              <a:t> </a:t>
            </a:r>
            <a:r>
              <a:rPr lang="en-US" sz="600" b="1" dirty="0">
                <a:solidFill>
                  <a:schemeClr val="accent5">
                    <a:lumMod val="75000"/>
                  </a:schemeClr>
                </a:solidFill>
              </a:rPr>
              <a:t>Frontoparietal</a:t>
            </a:r>
            <a:r>
              <a:rPr lang="en-US" sz="600" b="1" dirty="0"/>
              <a:t> </a:t>
            </a:r>
            <a:r>
              <a:rPr lang="en-US" sz="600" b="1" dirty="0">
                <a:solidFill>
                  <a:srgbClr val="FF3300"/>
                </a:solidFill>
              </a:rPr>
              <a:t>Default</a:t>
            </a:r>
          </a:p>
        </p:txBody>
      </p:sp>
      <p:sp>
        <p:nvSpPr>
          <p:cNvPr id="18" name="TextBox 17">
            <a:extLst>
              <a:ext uri="{FF2B5EF4-FFF2-40B4-BE49-F238E27FC236}">
                <a16:creationId xmlns:a16="http://schemas.microsoft.com/office/drawing/2014/main" id="{7F10A6CC-FC05-14B4-2080-5BCE2141339F}"/>
              </a:ext>
            </a:extLst>
          </p:cNvPr>
          <p:cNvSpPr txBox="1"/>
          <p:nvPr/>
        </p:nvSpPr>
        <p:spPr>
          <a:xfrm>
            <a:off x="1564604" y="5969499"/>
            <a:ext cx="2706950" cy="184666"/>
          </a:xfrm>
          <a:prstGeom prst="rect">
            <a:avLst/>
          </a:prstGeom>
          <a:noFill/>
        </p:spPr>
        <p:txBody>
          <a:bodyPr wrap="square" rtlCol="0">
            <a:spAutoFit/>
          </a:bodyPr>
          <a:lstStyle/>
          <a:p>
            <a:r>
              <a:rPr lang="en-US" sz="600" b="1" dirty="0">
                <a:solidFill>
                  <a:schemeClr val="accent5"/>
                </a:solidFill>
              </a:rPr>
              <a:t>Visual</a:t>
            </a:r>
            <a:r>
              <a:rPr lang="en-US" sz="600" b="1" dirty="0"/>
              <a:t> </a:t>
            </a:r>
            <a:r>
              <a:rPr lang="en-US" sz="600" b="1" dirty="0" err="1">
                <a:solidFill>
                  <a:schemeClr val="tx2">
                    <a:lumMod val="50000"/>
                    <a:lumOff val="50000"/>
                  </a:schemeClr>
                </a:solidFill>
              </a:rPr>
              <a:t>Somatomotor</a:t>
            </a:r>
            <a:r>
              <a:rPr lang="en-US" sz="600" b="1" dirty="0"/>
              <a:t> </a:t>
            </a:r>
            <a:r>
              <a:rPr lang="en-US" sz="600" b="1" dirty="0">
                <a:solidFill>
                  <a:schemeClr val="accent6">
                    <a:lumMod val="75000"/>
                  </a:schemeClr>
                </a:solidFill>
              </a:rPr>
              <a:t>Dorsal Attn </a:t>
            </a:r>
            <a:r>
              <a:rPr lang="en-US" sz="600" b="1" dirty="0">
                <a:solidFill>
                  <a:srgbClr val="FFC000"/>
                </a:solidFill>
              </a:rPr>
              <a:t>Ven Attn </a:t>
            </a:r>
            <a:r>
              <a:rPr lang="en-US" sz="600" b="1" dirty="0">
                <a:solidFill>
                  <a:srgbClr val="CC0066"/>
                </a:solidFill>
              </a:rPr>
              <a:t>Limbic</a:t>
            </a:r>
            <a:r>
              <a:rPr lang="en-US" sz="600" b="1" dirty="0"/>
              <a:t> </a:t>
            </a:r>
            <a:r>
              <a:rPr lang="en-US" sz="600" b="1" dirty="0">
                <a:solidFill>
                  <a:schemeClr val="accent5">
                    <a:lumMod val="75000"/>
                  </a:schemeClr>
                </a:solidFill>
              </a:rPr>
              <a:t>Frontoparietal</a:t>
            </a:r>
            <a:r>
              <a:rPr lang="en-US" sz="600" b="1" dirty="0"/>
              <a:t> </a:t>
            </a:r>
            <a:r>
              <a:rPr lang="en-US" sz="600" b="1" dirty="0">
                <a:solidFill>
                  <a:srgbClr val="FF3300"/>
                </a:solidFill>
              </a:rPr>
              <a:t>Default</a:t>
            </a:r>
          </a:p>
        </p:txBody>
      </p:sp>
      <p:sp>
        <p:nvSpPr>
          <p:cNvPr id="19" name="TextBox 18">
            <a:extLst>
              <a:ext uri="{FF2B5EF4-FFF2-40B4-BE49-F238E27FC236}">
                <a16:creationId xmlns:a16="http://schemas.microsoft.com/office/drawing/2014/main" id="{F309E660-DC08-979A-DE48-88C772C84AB0}"/>
              </a:ext>
            </a:extLst>
          </p:cNvPr>
          <p:cNvSpPr txBox="1"/>
          <p:nvPr/>
        </p:nvSpPr>
        <p:spPr>
          <a:xfrm>
            <a:off x="4891902" y="5939675"/>
            <a:ext cx="2706950" cy="184666"/>
          </a:xfrm>
          <a:prstGeom prst="rect">
            <a:avLst/>
          </a:prstGeom>
          <a:noFill/>
        </p:spPr>
        <p:txBody>
          <a:bodyPr wrap="square" rtlCol="0">
            <a:spAutoFit/>
          </a:bodyPr>
          <a:lstStyle/>
          <a:p>
            <a:r>
              <a:rPr lang="en-US" sz="600" b="1" dirty="0">
                <a:solidFill>
                  <a:schemeClr val="accent5"/>
                </a:solidFill>
              </a:rPr>
              <a:t>Visual</a:t>
            </a:r>
            <a:r>
              <a:rPr lang="en-US" sz="600" b="1" dirty="0"/>
              <a:t> </a:t>
            </a:r>
            <a:r>
              <a:rPr lang="en-US" sz="600" b="1" dirty="0" err="1">
                <a:solidFill>
                  <a:schemeClr val="tx2">
                    <a:lumMod val="50000"/>
                    <a:lumOff val="50000"/>
                  </a:schemeClr>
                </a:solidFill>
              </a:rPr>
              <a:t>Somatomotor</a:t>
            </a:r>
            <a:r>
              <a:rPr lang="en-US" sz="600" b="1" dirty="0"/>
              <a:t> </a:t>
            </a:r>
            <a:r>
              <a:rPr lang="en-US" sz="600" b="1" dirty="0">
                <a:solidFill>
                  <a:schemeClr val="accent6">
                    <a:lumMod val="75000"/>
                  </a:schemeClr>
                </a:solidFill>
              </a:rPr>
              <a:t>Dorsal Attn </a:t>
            </a:r>
            <a:r>
              <a:rPr lang="en-US" sz="600" b="1" dirty="0">
                <a:solidFill>
                  <a:srgbClr val="FFC000"/>
                </a:solidFill>
              </a:rPr>
              <a:t>Ven Attn </a:t>
            </a:r>
            <a:r>
              <a:rPr lang="en-US" sz="600" b="1" dirty="0">
                <a:solidFill>
                  <a:srgbClr val="CC0066"/>
                </a:solidFill>
              </a:rPr>
              <a:t>Limbic</a:t>
            </a:r>
            <a:r>
              <a:rPr lang="en-US" sz="600" b="1" dirty="0"/>
              <a:t> </a:t>
            </a:r>
            <a:r>
              <a:rPr lang="en-US" sz="600" b="1" dirty="0">
                <a:solidFill>
                  <a:schemeClr val="accent5">
                    <a:lumMod val="75000"/>
                  </a:schemeClr>
                </a:solidFill>
              </a:rPr>
              <a:t>Frontoparietal</a:t>
            </a:r>
            <a:r>
              <a:rPr lang="en-US" sz="600" b="1" dirty="0"/>
              <a:t> </a:t>
            </a:r>
            <a:r>
              <a:rPr lang="en-US" sz="600" b="1" dirty="0">
                <a:solidFill>
                  <a:srgbClr val="FF3300"/>
                </a:solidFill>
              </a:rPr>
              <a:t>Default</a:t>
            </a:r>
          </a:p>
        </p:txBody>
      </p:sp>
      <p:sp>
        <p:nvSpPr>
          <p:cNvPr id="20" name="TextBox 19">
            <a:extLst>
              <a:ext uri="{FF2B5EF4-FFF2-40B4-BE49-F238E27FC236}">
                <a16:creationId xmlns:a16="http://schemas.microsoft.com/office/drawing/2014/main" id="{7BDE712C-49D1-96B6-D5F0-2E5679C50B8D}"/>
              </a:ext>
            </a:extLst>
          </p:cNvPr>
          <p:cNvSpPr txBox="1"/>
          <p:nvPr/>
        </p:nvSpPr>
        <p:spPr>
          <a:xfrm>
            <a:off x="8259151" y="5976253"/>
            <a:ext cx="2706950" cy="184666"/>
          </a:xfrm>
          <a:prstGeom prst="rect">
            <a:avLst/>
          </a:prstGeom>
          <a:noFill/>
        </p:spPr>
        <p:txBody>
          <a:bodyPr wrap="square" rtlCol="0">
            <a:spAutoFit/>
          </a:bodyPr>
          <a:lstStyle/>
          <a:p>
            <a:r>
              <a:rPr lang="en-US" sz="600" b="1" dirty="0">
                <a:solidFill>
                  <a:schemeClr val="accent5"/>
                </a:solidFill>
              </a:rPr>
              <a:t>Visual</a:t>
            </a:r>
            <a:r>
              <a:rPr lang="en-US" sz="600" b="1" dirty="0"/>
              <a:t> </a:t>
            </a:r>
            <a:r>
              <a:rPr lang="en-US" sz="600" b="1" dirty="0" err="1">
                <a:solidFill>
                  <a:schemeClr val="tx2">
                    <a:lumMod val="50000"/>
                    <a:lumOff val="50000"/>
                  </a:schemeClr>
                </a:solidFill>
              </a:rPr>
              <a:t>Somatomotor</a:t>
            </a:r>
            <a:r>
              <a:rPr lang="en-US" sz="600" b="1" dirty="0"/>
              <a:t> </a:t>
            </a:r>
            <a:r>
              <a:rPr lang="en-US" sz="600" b="1" dirty="0">
                <a:solidFill>
                  <a:schemeClr val="accent6">
                    <a:lumMod val="75000"/>
                  </a:schemeClr>
                </a:solidFill>
              </a:rPr>
              <a:t>Dorsal Attn </a:t>
            </a:r>
            <a:r>
              <a:rPr lang="en-US" sz="600" b="1" dirty="0">
                <a:solidFill>
                  <a:srgbClr val="FFC000"/>
                </a:solidFill>
              </a:rPr>
              <a:t>Ven Attn </a:t>
            </a:r>
            <a:r>
              <a:rPr lang="en-US" sz="600" b="1" dirty="0">
                <a:solidFill>
                  <a:srgbClr val="CC0066"/>
                </a:solidFill>
              </a:rPr>
              <a:t>Limbic</a:t>
            </a:r>
            <a:r>
              <a:rPr lang="en-US" sz="600" b="1" dirty="0"/>
              <a:t> </a:t>
            </a:r>
            <a:r>
              <a:rPr lang="en-US" sz="600" b="1" dirty="0">
                <a:solidFill>
                  <a:schemeClr val="accent5">
                    <a:lumMod val="75000"/>
                  </a:schemeClr>
                </a:solidFill>
              </a:rPr>
              <a:t>Frontoparietal</a:t>
            </a:r>
            <a:r>
              <a:rPr lang="en-US" sz="600" b="1" dirty="0"/>
              <a:t> </a:t>
            </a:r>
            <a:r>
              <a:rPr lang="en-US" sz="600" b="1" dirty="0">
                <a:solidFill>
                  <a:srgbClr val="FF3300"/>
                </a:solidFill>
              </a:rPr>
              <a:t>Default</a:t>
            </a:r>
          </a:p>
        </p:txBody>
      </p:sp>
      <p:sp>
        <p:nvSpPr>
          <p:cNvPr id="21" name="TextBox 20">
            <a:extLst>
              <a:ext uri="{FF2B5EF4-FFF2-40B4-BE49-F238E27FC236}">
                <a16:creationId xmlns:a16="http://schemas.microsoft.com/office/drawing/2014/main" id="{0D8362B1-529C-F487-4E64-D79C729919F2}"/>
              </a:ext>
            </a:extLst>
          </p:cNvPr>
          <p:cNvSpPr txBox="1"/>
          <p:nvPr/>
        </p:nvSpPr>
        <p:spPr>
          <a:xfrm>
            <a:off x="8259151" y="2261436"/>
            <a:ext cx="2706950" cy="184666"/>
          </a:xfrm>
          <a:prstGeom prst="rect">
            <a:avLst/>
          </a:prstGeom>
          <a:noFill/>
        </p:spPr>
        <p:txBody>
          <a:bodyPr wrap="square" rtlCol="0">
            <a:spAutoFit/>
          </a:bodyPr>
          <a:lstStyle/>
          <a:p>
            <a:r>
              <a:rPr lang="en-US" sz="600" b="1" dirty="0">
                <a:solidFill>
                  <a:schemeClr val="accent5"/>
                </a:solidFill>
              </a:rPr>
              <a:t>Visual</a:t>
            </a:r>
            <a:r>
              <a:rPr lang="en-US" sz="600" b="1" dirty="0"/>
              <a:t> </a:t>
            </a:r>
            <a:r>
              <a:rPr lang="en-US" sz="600" b="1" dirty="0" err="1">
                <a:solidFill>
                  <a:schemeClr val="tx2">
                    <a:lumMod val="50000"/>
                    <a:lumOff val="50000"/>
                  </a:schemeClr>
                </a:solidFill>
              </a:rPr>
              <a:t>Somatomotor</a:t>
            </a:r>
            <a:r>
              <a:rPr lang="en-US" sz="600" b="1" dirty="0"/>
              <a:t> </a:t>
            </a:r>
            <a:r>
              <a:rPr lang="en-US" sz="600" b="1" dirty="0">
                <a:solidFill>
                  <a:schemeClr val="accent6">
                    <a:lumMod val="75000"/>
                  </a:schemeClr>
                </a:solidFill>
              </a:rPr>
              <a:t>Dorsal Attn </a:t>
            </a:r>
            <a:r>
              <a:rPr lang="en-US" sz="600" b="1" dirty="0">
                <a:solidFill>
                  <a:srgbClr val="FFC000"/>
                </a:solidFill>
              </a:rPr>
              <a:t>Ven Attn </a:t>
            </a:r>
            <a:r>
              <a:rPr lang="en-US" sz="600" b="1" dirty="0">
                <a:solidFill>
                  <a:srgbClr val="CC0066"/>
                </a:solidFill>
              </a:rPr>
              <a:t>Limbic</a:t>
            </a:r>
            <a:r>
              <a:rPr lang="en-US" sz="600" b="1" dirty="0"/>
              <a:t> </a:t>
            </a:r>
            <a:r>
              <a:rPr lang="en-US" sz="600" b="1" dirty="0">
                <a:solidFill>
                  <a:schemeClr val="accent5">
                    <a:lumMod val="75000"/>
                  </a:schemeClr>
                </a:solidFill>
              </a:rPr>
              <a:t>Frontoparietal</a:t>
            </a:r>
            <a:r>
              <a:rPr lang="en-US" sz="600" b="1" dirty="0"/>
              <a:t> </a:t>
            </a:r>
            <a:r>
              <a:rPr lang="en-US" sz="600" b="1" dirty="0">
                <a:solidFill>
                  <a:srgbClr val="FF3300"/>
                </a:solidFill>
              </a:rPr>
              <a:t>Default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23"/>
          <p:cNvPicPr preferRelativeResize="0"/>
          <p:nvPr/>
        </p:nvPicPr>
        <p:blipFill rotWithShape="1">
          <a:blip r:embed="rId3">
            <a:alphaModFix/>
          </a:blip>
          <a:srcRect l="10064" t="7427" r="38637" b="70651"/>
          <a:stretch/>
        </p:blipFill>
        <p:spPr>
          <a:xfrm>
            <a:off x="1" y="101601"/>
            <a:ext cx="2984668" cy="677599"/>
          </a:xfrm>
          <a:prstGeom prst="rect">
            <a:avLst/>
          </a:prstGeom>
          <a:noFill/>
          <a:ln>
            <a:noFill/>
          </a:ln>
        </p:spPr>
      </p:pic>
      <p:pic>
        <p:nvPicPr>
          <p:cNvPr id="204" name="Google Shape;204;p23"/>
          <p:cNvPicPr preferRelativeResize="0"/>
          <p:nvPr/>
        </p:nvPicPr>
        <p:blipFill rotWithShape="1">
          <a:blip r:embed="rId4">
            <a:alphaModFix/>
          </a:blip>
          <a:srcRect r="21309"/>
          <a:stretch/>
        </p:blipFill>
        <p:spPr>
          <a:xfrm>
            <a:off x="8991334" y="3103733"/>
            <a:ext cx="1897812" cy="1796267"/>
          </a:xfrm>
          <a:prstGeom prst="rect">
            <a:avLst/>
          </a:prstGeom>
          <a:noFill/>
          <a:ln>
            <a:noFill/>
          </a:ln>
        </p:spPr>
      </p:pic>
      <p:pic>
        <p:nvPicPr>
          <p:cNvPr id="205" name="Google Shape;205;p23"/>
          <p:cNvPicPr preferRelativeResize="0"/>
          <p:nvPr/>
        </p:nvPicPr>
        <p:blipFill rotWithShape="1">
          <a:blip r:embed="rId5">
            <a:alphaModFix/>
          </a:blip>
          <a:srcRect r="55422"/>
          <a:stretch/>
        </p:blipFill>
        <p:spPr>
          <a:xfrm>
            <a:off x="6056267" y="1676967"/>
            <a:ext cx="2531935" cy="997467"/>
          </a:xfrm>
          <a:prstGeom prst="rect">
            <a:avLst/>
          </a:prstGeom>
          <a:noFill/>
          <a:ln>
            <a:noFill/>
          </a:ln>
        </p:spPr>
      </p:pic>
      <p:pic>
        <p:nvPicPr>
          <p:cNvPr id="206" name="Google Shape;206;p23"/>
          <p:cNvPicPr preferRelativeResize="0"/>
          <p:nvPr/>
        </p:nvPicPr>
        <p:blipFill rotWithShape="1">
          <a:blip r:embed="rId5">
            <a:alphaModFix/>
          </a:blip>
          <a:srcRect l="43128" r="12294"/>
          <a:stretch/>
        </p:blipFill>
        <p:spPr>
          <a:xfrm>
            <a:off x="5887067" y="3006367"/>
            <a:ext cx="2531935" cy="997467"/>
          </a:xfrm>
          <a:prstGeom prst="rect">
            <a:avLst/>
          </a:prstGeom>
          <a:noFill/>
          <a:ln>
            <a:noFill/>
          </a:ln>
        </p:spPr>
      </p:pic>
      <p:pic>
        <p:nvPicPr>
          <p:cNvPr id="207" name="Google Shape;207;p23"/>
          <p:cNvPicPr preferRelativeResize="0"/>
          <p:nvPr/>
        </p:nvPicPr>
        <p:blipFill>
          <a:blip r:embed="rId6">
            <a:alphaModFix/>
          </a:blip>
          <a:stretch>
            <a:fillRect/>
          </a:stretch>
        </p:blipFill>
        <p:spPr>
          <a:xfrm>
            <a:off x="8588200" y="1515408"/>
            <a:ext cx="2531933" cy="1293192"/>
          </a:xfrm>
          <a:prstGeom prst="rect">
            <a:avLst/>
          </a:prstGeom>
          <a:noFill/>
          <a:ln>
            <a:noFill/>
          </a:ln>
        </p:spPr>
      </p:pic>
      <p:sp>
        <p:nvSpPr>
          <p:cNvPr id="208" name="Google Shape;208;p23"/>
          <p:cNvSpPr/>
          <p:nvPr/>
        </p:nvSpPr>
        <p:spPr>
          <a:xfrm rot="5400000">
            <a:off x="8503733" y="2705533"/>
            <a:ext cx="469600" cy="638800"/>
          </a:xfrm>
          <a:prstGeom prst="bentArrow">
            <a:avLst>
              <a:gd name="adj1" fmla="val 25000"/>
              <a:gd name="adj2" fmla="val 25000"/>
              <a:gd name="adj3" fmla="val 25000"/>
              <a:gd name="adj4" fmla="val 4375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209" name="Google Shape;209;p23"/>
          <p:cNvSpPr/>
          <p:nvPr/>
        </p:nvSpPr>
        <p:spPr>
          <a:xfrm rot="10800000">
            <a:off x="8336933" y="5926800"/>
            <a:ext cx="636400" cy="468400"/>
          </a:xfrm>
          <a:prstGeom prst="bentArrow">
            <a:avLst>
              <a:gd name="adj1" fmla="val 25000"/>
              <a:gd name="adj2" fmla="val 25000"/>
              <a:gd name="adj3" fmla="val 25000"/>
              <a:gd name="adj4" fmla="val 39404"/>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pic>
        <p:nvPicPr>
          <p:cNvPr id="210" name="Google Shape;210;p23"/>
          <p:cNvPicPr preferRelativeResize="0"/>
          <p:nvPr/>
        </p:nvPicPr>
        <p:blipFill>
          <a:blip r:embed="rId7">
            <a:alphaModFix/>
          </a:blip>
          <a:stretch>
            <a:fillRect/>
          </a:stretch>
        </p:blipFill>
        <p:spPr>
          <a:xfrm>
            <a:off x="5352268" y="4738856"/>
            <a:ext cx="2984665" cy="2119145"/>
          </a:xfrm>
          <a:prstGeom prst="rect">
            <a:avLst/>
          </a:prstGeom>
          <a:noFill/>
          <a:ln>
            <a:noFill/>
          </a:ln>
        </p:spPr>
      </p:pic>
      <p:pic>
        <p:nvPicPr>
          <p:cNvPr id="211" name="Google Shape;211;p23"/>
          <p:cNvPicPr preferRelativeResize="0"/>
          <p:nvPr/>
        </p:nvPicPr>
        <p:blipFill rotWithShape="1">
          <a:blip r:embed="rId8">
            <a:alphaModFix/>
          </a:blip>
          <a:srcRect r="15167"/>
          <a:stretch/>
        </p:blipFill>
        <p:spPr>
          <a:xfrm>
            <a:off x="9034516" y="4986734"/>
            <a:ext cx="2014651" cy="1623433"/>
          </a:xfrm>
          <a:prstGeom prst="rect">
            <a:avLst/>
          </a:prstGeom>
          <a:noFill/>
          <a:ln>
            <a:noFill/>
          </a:ln>
        </p:spPr>
      </p:pic>
      <p:pic>
        <p:nvPicPr>
          <p:cNvPr id="212" name="Google Shape;212;p23"/>
          <p:cNvPicPr preferRelativeResize="0"/>
          <p:nvPr/>
        </p:nvPicPr>
        <p:blipFill rotWithShape="1">
          <a:blip r:embed="rId9">
            <a:alphaModFix/>
          </a:blip>
          <a:srcRect l="30881" t="9888" b="4053"/>
          <a:stretch/>
        </p:blipFill>
        <p:spPr>
          <a:xfrm>
            <a:off x="2984667" y="367133"/>
            <a:ext cx="2984667" cy="2736600"/>
          </a:xfrm>
          <a:prstGeom prst="rect">
            <a:avLst/>
          </a:prstGeom>
          <a:noFill/>
          <a:ln>
            <a:noFill/>
          </a:ln>
        </p:spPr>
      </p:pic>
      <p:pic>
        <p:nvPicPr>
          <p:cNvPr id="213" name="Google Shape;213;p23"/>
          <p:cNvPicPr preferRelativeResize="0"/>
          <p:nvPr/>
        </p:nvPicPr>
        <p:blipFill>
          <a:blip r:embed="rId10">
            <a:alphaModFix/>
          </a:blip>
          <a:stretch>
            <a:fillRect/>
          </a:stretch>
        </p:blipFill>
        <p:spPr>
          <a:xfrm>
            <a:off x="1" y="4281424"/>
            <a:ext cx="5352265" cy="2576576"/>
          </a:xfrm>
          <a:prstGeom prst="rect">
            <a:avLst/>
          </a:prstGeom>
          <a:noFill/>
          <a:ln>
            <a:noFill/>
          </a:ln>
        </p:spPr>
      </p:pic>
      <p:sp>
        <p:nvSpPr>
          <p:cNvPr id="2" name="Slide Number Placeholder 1">
            <a:extLst>
              <a:ext uri="{FF2B5EF4-FFF2-40B4-BE49-F238E27FC236}">
                <a16:creationId xmlns:a16="http://schemas.microsoft.com/office/drawing/2014/main" id="{9F3C0D3A-E5FE-D7CC-83C7-E6ACBF0EB34A}"/>
              </a:ext>
            </a:extLst>
          </p:cNvPr>
          <p:cNvSpPr>
            <a:spLocks noGrp="1"/>
          </p:cNvSpPr>
          <p:nvPr>
            <p:ph type="sldNum" sz="quarter" idx="12"/>
          </p:nvPr>
        </p:nvSpPr>
        <p:spPr/>
        <p:txBody>
          <a:bodyPr/>
          <a:lstStyle/>
          <a:p>
            <a:fld id="{ED2AB823-F179-4A4C-877B-2E0B011C8AA4}" type="slidenum">
              <a:rPr lang="en-US" smtClean="0"/>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3"/>
                                        </p:tgtEl>
                                        <p:attrNameLst>
                                          <p:attrName>style.visibility</p:attrName>
                                        </p:attrNameLst>
                                      </p:cBhvr>
                                      <p:to>
                                        <p:strVal val="visible"/>
                                      </p:to>
                                    </p:set>
                                    <p:anim calcmode="lin" valueType="num">
                                      <p:cBhvr additive="base">
                                        <p:cTn id="7" dur="5000"/>
                                        <p:tgtEl>
                                          <p:spTgt spid="203"/>
                                        </p:tgtEl>
                                        <p:attrNameLst>
                                          <p:attrName>ppt_x</p:attrName>
                                        </p:attrNameLst>
                                      </p:cBhvr>
                                      <p:tavLst>
                                        <p:tav tm="0">
                                          <p:val>
                                            <p:strVal val="#ppt_x-1"/>
                                          </p:val>
                                        </p:tav>
                                        <p:tav tm="100000">
                                          <p:val>
                                            <p:strVal val="#ppt_x"/>
                                          </p:val>
                                        </p:tav>
                                      </p:tavLst>
                                    </p:anim>
                                  </p:childTnLst>
                                </p:cTn>
                              </p:par>
                            </p:childTnLst>
                          </p:cTn>
                        </p:par>
                        <p:par>
                          <p:cTn id="8" fill="hold">
                            <p:stCondLst>
                              <p:cond delay="5000"/>
                            </p:stCondLst>
                            <p:childTnLst>
                              <p:par>
                                <p:cTn id="9" presetID="2" presetClass="entr" presetSubtype="1" fill="hold" nodeType="afterEffect">
                                  <p:stCondLst>
                                    <p:cond delay="0"/>
                                  </p:stCondLst>
                                  <p:childTnLst>
                                    <p:set>
                                      <p:cBhvr>
                                        <p:cTn id="10" dur="1" fill="hold">
                                          <p:stCondLst>
                                            <p:cond delay="0"/>
                                          </p:stCondLst>
                                        </p:cTn>
                                        <p:tgtEl>
                                          <p:spTgt spid="212"/>
                                        </p:tgtEl>
                                        <p:attrNameLst>
                                          <p:attrName>style.visibility</p:attrName>
                                        </p:attrNameLst>
                                      </p:cBhvr>
                                      <p:to>
                                        <p:strVal val="visible"/>
                                      </p:to>
                                    </p:set>
                                    <p:anim calcmode="lin" valueType="num">
                                      <p:cBhvr additive="base">
                                        <p:cTn id="11" dur="5000"/>
                                        <p:tgtEl>
                                          <p:spTgt spid="212"/>
                                        </p:tgtEl>
                                        <p:attrNameLst>
                                          <p:attrName>ppt_y</p:attrName>
                                        </p:attrNameLst>
                                      </p:cBhvr>
                                      <p:tavLst>
                                        <p:tav tm="0">
                                          <p:val>
                                            <p:strVal val="#ppt_y-1"/>
                                          </p:val>
                                        </p:tav>
                                        <p:tav tm="100000">
                                          <p:val>
                                            <p:strVal val="#ppt_y"/>
                                          </p:val>
                                        </p:tav>
                                      </p:tavLst>
                                    </p:anim>
                                  </p:childTnLst>
                                </p:cTn>
                              </p:par>
                            </p:childTnLst>
                          </p:cTn>
                        </p:par>
                        <p:par>
                          <p:cTn id="12" fill="hold">
                            <p:stCondLst>
                              <p:cond delay="10000"/>
                            </p:stCondLst>
                            <p:childTnLst>
                              <p:par>
                                <p:cTn id="13" presetID="10" presetClass="entr" presetSubtype="0" fill="hold" nodeType="afterEffect">
                                  <p:stCondLst>
                                    <p:cond delay="0"/>
                                  </p:stCondLst>
                                  <p:childTnLst>
                                    <p:set>
                                      <p:cBhvr>
                                        <p:cTn id="14" dur="1" fill="hold">
                                          <p:stCondLst>
                                            <p:cond delay="0"/>
                                          </p:stCondLst>
                                        </p:cTn>
                                        <p:tgtEl>
                                          <p:spTgt spid="205"/>
                                        </p:tgtEl>
                                        <p:attrNameLst>
                                          <p:attrName>style.visibility</p:attrName>
                                        </p:attrNameLst>
                                      </p:cBhvr>
                                      <p:to>
                                        <p:strVal val="visible"/>
                                      </p:to>
                                    </p:set>
                                    <p:animEffect transition="in" filter="fade">
                                      <p:cBhvr>
                                        <p:cTn id="15" dur="5000"/>
                                        <p:tgtEl>
                                          <p:spTgt spid="205"/>
                                        </p:tgtEl>
                                      </p:cBhvr>
                                    </p:animEffect>
                                  </p:childTnLst>
                                </p:cTn>
                              </p:par>
                              <p:par>
                                <p:cTn id="16" presetID="10" presetClass="entr" presetSubtype="0" fill="hold" nodeType="withEffect">
                                  <p:stCondLst>
                                    <p:cond delay="0"/>
                                  </p:stCondLst>
                                  <p:childTnLst>
                                    <p:set>
                                      <p:cBhvr>
                                        <p:cTn id="17" dur="1" fill="hold">
                                          <p:stCondLst>
                                            <p:cond delay="0"/>
                                          </p:stCondLst>
                                        </p:cTn>
                                        <p:tgtEl>
                                          <p:spTgt spid="206"/>
                                        </p:tgtEl>
                                        <p:attrNameLst>
                                          <p:attrName>style.visibility</p:attrName>
                                        </p:attrNameLst>
                                      </p:cBhvr>
                                      <p:to>
                                        <p:strVal val="visible"/>
                                      </p:to>
                                    </p:set>
                                    <p:animEffect transition="in" filter="fade">
                                      <p:cBhvr>
                                        <p:cTn id="18" dur="5000"/>
                                        <p:tgtEl>
                                          <p:spTgt spid="206"/>
                                        </p:tgtEl>
                                      </p:cBhvr>
                                    </p:animEffect>
                                  </p:childTnLst>
                                </p:cTn>
                              </p:par>
                            </p:childTnLst>
                          </p:cTn>
                        </p:par>
                        <p:par>
                          <p:cTn id="19" fill="hold">
                            <p:stCondLst>
                              <p:cond delay="15000"/>
                            </p:stCondLst>
                            <p:childTnLst>
                              <p:par>
                                <p:cTn id="20" presetID="23" presetClass="entr" presetSubtype="16" fill="hold" nodeType="afterEffect">
                                  <p:stCondLst>
                                    <p:cond delay="0"/>
                                  </p:stCondLst>
                                  <p:childTnLst>
                                    <p:set>
                                      <p:cBhvr>
                                        <p:cTn id="21" dur="1" fill="hold">
                                          <p:stCondLst>
                                            <p:cond delay="0"/>
                                          </p:stCondLst>
                                        </p:cTn>
                                        <p:tgtEl>
                                          <p:spTgt spid="207"/>
                                        </p:tgtEl>
                                        <p:attrNameLst>
                                          <p:attrName>style.visibility</p:attrName>
                                        </p:attrNameLst>
                                      </p:cBhvr>
                                      <p:to>
                                        <p:strVal val="visible"/>
                                      </p:to>
                                    </p:set>
                                    <p:anim calcmode="lin" valueType="num">
                                      <p:cBhvr additive="base">
                                        <p:cTn id="22" dur="2500"/>
                                        <p:tgtEl>
                                          <p:spTgt spid="207"/>
                                        </p:tgtEl>
                                        <p:attrNameLst>
                                          <p:attrName>ppt_w</p:attrName>
                                        </p:attrNameLst>
                                      </p:cBhvr>
                                      <p:tavLst>
                                        <p:tav tm="0">
                                          <p:val>
                                            <p:strVal val="0"/>
                                          </p:val>
                                        </p:tav>
                                        <p:tav tm="100000">
                                          <p:val>
                                            <p:strVal val="#ppt_w"/>
                                          </p:val>
                                        </p:tav>
                                      </p:tavLst>
                                    </p:anim>
                                    <p:anim calcmode="lin" valueType="num">
                                      <p:cBhvr additive="base">
                                        <p:cTn id="23" dur="2500"/>
                                        <p:tgtEl>
                                          <p:spTgt spid="207"/>
                                        </p:tgtEl>
                                        <p:attrNameLst>
                                          <p:attrName>ppt_h</p:attrName>
                                        </p:attrNameLst>
                                      </p:cBhvr>
                                      <p:tavLst>
                                        <p:tav tm="0">
                                          <p:val>
                                            <p:strVal val="0"/>
                                          </p:val>
                                        </p:tav>
                                        <p:tav tm="100000">
                                          <p:val>
                                            <p:strVal val="#ppt_h"/>
                                          </p:val>
                                        </p:tav>
                                      </p:tavLst>
                                    </p:anim>
                                  </p:childTnLst>
                                </p:cTn>
                              </p:par>
                              <p:par>
                                <p:cTn id="24" presetID="10" presetClass="entr" presetSubtype="0" fill="hold" nodeType="withEffect">
                                  <p:stCondLst>
                                    <p:cond delay="0"/>
                                  </p:stCondLst>
                                  <p:childTnLst>
                                    <p:set>
                                      <p:cBhvr>
                                        <p:cTn id="25" dur="1" fill="hold">
                                          <p:stCondLst>
                                            <p:cond delay="0"/>
                                          </p:stCondLst>
                                        </p:cTn>
                                        <p:tgtEl>
                                          <p:spTgt spid="208"/>
                                        </p:tgtEl>
                                        <p:attrNameLst>
                                          <p:attrName>style.visibility</p:attrName>
                                        </p:attrNameLst>
                                      </p:cBhvr>
                                      <p:to>
                                        <p:strVal val="visible"/>
                                      </p:to>
                                    </p:set>
                                    <p:animEffect transition="in" filter="fade">
                                      <p:cBhvr>
                                        <p:cTn id="26" dur="5000"/>
                                        <p:tgtEl>
                                          <p:spTgt spid="208"/>
                                        </p:tgtEl>
                                      </p:cBhvr>
                                    </p:animEffect>
                                  </p:childTnLst>
                                </p:cTn>
                              </p:par>
                            </p:childTnLst>
                          </p:cTn>
                        </p:par>
                        <p:par>
                          <p:cTn id="27" fill="hold">
                            <p:stCondLst>
                              <p:cond delay="20000"/>
                            </p:stCondLst>
                            <p:childTnLst>
                              <p:par>
                                <p:cTn id="28" presetID="2" presetClass="entr" presetSubtype="2" fill="hold" nodeType="afterEffect">
                                  <p:stCondLst>
                                    <p:cond delay="0"/>
                                  </p:stCondLst>
                                  <p:childTnLst>
                                    <p:set>
                                      <p:cBhvr>
                                        <p:cTn id="29" dur="1" fill="hold">
                                          <p:stCondLst>
                                            <p:cond delay="0"/>
                                          </p:stCondLst>
                                        </p:cTn>
                                        <p:tgtEl>
                                          <p:spTgt spid="204"/>
                                        </p:tgtEl>
                                        <p:attrNameLst>
                                          <p:attrName>style.visibility</p:attrName>
                                        </p:attrNameLst>
                                      </p:cBhvr>
                                      <p:to>
                                        <p:strVal val="visible"/>
                                      </p:to>
                                    </p:set>
                                    <p:anim calcmode="lin" valueType="num">
                                      <p:cBhvr additive="base">
                                        <p:cTn id="30" dur="2500"/>
                                        <p:tgtEl>
                                          <p:spTgt spid="204"/>
                                        </p:tgtEl>
                                        <p:attrNameLst>
                                          <p:attrName>ppt_x</p:attrName>
                                        </p:attrNameLst>
                                      </p:cBhvr>
                                      <p:tavLst>
                                        <p:tav tm="0">
                                          <p:val>
                                            <p:strVal val="#ppt_x+1"/>
                                          </p:val>
                                        </p:tav>
                                        <p:tav tm="100000">
                                          <p:val>
                                            <p:strVal val="#ppt_x"/>
                                          </p:val>
                                        </p:tav>
                                      </p:tavLst>
                                    </p:anim>
                                  </p:childTnLst>
                                </p:cTn>
                              </p:par>
                              <p:par>
                                <p:cTn id="31" presetID="2" presetClass="entr" presetSubtype="2" fill="hold" nodeType="withEffect">
                                  <p:stCondLst>
                                    <p:cond delay="0"/>
                                  </p:stCondLst>
                                  <p:childTnLst>
                                    <p:set>
                                      <p:cBhvr>
                                        <p:cTn id="32" dur="1" fill="hold">
                                          <p:stCondLst>
                                            <p:cond delay="0"/>
                                          </p:stCondLst>
                                        </p:cTn>
                                        <p:tgtEl>
                                          <p:spTgt spid="211"/>
                                        </p:tgtEl>
                                        <p:attrNameLst>
                                          <p:attrName>style.visibility</p:attrName>
                                        </p:attrNameLst>
                                      </p:cBhvr>
                                      <p:to>
                                        <p:strVal val="visible"/>
                                      </p:to>
                                    </p:set>
                                    <p:anim calcmode="lin" valueType="num">
                                      <p:cBhvr additive="base">
                                        <p:cTn id="33" dur="2500"/>
                                        <p:tgtEl>
                                          <p:spTgt spid="211"/>
                                        </p:tgtEl>
                                        <p:attrNameLst>
                                          <p:attrName>ppt_x</p:attrName>
                                        </p:attrNameLst>
                                      </p:cBhvr>
                                      <p:tavLst>
                                        <p:tav tm="0">
                                          <p:val>
                                            <p:strVal val="#ppt_x+1"/>
                                          </p:val>
                                        </p:tav>
                                        <p:tav tm="100000">
                                          <p:val>
                                            <p:strVal val="#ppt_x"/>
                                          </p:val>
                                        </p:tav>
                                      </p:tavLst>
                                    </p:anim>
                                  </p:childTnLst>
                                </p:cTn>
                              </p:par>
                            </p:childTnLst>
                          </p:cTn>
                        </p:par>
                        <p:par>
                          <p:cTn id="34" fill="hold">
                            <p:stCondLst>
                              <p:cond delay="22500"/>
                            </p:stCondLst>
                            <p:childTnLst>
                              <p:par>
                                <p:cTn id="35" presetID="10" presetClass="entr" presetSubtype="0" fill="hold" nodeType="afterEffect">
                                  <p:stCondLst>
                                    <p:cond delay="0"/>
                                  </p:stCondLst>
                                  <p:childTnLst>
                                    <p:set>
                                      <p:cBhvr>
                                        <p:cTn id="36" dur="1" fill="hold">
                                          <p:stCondLst>
                                            <p:cond delay="0"/>
                                          </p:stCondLst>
                                        </p:cTn>
                                        <p:tgtEl>
                                          <p:spTgt spid="209"/>
                                        </p:tgtEl>
                                        <p:attrNameLst>
                                          <p:attrName>style.visibility</p:attrName>
                                        </p:attrNameLst>
                                      </p:cBhvr>
                                      <p:to>
                                        <p:strVal val="visible"/>
                                      </p:to>
                                    </p:set>
                                    <p:animEffect transition="in" filter="fade">
                                      <p:cBhvr>
                                        <p:cTn id="37" dur="1000"/>
                                        <p:tgtEl>
                                          <p:spTgt spid="209"/>
                                        </p:tgtEl>
                                      </p:cBhvr>
                                    </p:animEffect>
                                  </p:childTnLst>
                                </p:cTn>
                              </p:par>
                            </p:childTnLst>
                          </p:cTn>
                        </p:par>
                        <p:par>
                          <p:cTn id="38" fill="hold">
                            <p:stCondLst>
                              <p:cond delay="23500"/>
                            </p:stCondLst>
                            <p:childTnLst>
                              <p:par>
                                <p:cTn id="39" presetID="2" presetClass="entr" presetSubtype="4" fill="hold" nodeType="afterEffect">
                                  <p:stCondLst>
                                    <p:cond delay="0"/>
                                  </p:stCondLst>
                                  <p:childTnLst>
                                    <p:set>
                                      <p:cBhvr>
                                        <p:cTn id="40" dur="1" fill="hold">
                                          <p:stCondLst>
                                            <p:cond delay="0"/>
                                          </p:stCondLst>
                                        </p:cTn>
                                        <p:tgtEl>
                                          <p:spTgt spid="210"/>
                                        </p:tgtEl>
                                        <p:attrNameLst>
                                          <p:attrName>style.visibility</p:attrName>
                                        </p:attrNameLst>
                                      </p:cBhvr>
                                      <p:to>
                                        <p:strVal val="visible"/>
                                      </p:to>
                                    </p:set>
                                    <p:anim calcmode="lin" valueType="num">
                                      <p:cBhvr additive="base">
                                        <p:cTn id="41" dur="5000"/>
                                        <p:tgtEl>
                                          <p:spTgt spid="210"/>
                                        </p:tgtEl>
                                        <p:attrNameLst>
                                          <p:attrName>ppt_y</p:attrName>
                                        </p:attrNameLst>
                                      </p:cBhvr>
                                      <p:tavLst>
                                        <p:tav tm="0">
                                          <p:val>
                                            <p:strVal val="#ppt_y+1"/>
                                          </p:val>
                                        </p:tav>
                                        <p:tav tm="100000">
                                          <p:val>
                                            <p:strVal val="#ppt_y"/>
                                          </p:val>
                                        </p:tav>
                                      </p:tavLst>
                                    </p:anim>
                                  </p:childTnLst>
                                </p:cTn>
                              </p:par>
                            </p:childTnLst>
                          </p:cTn>
                        </p:par>
                        <p:par>
                          <p:cTn id="42" fill="hold">
                            <p:stCondLst>
                              <p:cond delay="28500"/>
                            </p:stCondLst>
                            <p:childTnLst>
                              <p:par>
                                <p:cTn id="43" presetID="2" presetClass="entr" presetSubtype="8" fill="hold" nodeType="afterEffect">
                                  <p:stCondLst>
                                    <p:cond delay="0"/>
                                  </p:stCondLst>
                                  <p:childTnLst>
                                    <p:set>
                                      <p:cBhvr>
                                        <p:cTn id="44" dur="1" fill="hold">
                                          <p:stCondLst>
                                            <p:cond delay="0"/>
                                          </p:stCondLst>
                                        </p:cTn>
                                        <p:tgtEl>
                                          <p:spTgt spid="213"/>
                                        </p:tgtEl>
                                        <p:attrNameLst>
                                          <p:attrName>style.visibility</p:attrName>
                                        </p:attrNameLst>
                                      </p:cBhvr>
                                      <p:to>
                                        <p:strVal val="visible"/>
                                      </p:to>
                                    </p:set>
                                    <p:anim calcmode="lin" valueType="num">
                                      <p:cBhvr additive="base">
                                        <p:cTn id="45" dur="5000"/>
                                        <p:tgtEl>
                                          <p:spTgt spid="21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447C66-3011-E080-20D2-E525E2E1E47D}"/>
              </a:ext>
            </a:extLst>
          </p:cNvPr>
          <p:cNvSpPr>
            <a:spLocks noGrp="1"/>
          </p:cNvSpPr>
          <p:nvPr>
            <p:ph type="title"/>
          </p:nvPr>
        </p:nvSpPr>
        <p:spPr>
          <a:xfrm>
            <a:off x="838200" y="365125"/>
            <a:ext cx="10515600" cy="1325563"/>
          </a:xfrm>
        </p:spPr>
        <p:txBody>
          <a:bodyPr>
            <a:normAutofit/>
          </a:bodyPr>
          <a:lstStyle/>
          <a:p>
            <a:r>
              <a:rPr lang="en-US" sz="5400"/>
              <a:t>Conclusion</a:t>
            </a:r>
          </a:p>
        </p:txBody>
      </p:sp>
      <p:sp>
        <p:nvSpPr>
          <p:cNvPr id="29"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FB90B187-533C-CEF7-63C3-085994853D20}"/>
              </a:ext>
            </a:extLst>
          </p:cNvPr>
          <p:cNvSpPr>
            <a:spLocks noGrp="1"/>
          </p:cNvSpPr>
          <p:nvPr>
            <p:ph type="sldNum" sz="quarter" idx="12"/>
          </p:nvPr>
        </p:nvSpPr>
        <p:spPr>
          <a:xfrm>
            <a:off x="8610600" y="6356350"/>
            <a:ext cx="2743200" cy="365125"/>
          </a:xfrm>
        </p:spPr>
        <p:txBody>
          <a:bodyPr>
            <a:normAutofit/>
          </a:bodyPr>
          <a:lstStyle/>
          <a:p>
            <a:pPr>
              <a:spcAft>
                <a:spcPts val="600"/>
              </a:spcAft>
            </a:pPr>
            <a:fld id="{ED2AB823-F179-4A4C-877B-2E0B011C8AA4}" type="slidenum">
              <a:rPr lang="en-US"/>
              <a:pPr>
                <a:spcAft>
                  <a:spcPts val="600"/>
                </a:spcAft>
              </a:pPr>
              <a:t>22</a:t>
            </a:fld>
            <a:endParaRPr lang="en-US"/>
          </a:p>
        </p:txBody>
      </p:sp>
      <p:graphicFrame>
        <p:nvGraphicFramePr>
          <p:cNvPr id="22" name="Content Placeholder 2">
            <a:extLst>
              <a:ext uri="{FF2B5EF4-FFF2-40B4-BE49-F238E27FC236}">
                <a16:creationId xmlns:a16="http://schemas.microsoft.com/office/drawing/2014/main" id="{1DE60F0C-97FF-A4D3-A263-7EE1841D9B76}"/>
              </a:ext>
            </a:extLst>
          </p:cNvPr>
          <p:cNvGraphicFramePr>
            <a:graphicFrameLocks noGrp="1"/>
          </p:cNvGraphicFramePr>
          <p:nvPr>
            <p:ph idx="1"/>
            <p:extLst>
              <p:ext uri="{D42A27DB-BD31-4B8C-83A1-F6EECF244321}">
                <p14:modId xmlns:p14="http://schemas.microsoft.com/office/powerpoint/2010/main" val="3017747063"/>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82679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EFDFA45-7C3E-AF28-9DA0-8984390BF7A9}"/>
              </a:ext>
            </a:extLst>
          </p:cNvPr>
          <p:cNvSpPr>
            <a:spLocks noGrp="1"/>
          </p:cNvSpPr>
          <p:nvPr>
            <p:ph type="sldNum" idx="12"/>
          </p:nvPr>
        </p:nvSpPr>
        <p:spPr/>
        <p:txBody>
          <a:bodyPr/>
          <a:lstStyle/>
          <a:p>
            <a:fld id="{00000000-1234-1234-1234-123412341234}" type="slidenum">
              <a:rPr lang="en" smtClean="0"/>
              <a:pPr/>
              <a:t>23</a:t>
            </a:fld>
            <a:endParaRPr lang="en"/>
          </a:p>
        </p:txBody>
      </p:sp>
      <p:sp>
        <p:nvSpPr>
          <p:cNvPr id="5" name="Text Placeholder 4">
            <a:extLst>
              <a:ext uri="{FF2B5EF4-FFF2-40B4-BE49-F238E27FC236}">
                <a16:creationId xmlns:a16="http://schemas.microsoft.com/office/drawing/2014/main" id="{6926A2E6-6024-2E1B-32B9-9098A3E5E4F7}"/>
              </a:ext>
            </a:extLst>
          </p:cNvPr>
          <p:cNvSpPr>
            <a:spLocks noGrp="1"/>
          </p:cNvSpPr>
          <p:nvPr>
            <p:ph type="body" idx="2"/>
          </p:nvPr>
        </p:nvSpPr>
        <p:spPr/>
        <p:txBody>
          <a:bodyPr>
            <a:normAutofit fontScale="47500" lnSpcReduction="20000"/>
          </a:bodyPr>
          <a:lstStyle/>
          <a:p>
            <a:endParaRPr lang="en-US"/>
          </a:p>
        </p:txBody>
      </p:sp>
      <p:graphicFrame>
        <p:nvGraphicFramePr>
          <p:cNvPr id="7" name="Text Placeholder 1">
            <a:extLst>
              <a:ext uri="{FF2B5EF4-FFF2-40B4-BE49-F238E27FC236}">
                <a16:creationId xmlns:a16="http://schemas.microsoft.com/office/drawing/2014/main" id="{200FAEBF-E916-3A5E-F449-F5421E81CABE}"/>
              </a:ext>
            </a:extLst>
          </p:cNvPr>
          <p:cNvGraphicFramePr/>
          <p:nvPr/>
        </p:nvGraphicFramePr>
        <p:xfrm>
          <a:off x="403000" y="1312067"/>
          <a:ext cx="11386000" cy="5163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8048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4476</TotalTime>
  <Words>1469</Words>
  <Application>Microsoft Office PowerPoint</Application>
  <PresentationFormat>Widescreen</PresentationFormat>
  <Paragraphs>197</Paragraphs>
  <Slides>23</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Aptos</vt:lpstr>
      <vt:lpstr>Aptos Display</vt:lpstr>
      <vt:lpstr>Arial</vt:lpstr>
      <vt:lpstr>Calibri</vt:lpstr>
      <vt:lpstr>fkGroteskNeue</vt:lpstr>
      <vt:lpstr>Open Sans</vt:lpstr>
      <vt:lpstr>Wingdings</vt:lpstr>
      <vt:lpstr>Office Theme</vt:lpstr>
      <vt:lpstr>Characterization of the Intrinsic Neural Timescale Indices as a Reliable Fingerprint of Brain Dynamics</vt:lpstr>
      <vt:lpstr>INTs and Temporal Hierarchy</vt:lpstr>
      <vt:lpstr>Input Processing</vt:lpstr>
      <vt:lpstr>INTs in ASD and ADHD</vt:lpstr>
      <vt:lpstr>From temporal integration/segregation to prediction</vt:lpstr>
      <vt:lpstr>Can INTs serve as a diagnostic fingerprint for individual brain dynamics?</vt:lpstr>
      <vt:lpstr>Dataset Overview</vt:lpstr>
      <vt:lpstr>Measuring INTs</vt:lpstr>
      <vt:lpstr>INT Metrics Spatial Brain Maps Across TRs</vt:lpstr>
      <vt:lpstr>Sum of ACFs*TR (Area Under the First Positive ACF)</vt:lpstr>
      <vt:lpstr>Discriminability Analysis</vt:lpstr>
      <vt:lpstr>Discriminability Scores</vt:lpstr>
      <vt:lpstr>Discriminability Scores</vt:lpstr>
      <vt:lpstr>Linear Mixed-Effects Model</vt:lpstr>
      <vt:lpstr>Statistical Modeling @ TR=645 ms</vt:lpstr>
      <vt:lpstr>Inverted-U Age Pattern</vt:lpstr>
      <vt:lpstr>Sex and Age Interaction Effects on INT (AR1) in Yeo 7 Networks</vt:lpstr>
      <vt:lpstr>Statistical Modeling @ TR=1400 ms</vt:lpstr>
      <vt:lpstr>Statistical Modeling @ TR=2500 ms</vt:lpstr>
      <vt:lpstr>T-maps Comparison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HELYA HONARPISHEH</dc:creator>
  <cp:lastModifiedBy>Helya Honarpisheh</cp:lastModifiedBy>
  <cp:revision>1</cp:revision>
  <dcterms:created xsi:type="dcterms:W3CDTF">2025-05-17T12:03:47Z</dcterms:created>
  <dcterms:modified xsi:type="dcterms:W3CDTF">2026-05-11T15:39:17Z</dcterms:modified>
</cp:coreProperties>
</file>